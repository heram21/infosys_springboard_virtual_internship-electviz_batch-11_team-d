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9" r:id="rId4"/>
    <p:sldId id="260" r:id="rId5"/>
    <p:sldId id="268" r:id="rId6"/>
    <p:sldId id="270" r:id="rId7"/>
    <p:sldId id="264" r:id="rId8"/>
    <p:sldId id="263" r:id="rId9"/>
    <p:sldId id="265" r:id="rId10"/>
    <p:sldId id="266" r:id="rId11"/>
    <p:sldId id="267" r:id="rId12"/>
    <p:sldId id="27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3451" autoAdjust="0"/>
  </p:normalViewPr>
  <p:slideViewPr>
    <p:cSldViewPr snapToGrid="0">
      <p:cViewPr varScale="1">
        <p:scale>
          <a:sx n="82" d="100"/>
          <a:sy n="82" d="100"/>
        </p:scale>
        <p:origin x="43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87F0A9-1185-430C-AD9F-4A6A23A39DEB}"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1254539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87F0A9-1185-430C-AD9F-4A6A23A39DEB}"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4179835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87F0A9-1185-430C-AD9F-4A6A23A39DEB}" type="datetimeFigureOut">
              <a:rPr lang="en-IN" smtClean="0"/>
              <a:t>17-02-2026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809521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E87F0A9-1185-430C-AD9F-4A6A23A39DEB}" type="datetimeFigureOut">
              <a:rPr lang="en-IN" smtClean="0"/>
              <a:t>17-02-2026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2749745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1E87F0A9-1185-430C-AD9F-4A6A23A39DEB}" type="datetimeFigureOut">
              <a:rPr lang="en-IN" smtClean="0"/>
              <a:t>17-02-2026</a:t>
            </a:fld>
            <a:endParaRPr lang="en-IN"/>
          </a:p>
        </p:txBody>
      </p:sp>
      <p:sp>
        <p:nvSpPr>
          <p:cNvPr id="11" name="Footer Placeholder 10"/>
          <p:cNvSpPr>
            <a:spLocks noGrp="1"/>
          </p:cNvSpPr>
          <p:nvPr>
            <p:ph type="ftr" sz="quarter" idx="11"/>
          </p:nvPr>
        </p:nvSpPr>
        <p:spPr/>
        <p:txBody>
          <a:bodyPr/>
          <a:lstStyle/>
          <a:p>
            <a:endParaRPr lang="en-IN"/>
          </a:p>
        </p:txBody>
      </p:sp>
      <p:sp>
        <p:nvSpPr>
          <p:cNvPr id="12" name="Slide Number Placeholder 11"/>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433721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1E87F0A9-1185-430C-AD9F-4A6A23A39DEB}" type="datetimeFigureOut">
              <a:rPr lang="en-IN" smtClean="0"/>
              <a:t>17-02-2026</a:t>
            </a:fld>
            <a:endParaRPr lang="en-IN"/>
          </a:p>
        </p:txBody>
      </p:sp>
      <p:sp>
        <p:nvSpPr>
          <p:cNvPr id="7" name="Footer Placeholder 6"/>
          <p:cNvSpPr>
            <a:spLocks noGrp="1"/>
          </p:cNvSpPr>
          <p:nvPr>
            <p:ph type="ftr" sz="quarter" idx="11"/>
          </p:nvPr>
        </p:nvSpPr>
        <p:spPr/>
        <p:txBody>
          <a:bodyPr/>
          <a:lstStyle/>
          <a:p>
            <a:endParaRPr lang="en-IN"/>
          </a:p>
        </p:txBody>
      </p:sp>
      <p:sp>
        <p:nvSpPr>
          <p:cNvPr id="8" name="Slide Number Placeholder 7"/>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149095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E87F0A9-1185-430C-AD9F-4A6A23A39DEB}" type="datetimeFigureOut">
              <a:rPr lang="en-IN" smtClean="0"/>
              <a:t>17-02-2026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2276454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E87F0A9-1185-430C-AD9F-4A6A23A39DEB}" type="datetimeFigureOut">
              <a:rPr lang="en-IN" smtClean="0"/>
              <a:t>17-02-2026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294231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E87F0A9-1185-430C-AD9F-4A6A23A39DEB}" type="datetimeFigureOut">
              <a:rPr lang="en-IN" smtClean="0"/>
              <a:t>17-02-2026</a:t>
            </a:fld>
            <a:endParaRPr lang="en-IN"/>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1964225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87F0A9-1185-430C-AD9F-4A6A23A39DEB}" type="datetimeFigureOut">
              <a:rPr lang="en-IN" smtClean="0"/>
              <a:t>17-02-2026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130875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87F0A9-1185-430C-AD9F-4A6A23A39DEB}" type="datetimeFigureOut">
              <a:rPr lang="en-IN" smtClean="0"/>
              <a:t>17-02-2026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379364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1E87F0A9-1185-430C-AD9F-4A6A23A39DEB}" type="datetimeFigureOut">
              <a:rPr lang="en-IN" smtClean="0"/>
              <a:t>17-02-2026</a:t>
            </a:fld>
            <a:endParaRPr lang="en-IN"/>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1A8C2524-235E-4F0D-A46C-DC988CE1F8FC}" type="slidenum">
              <a:rPr lang="en-IN" smtClean="0"/>
              <a:t>‹#›</a:t>
            </a:fld>
            <a:endParaRPr lang="en-IN"/>
          </a:p>
        </p:txBody>
      </p:sp>
    </p:spTree>
    <p:extLst>
      <p:ext uri="{BB962C8B-B14F-4D97-AF65-F5344CB8AC3E}">
        <p14:creationId xmlns:p14="http://schemas.microsoft.com/office/powerpoint/2010/main" val="267370694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A3D2B-976A-6805-0AB4-D5D9E2EE6EEA}"/>
              </a:ext>
            </a:extLst>
          </p:cNvPr>
          <p:cNvSpPr>
            <a:spLocks noGrp="1"/>
          </p:cNvSpPr>
          <p:nvPr>
            <p:ph type="ctrTitle"/>
          </p:nvPr>
        </p:nvSpPr>
        <p:spPr>
          <a:xfrm>
            <a:off x="113122" y="1298448"/>
            <a:ext cx="9002598" cy="4373076"/>
          </a:xfrm>
        </p:spPr>
        <p:txBody>
          <a:bodyPr anchor="ctr">
            <a:normAutofit/>
          </a:bodyPr>
          <a:lstStyle/>
          <a:p>
            <a:pPr algn="ctr"/>
            <a:r>
              <a:rPr lang="en-US" sz="3600" b="1" dirty="0">
                <a:latin typeface="Verdana" panose="020B0604030504040204" pitchFamily="34" charset="0"/>
                <a:ea typeface="Verdana" panose="020B0604030504040204" pitchFamily="34" charset="0"/>
              </a:rPr>
              <a:t>INFOSYS VIRTUAL INTERNSHIP 6.0</a:t>
            </a:r>
            <a:br>
              <a:rPr lang="en-US" sz="3600" b="1" dirty="0">
                <a:latin typeface="Verdana" panose="020B0604030504040204" pitchFamily="34" charset="0"/>
                <a:ea typeface="Verdana" panose="020B0604030504040204" pitchFamily="34" charset="0"/>
              </a:rPr>
            </a:br>
            <a:br>
              <a:rPr lang="en-US" sz="3600" b="1" dirty="0">
                <a:latin typeface="Verdana" panose="020B0604030504040204" pitchFamily="34" charset="0"/>
                <a:ea typeface="Verdana" panose="020B0604030504040204" pitchFamily="34" charset="0"/>
              </a:rPr>
            </a:br>
            <a:r>
              <a:rPr lang="en-US" sz="3600" b="1" dirty="0" err="1">
                <a:latin typeface="Verdana" panose="020B0604030504040204" pitchFamily="34" charset="0"/>
                <a:ea typeface="Verdana" panose="020B0604030504040204" pitchFamily="34" charset="0"/>
              </a:rPr>
              <a:t>ElectViz</a:t>
            </a:r>
            <a:r>
              <a:rPr lang="en-US" sz="3600" b="1" dirty="0">
                <a:latin typeface="Verdana" panose="020B0604030504040204" pitchFamily="34" charset="0"/>
                <a:ea typeface="Verdana" panose="020B0604030504040204" pitchFamily="34" charset="0"/>
              </a:rPr>
              <a:t>: Election Data </a:t>
            </a:r>
            <a:r>
              <a:rPr lang="en-US" sz="3600" b="1" dirty="0" err="1">
                <a:latin typeface="Verdana" panose="020B0604030504040204" pitchFamily="34" charset="0"/>
                <a:ea typeface="Verdana" panose="020B0604030504040204" pitchFamily="34" charset="0"/>
              </a:rPr>
              <a:t>Visualisation</a:t>
            </a:r>
            <a:r>
              <a:rPr lang="en-US" sz="3600" b="1" dirty="0">
                <a:latin typeface="Verdana" panose="020B0604030504040204" pitchFamily="34" charset="0"/>
                <a:ea typeface="Verdana" panose="020B0604030504040204" pitchFamily="34" charset="0"/>
              </a:rPr>
              <a:t> for Media</a:t>
            </a:r>
            <a:br>
              <a:rPr lang="en-US" sz="3600" b="1" dirty="0">
                <a:latin typeface="Verdana" panose="020B0604030504040204" pitchFamily="34" charset="0"/>
                <a:ea typeface="Verdana" panose="020B0604030504040204" pitchFamily="34" charset="0"/>
              </a:rPr>
            </a:br>
            <a:br>
              <a:rPr lang="en-US" sz="3600" b="1" dirty="0">
                <a:latin typeface="Verdana" panose="020B0604030504040204" pitchFamily="34" charset="0"/>
                <a:ea typeface="Verdana" panose="020B0604030504040204" pitchFamily="34" charset="0"/>
              </a:rPr>
            </a:br>
            <a:r>
              <a:rPr lang="en-US" sz="3600" b="1" dirty="0">
                <a:latin typeface="Verdana" panose="020B0604030504040204" pitchFamily="34" charset="0"/>
                <a:ea typeface="Verdana" panose="020B0604030504040204" pitchFamily="34" charset="0"/>
              </a:rPr>
              <a:t>Batch-11 Group 1</a:t>
            </a:r>
            <a:endParaRPr lang="en-IN" sz="1400" b="1" dirty="0">
              <a:latin typeface="Verdana" panose="020B0604030504040204" pitchFamily="34" charset="0"/>
              <a:ea typeface="Verdana" panose="020B0604030504040204" pitchFamily="34" charset="0"/>
            </a:endParaRPr>
          </a:p>
        </p:txBody>
      </p:sp>
      <p:sp>
        <p:nvSpPr>
          <p:cNvPr id="4" name="Subtitle 3">
            <a:extLst>
              <a:ext uri="{FF2B5EF4-FFF2-40B4-BE49-F238E27FC236}">
                <a16:creationId xmlns:a16="http://schemas.microsoft.com/office/drawing/2014/main" id="{B531828F-2798-8BE8-56E0-23C8257DB879}"/>
              </a:ext>
            </a:extLst>
          </p:cNvPr>
          <p:cNvSpPr>
            <a:spLocks noGrp="1"/>
          </p:cNvSpPr>
          <p:nvPr>
            <p:ph type="subTitle" idx="1"/>
          </p:nvPr>
        </p:nvSpPr>
        <p:spPr>
          <a:xfrm>
            <a:off x="9265333" y="3287598"/>
            <a:ext cx="3065253" cy="3013494"/>
          </a:xfrm>
        </p:spPr>
        <p:txBody>
          <a:bodyPr anchor="ctr">
            <a:normAutofit/>
          </a:bodyPr>
          <a:lstStyle/>
          <a:p>
            <a:pPr>
              <a:spcBef>
                <a:spcPts val="600"/>
              </a:spcBef>
            </a:pPr>
            <a:r>
              <a:rPr lang="en-IN" sz="1800" b="1" dirty="0">
                <a:solidFill>
                  <a:schemeClr val="tx1"/>
                </a:solidFill>
              </a:rPr>
              <a:t>Mentor : Mrs Nithyasri S J </a:t>
            </a:r>
            <a:r>
              <a:rPr lang="en-IN" sz="1800" dirty="0">
                <a:solidFill>
                  <a:schemeClr val="tx1"/>
                </a:solidFill>
              </a:rPr>
              <a:t>	</a:t>
            </a:r>
          </a:p>
          <a:p>
            <a:pPr>
              <a:spcBef>
                <a:spcPts val="600"/>
              </a:spcBef>
            </a:pPr>
            <a:r>
              <a:rPr lang="en-IN" sz="1800" b="1" dirty="0">
                <a:solidFill>
                  <a:schemeClr val="tx1"/>
                </a:solidFill>
              </a:rPr>
              <a:t>Group    : D</a:t>
            </a:r>
          </a:p>
          <a:p>
            <a:pPr marL="342900" indent="-342900">
              <a:spcBef>
                <a:spcPts val="600"/>
              </a:spcBef>
              <a:buFont typeface="Arial" panose="020B0604020202020204" pitchFamily="34" charset="0"/>
              <a:buChar char="•"/>
            </a:pPr>
            <a:r>
              <a:rPr lang="en-IN" sz="1800" dirty="0">
                <a:solidFill>
                  <a:schemeClr val="tx1"/>
                </a:solidFill>
              </a:rPr>
              <a:t>Neelapu Herambudu</a:t>
            </a:r>
          </a:p>
          <a:p>
            <a:pPr marL="342900" indent="-342900">
              <a:spcBef>
                <a:spcPts val="600"/>
              </a:spcBef>
              <a:buFont typeface="Arial" panose="020B0604020202020204" pitchFamily="34" charset="0"/>
              <a:buChar char="•"/>
            </a:pPr>
            <a:r>
              <a:rPr lang="en-IN" sz="1800" dirty="0">
                <a:solidFill>
                  <a:schemeClr val="tx1"/>
                </a:solidFill>
              </a:rPr>
              <a:t>Francis Daniel</a:t>
            </a:r>
          </a:p>
          <a:p>
            <a:pPr marL="342900" indent="-342900">
              <a:spcBef>
                <a:spcPts val="600"/>
              </a:spcBef>
              <a:buFont typeface="Arial" panose="020B0604020202020204" pitchFamily="34" charset="0"/>
              <a:buChar char="•"/>
            </a:pPr>
            <a:r>
              <a:rPr lang="en-IN" sz="1800" dirty="0">
                <a:solidFill>
                  <a:schemeClr val="tx1"/>
                </a:solidFill>
              </a:rPr>
              <a:t>Swathika Murugan</a:t>
            </a:r>
          </a:p>
          <a:p>
            <a:pPr marL="342900" indent="-342900">
              <a:spcBef>
                <a:spcPts val="600"/>
              </a:spcBef>
              <a:buFont typeface="Arial" panose="020B0604020202020204" pitchFamily="34" charset="0"/>
              <a:buChar char="•"/>
            </a:pPr>
            <a:r>
              <a:rPr lang="en-IN" sz="1800" dirty="0">
                <a:solidFill>
                  <a:schemeClr val="tx1"/>
                </a:solidFill>
              </a:rPr>
              <a:t>Shaik Shabeena Praveen</a:t>
            </a:r>
          </a:p>
          <a:p>
            <a:pPr marL="342900" indent="-342900">
              <a:spcBef>
                <a:spcPts val="600"/>
              </a:spcBef>
              <a:buFont typeface="Arial" panose="020B0604020202020204" pitchFamily="34" charset="0"/>
              <a:buChar char="•"/>
            </a:pPr>
            <a:r>
              <a:rPr lang="en-IN" sz="1800" dirty="0">
                <a:solidFill>
                  <a:schemeClr val="tx1"/>
                </a:solidFill>
              </a:rPr>
              <a:t>Gopi Krishna</a:t>
            </a:r>
          </a:p>
          <a:p>
            <a:pPr marL="342900" indent="-342900">
              <a:spcBef>
                <a:spcPts val="600"/>
              </a:spcBef>
              <a:buFont typeface="Arial" panose="020B0604020202020204" pitchFamily="34" charset="0"/>
              <a:buChar char="•"/>
            </a:pPr>
            <a:r>
              <a:rPr lang="en-IN" sz="1800" dirty="0">
                <a:solidFill>
                  <a:schemeClr val="tx1"/>
                </a:solidFill>
              </a:rPr>
              <a:t>Tanmay </a:t>
            </a:r>
            <a:r>
              <a:rPr lang="en-IN" sz="1800" dirty="0" err="1">
                <a:solidFill>
                  <a:schemeClr val="tx1"/>
                </a:solidFill>
              </a:rPr>
              <a:t>Parulkar</a:t>
            </a:r>
            <a:endParaRPr lang="en-IN" sz="1800" dirty="0">
              <a:solidFill>
                <a:schemeClr val="tx1"/>
              </a:solidFill>
            </a:endParaRPr>
          </a:p>
        </p:txBody>
      </p:sp>
      <p:sp>
        <p:nvSpPr>
          <p:cNvPr id="3" name="Rectangle 2">
            <a:extLst>
              <a:ext uri="{FF2B5EF4-FFF2-40B4-BE49-F238E27FC236}">
                <a16:creationId xmlns:a16="http://schemas.microsoft.com/office/drawing/2014/main" id="{5BC04BD2-18E9-4426-11A3-C654D55995CE}"/>
              </a:ext>
            </a:extLst>
          </p:cNvPr>
          <p:cNvSpPr/>
          <p:nvPr/>
        </p:nvSpPr>
        <p:spPr>
          <a:xfrm>
            <a:off x="0" y="-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C351171-D266-7B39-59DE-811E0098D8EE}"/>
              </a:ext>
            </a:extLst>
          </p:cNvPr>
          <p:cNvSpPr/>
          <p:nvPr/>
        </p:nvSpPr>
        <p:spPr>
          <a:xfrm>
            <a:off x="0" y="647150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39385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7EF5E-1360-ACD8-7139-838981D70A39}"/>
              </a:ext>
            </a:extLst>
          </p:cNvPr>
          <p:cNvSpPr>
            <a:spLocks noGrp="1"/>
          </p:cNvSpPr>
          <p:nvPr>
            <p:ph type="title"/>
          </p:nvPr>
        </p:nvSpPr>
        <p:spPr/>
        <p:txBody>
          <a:bodyPr vert="horz" lIns="91440" tIns="45720" rIns="91440" bIns="45720" rtlCol="0" anchor="ctr">
            <a:normAutofit/>
          </a:bodyPr>
          <a:lstStyle/>
          <a:p>
            <a:pPr algn="ctr"/>
            <a:r>
              <a:rPr lang="en-IN" sz="3200" b="1" dirty="0">
                <a:latin typeface="Verdana" panose="020B0604030504040204" pitchFamily="34" charset="0"/>
                <a:ea typeface="Verdana" panose="020B0604030504040204" pitchFamily="34" charset="0"/>
              </a:rPr>
              <a:t>PROJECT OVERVIEW </a:t>
            </a:r>
          </a:p>
        </p:txBody>
      </p:sp>
      <p:sp>
        <p:nvSpPr>
          <p:cNvPr id="3" name="Rectangle 3">
            <a:extLst>
              <a:ext uri="{FF2B5EF4-FFF2-40B4-BE49-F238E27FC236}">
                <a16:creationId xmlns:a16="http://schemas.microsoft.com/office/drawing/2014/main" id="{81C305FC-0EF7-1E45-C5C3-D40DEAD7AC04}"/>
              </a:ext>
            </a:extLst>
          </p:cNvPr>
          <p:cNvSpPr>
            <a:spLocks noGrp="1" noChangeArrowheads="1"/>
          </p:cNvSpPr>
          <p:nvPr>
            <p:ph idx="1"/>
          </p:nvPr>
        </p:nvSpPr>
        <p:spPr bwMode="auto">
          <a:xfrm>
            <a:off x="3414164" y="1114842"/>
            <a:ext cx="7977210"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Project Name: ElectViz – Election Data Analytics Dashboard</a:t>
            </a:r>
          </a:p>
          <a:p>
            <a:pPr marL="342900" lvl="0" indent="-342900" eaLnBrk="0" fontAlgn="base" hangingPunct="0">
              <a:lnSpc>
                <a:spcPct val="100000"/>
              </a:lnSpc>
              <a:spcBef>
                <a:spcPct val="0"/>
              </a:spcBef>
              <a:spcAft>
                <a:spcPct val="0"/>
              </a:spcAft>
              <a:buClrTx/>
              <a:buFont typeface="+mj-lt"/>
              <a:buAutoNum type="arabicPeriod"/>
            </a:pPr>
            <a:endParaRPr lang="en-US" altLang="en-US" sz="18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Domain: </a:t>
            </a:r>
            <a:r>
              <a:rPr lang="en-US" altLang="en-US" sz="1800" dirty="0">
                <a:solidFill>
                  <a:schemeClr val="tx1"/>
                </a:solidFill>
                <a:latin typeface="Arial" panose="020B0604020202020204" pitchFamily="34" charset="0"/>
              </a:rPr>
              <a:t>Data Analytics &amp; Visualization</a:t>
            </a:r>
          </a:p>
          <a:p>
            <a:pPr marL="342900" lvl="0" indent="-342900" eaLnBrk="0" fontAlgn="base" hangingPunct="0">
              <a:lnSpc>
                <a:spcPct val="100000"/>
              </a:lnSpc>
              <a:spcBef>
                <a:spcPct val="0"/>
              </a:spcBef>
              <a:spcAft>
                <a:spcPct val="0"/>
              </a:spcAft>
              <a:buClrTx/>
              <a:buFont typeface="+mj-lt"/>
              <a:buAutoNum type="arabicPeriod"/>
            </a:pPr>
            <a:endParaRPr lang="en-US" altLang="en-US" sz="18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Tool Used: </a:t>
            </a:r>
            <a:r>
              <a:rPr lang="en-US" altLang="en-US" sz="1800" dirty="0">
                <a:solidFill>
                  <a:schemeClr val="tx1"/>
                </a:solidFill>
                <a:latin typeface="Arial" panose="020B0604020202020204" pitchFamily="34" charset="0"/>
              </a:rPr>
              <a:t>Microsoft Power BI</a:t>
            </a:r>
          </a:p>
          <a:p>
            <a:pPr marL="342900" lvl="0" indent="-342900" eaLnBrk="0" fontAlgn="base" hangingPunct="0">
              <a:lnSpc>
                <a:spcPct val="100000"/>
              </a:lnSpc>
              <a:spcBef>
                <a:spcPct val="0"/>
              </a:spcBef>
              <a:spcAft>
                <a:spcPct val="0"/>
              </a:spcAft>
              <a:buClrTx/>
              <a:buFont typeface="+mj-lt"/>
              <a:buAutoNum type="arabicPeriod"/>
            </a:pPr>
            <a:endParaRPr lang="en-US" altLang="en-US" sz="18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Dataset: </a:t>
            </a:r>
            <a:r>
              <a:rPr lang="en-US" altLang="en-US" sz="1800" dirty="0">
                <a:solidFill>
                  <a:schemeClr val="tx1"/>
                </a:solidFill>
                <a:latin typeface="Arial" panose="020B0604020202020204" pitchFamily="34" charset="0"/>
              </a:rPr>
              <a:t>U.S. House of Representatives Elections (1976–2022)</a:t>
            </a:r>
          </a:p>
          <a:p>
            <a:pPr marL="0" lvl="0" indent="0" eaLnBrk="0" fontAlgn="base" hangingPunct="0">
              <a:lnSpc>
                <a:spcPct val="100000"/>
              </a:lnSpc>
              <a:spcBef>
                <a:spcPct val="0"/>
              </a:spcBef>
              <a:spcAft>
                <a:spcPct val="0"/>
              </a:spcAft>
              <a:buClrTx/>
              <a:buNone/>
            </a:pPr>
            <a:endParaRPr lang="en-US" altLang="en-US" sz="18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None/>
            </a:pPr>
            <a:r>
              <a:rPr lang="en-US" altLang="en-US" sz="1800" b="1" dirty="0">
                <a:solidFill>
                  <a:schemeClr val="tx1"/>
                </a:solidFill>
                <a:latin typeface="Arial" panose="020B0604020202020204" pitchFamily="34" charset="0"/>
              </a:rPr>
              <a:t>5.   Objective:</a:t>
            </a:r>
          </a:p>
          <a:p>
            <a:pPr marL="0" lvl="0" indent="0" eaLnBrk="0" fontAlgn="base" hangingPunct="0">
              <a:lnSpc>
                <a:spcPct val="100000"/>
              </a:lnSpc>
              <a:spcBef>
                <a:spcPct val="0"/>
              </a:spcBef>
              <a:spcAft>
                <a:spcPct val="0"/>
              </a:spcAft>
              <a:buClrTx/>
              <a:buNone/>
            </a:pPr>
            <a:r>
              <a:rPr lang="en-US" altLang="en-US" sz="1800" b="1" dirty="0">
                <a:solidFill>
                  <a:schemeClr val="tx1"/>
                </a:solidFill>
                <a:latin typeface="Arial" panose="020B0604020202020204" pitchFamily="34" charset="0"/>
              </a:rPr>
              <a:t>      </a:t>
            </a:r>
          </a:p>
          <a:p>
            <a:pPr marL="0" lvl="0" indent="0" eaLnBrk="0" fontAlgn="base" hangingPunct="0">
              <a:lnSpc>
                <a:spcPct val="100000"/>
              </a:lnSpc>
              <a:spcBef>
                <a:spcPct val="0"/>
              </a:spcBef>
              <a:spcAft>
                <a:spcPct val="0"/>
              </a:spcAft>
              <a:buClrTx/>
              <a:buNone/>
            </a:pPr>
            <a:r>
              <a:rPr lang="en-US" altLang="en-US" sz="1800" b="1" dirty="0">
                <a:solidFill>
                  <a:schemeClr val="tx1"/>
                </a:solidFill>
                <a:latin typeface="Arial" panose="020B0604020202020204" pitchFamily="34" charset="0"/>
              </a:rPr>
              <a:t>  </a:t>
            </a:r>
          </a:p>
          <a:p>
            <a:pPr marL="502920" lvl="1" indent="0" eaLnBrk="0" fontAlgn="base" hangingPunct="0">
              <a:lnSpc>
                <a:spcPct val="100000"/>
              </a:lnSpc>
              <a:spcBef>
                <a:spcPct val="0"/>
              </a:spcBef>
              <a:spcAft>
                <a:spcPct val="0"/>
              </a:spcAft>
              <a:buClrTx/>
              <a:buNone/>
            </a:pPr>
            <a:endParaRPr lang="en-US" altLang="en-US" sz="1600" dirty="0">
              <a:solidFill>
                <a:schemeClr val="tx1"/>
              </a:solidFill>
              <a:latin typeface="Arial" panose="020B0604020202020204" pitchFamily="34" charset="0"/>
            </a:endParaRPr>
          </a:p>
          <a:p>
            <a:pPr marL="502920" lvl="1" indent="0" eaLnBrk="0" fontAlgn="base" hangingPunct="0">
              <a:lnSpc>
                <a:spcPct val="100000"/>
              </a:lnSpc>
              <a:spcBef>
                <a:spcPct val="0"/>
              </a:spcBef>
              <a:spcAft>
                <a:spcPct val="0"/>
              </a:spcAft>
              <a:buClrTx/>
              <a:buNone/>
            </a:pPr>
            <a:endParaRPr lang="en-US" altLang="en-US" sz="1600" dirty="0">
              <a:solidFill>
                <a:schemeClr val="tx1"/>
              </a:solidFill>
              <a:latin typeface="Arial" panose="020B0604020202020204" pitchFamily="34" charset="0"/>
            </a:endParaRPr>
          </a:p>
          <a:p>
            <a:pPr marL="502920" lvl="1" indent="0" eaLnBrk="0" fontAlgn="base" hangingPunct="0">
              <a:lnSpc>
                <a:spcPct val="100000"/>
              </a:lnSpc>
              <a:spcBef>
                <a:spcPct val="0"/>
              </a:spcBef>
              <a:spcAft>
                <a:spcPct val="0"/>
              </a:spcAft>
              <a:buClrTx/>
              <a:buNone/>
            </a:pPr>
            <a:endParaRPr lang="en-US" altLang="en-US" sz="1600" dirty="0">
              <a:solidFill>
                <a:schemeClr val="tx1"/>
              </a:solidFill>
              <a:latin typeface="Arial" panose="020B0604020202020204" pitchFamily="34" charset="0"/>
            </a:endParaRPr>
          </a:p>
          <a:p>
            <a:pPr marL="502920" lvl="1" indent="0" eaLnBrk="0" fontAlgn="base" hangingPunct="0">
              <a:lnSpc>
                <a:spcPct val="100000"/>
              </a:lnSpc>
              <a:spcBef>
                <a:spcPct val="0"/>
              </a:spcBef>
              <a:spcAft>
                <a:spcPct val="0"/>
              </a:spcAft>
              <a:buClrTx/>
              <a:buNone/>
            </a:pPr>
            <a:endParaRPr lang="en-US" altLang="en-US" sz="1600" dirty="0">
              <a:solidFill>
                <a:schemeClr val="tx1"/>
              </a:solidFill>
              <a:latin typeface="Arial" panose="020B0604020202020204" pitchFamily="34" charset="0"/>
            </a:endParaRPr>
          </a:p>
          <a:p>
            <a:pPr marL="502920" lvl="1" indent="0" eaLnBrk="0" fontAlgn="base" hangingPunct="0">
              <a:lnSpc>
                <a:spcPct val="100000"/>
              </a:lnSpc>
              <a:spcBef>
                <a:spcPct val="0"/>
              </a:spcBef>
              <a:spcAft>
                <a:spcPct val="0"/>
              </a:spcAft>
              <a:buClrTx/>
              <a:buNone/>
            </a:pPr>
            <a:endParaRPr lang="en-US" altLang="en-US" sz="16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None/>
            </a:pPr>
            <a:r>
              <a:rPr lang="en-US" altLang="en-US" sz="1800" b="1" dirty="0">
                <a:solidFill>
                  <a:schemeClr val="tx1"/>
                </a:solidFill>
                <a:latin typeface="Arial" panose="020B0604020202020204" pitchFamily="34" charset="0"/>
              </a:rPr>
              <a:t>6.  Outcome:</a:t>
            </a:r>
          </a:p>
          <a:p>
            <a:pPr marL="0" lvl="0" indent="0" eaLnBrk="0" fontAlgn="base" hangingPunct="0">
              <a:lnSpc>
                <a:spcPct val="100000"/>
              </a:lnSpc>
              <a:spcBef>
                <a:spcPct val="0"/>
              </a:spcBef>
              <a:spcAft>
                <a:spcPct val="0"/>
              </a:spcAft>
              <a:buClrTx/>
              <a:buNone/>
            </a:pPr>
            <a:r>
              <a:rPr lang="en-US" altLang="en-US" sz="1800" dirty="0">
                <a:solidFill>
                  <a:schemeClr val="tx1"/>
                </a:solidFill>
                <a:latin typeface="Arial" panose="020B0604020202020204" pitchFamily="34" charset="0"/>
              </a:rPr>
              <a:t>     An interactive dashboard enabling data-driven exploration of election data</a:t>
            </a:r>
          </a:p>
          <a:p>
            <a:pPr marL="0" lvl="0" indent="0" eaLnBrk="0" fontAlgn="base" hangingPunct="0">
              <a:lnSpc>
                <a:spcPct val="100000"/>
              </a:lnSpc>
              <a:spcBef>
                <a:spcPct val="0"/>
              </a:spcBef>
              <a:spcAft>
                <a:spcPct val="0"/>
              </a:spcAft>
              <a:buClrTx/>
              <a:buNone/>
            </a:pPr>
            <a:endParaRPr lang="en-US" altLang="en-US" sz="1800" dirty="0">
              <a:solidFill>
                <a:schemeClr val="tx1"/>
              </a:solidFill>
              <a:latin typeface="Arial" panose="020B0604020202020204" pitchFamily="34" charset="0"/>
            </a:endParaRPr>
          </a:p>
        </p:txBody>
      </p:sp>
      <p:sp>
        <p:nvSpPr>
          <p:cNvPr id="4" name="Rectangle 3">
            <a:extLst>
              <a:ext uri="{FF2B5EF4-FFF2-40B4-BE49-F238E27FC236}">
                <a16:creationId xmlns:a16="http://schemas.microsoft.com/office/drawing/2014/main" id="{044F21B9-9917-0C9C-4365-EE3DCDB82766}"/>
              </a:ext>
            </a:extLst>
          </p:cNvPr>
          <p:cNvSpPr/>
          <p:nvPr/>
        </p:nvSpPr>
        <p:spPr>
          <a:xfrm>
            <a:off x="0" y="-9524"/>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50B3B8D1-DAFD-3A82-3DE2-B4ACFE3F65B6}"/>
              </a:ext>
            </a:extLst>
          </p:cNvPr>
          <p:cNvSpPr/>
          <p:nvPr/>
        </p:nvSpPr>
        <p:spPr>
          <a:xfrm>
            <a:off x="0" y="647150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3">
            <a:extLst>
              <a:ext uri="{FF2B5EF4-FFF2-40B4-BE49-F238E27FC236}">
                <a16:creationId xmlns:a16="http://schemas.microsoft.com/office/drawing/2014/main" id="{EF321FB6-D113-A91E-E7D7-2EA281EA2680}"/>
              </a:ext>
            </a:extLst>
          </p:cNvPr>
          <p:cNvSpPr>
            <a:spLocks noChangeArrowheads="1"/>
          </p:cNvSpPr>
          <p:nvPr/>
        </p:nvSpPr>
        <p:spPr bwMode="auto">
          <a:xfrm>
            <a:off x="3721666" y="3715554"/>
            <a:ext cx="792674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The objective of the </a:t>
            </a:r>
            <a:r>
              <a:rPr kumimoji="0" lang="en-US" altLang="en-US" sz="1800" b="0" i="0" u="none" strike="noStrike" cap="none" normalizeH="0" baseline="0" dirty="0" err="1">
                <a:ln>
                  <a:noFill/>
                </a:ln>
                <a:solidFill>
                  <a:schemeClr val="tx1"/>
                </a:solidFill>
                <a:effectLst/>
                <a:latin typeface="Arial" panose="020B0604020202020204" pitchFamily="34" charset="0"/>
              </a:rPr>
              <a:t>ElectViz</a:t>
            </a:r>
            <a:r>
              <a:rPr kumimoji="0" lang="en-US" altLang="en-US" sz="1800" b="0" i="0" u="none" strike="noStrike" cap="none" normalizeH="0" baseline="0" dirty="0">
                <a:ln>
                  <a:noFill/>
                </a:ln>
                <a:solidFill>
                  <a:schemeClr val="tx1"/>
                </a:solidFill>
                <a:effectLst/>
                <a:latin typeface="Arial" panose="020B0604020202020204" pitchFamily="34" charset="0"/>
              </a:rPr>
              <a:t> project is to analyze and visualize U.S. election data in an interactive and meaningful way by transforming raw datasets through preprocessing and data modeling in Power BI, enabling users and media analysts to easily understand voting patterns, party performance, and regional trends.</a:t>
            </a:r>
          </a:p>
        </p:txBody>
      </p:sp>
    </p:spTree>
    <p:extLst>
      <p:ext uri="{BB962C8B-B14F-4D97-AF65-F5344CB8AC3E}">
        <p14:creationId xmlns:p14="http://schemas.microsoft.com/office/powerpoint/2010/main" val="1897350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E907-BDB0-EFF7-5F3E-5909320A1296}"/>
              </a:ext>
            </a:extLst>
          </p:cNvPr>
          <p:cNvSpPr>
            <a:spLocks noGrp="1"/>
          </p:cNvSpPr>
          <p:nvPr>
            <p:ph type="title"/>
          </p:nvPr>
        </p:nvSpPr>
        <p:spPr/>
        <p:txBody>
          <a:bodyPr>
            <a:normAutofit/>
          </a:bodyPr>
          <a:lstStyle/>
          <a:p>
            <a:pPr algn="ctr"/>
            <a:r>
              <a:rPr lang="en-IN" sz="3200" b="1" dirty="0">
                <a:latin typeface="Verdana" panose="020B0604030504040204" pitchFamily="34" charset="0"/>
                <a:ea typeface="Verdana" panose="020B0604030504040204" pitchFamily="34" charset="0"/>
              </a:rPr>
              <a:t>KEY FEATURES</a:t>
            </a:r>
          </a:p>
        </p:txBody>
      </p:sp>
      <p:sp>
        <p:nvSpPr>
          <p:cNvPr id="6" name="Rectangle 5">
            <a:extLst>
              <a:ext uri="{FF2B5EF4-FFF2-40B4-BE49-F238E27FC236}">
                <a16:creationId xmlns:a16="http://schemas.microsoft.com/office/drawing/2014/main" id="{42814DF1-4CE3-A35D-08BA-3C8CAF015670}"/>
              </a:ext>
            </a:extLst>
          </p:cNvPr>
          <p:cNvSpPr/>
          <p:nvPr/>
        </p:nvSpPr>
        <p:spPr>
          <a:xfrm>
            <a:off x="0" y="-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01FF9610-DA26-79A2-FA07-E167360D2531}"/>
              </a:ext>
            </a:extLst>
          </p:cNvPr>
          <p:cNvSpPr/>
          <p:nvPr/>
        </p:nvSpPr>
        <p:spPr>
          <a:xfrm>
            <a:off x="0" y="6495353"/>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4170D00-D584-4661-21C2-D1C4D0815DBD}"/>
              </a:ext>
            </a:extLst>
          </p:cNvPr>
          <p:cNvSpPr txBox="1"/>
          <p:nvPr/>
        </p:nvSpPr>
        <p:spPr>
          <a:xfrm>
            <a:off x="3499430" y="575035"/>
            <a:ext cx="8284076" cy="5678478"/>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b="1" dirty="0">
                <a:latin typeface="Arial" panose="020B0604020202020204" pitchFamily="34" charset="0"/>
              </a:rPr>
              <a:t>Interactive dashboards with multi-page navigation:</a:t>
            </a:r>
            <a:r>
              <a:rPr lang="en-US" altLang="en-US" dirty="0">
                <a:latin typeface="Arial" panose="020B0604020202020204" pitchFamily="34" charset="0"/>
              </a:rPr>
              <a:t> </a:t>
            </a:r>
          </a:p>
          <a:p>
            <a:pPr lvl="0" defTabSz="914400" eaLnBrk="0" fontAlgn="base" hangingPunct="0">
              <a:spcBef>
                <a:spcPct val="0"/>
              </a:spcBef>
              <a:spcAft>
                <a:spcPct val="0"/>
              </a:spcAft>
            </a:pPr>
            <a:r>
              <a:rPr lang="en-US" altLang="en-US" dirty="0">
                <a:latin typeface="Arial" panose="020B0604020202020204" pitchFamily="34" charset="0"/>
              </a:rPr>
              <a:t>Enables seamless exploration of election insights across multiple analytical perspectives within a unified dashboard.</a:t>
            </a:r>
          </a:p>
          <a:p>
            <a:pPr lvl="0" defTabSz="914400" eaLnBrk="0" fontAlgn="base" hangingPunct="0">
              <a:spcBef>
                <a:spcPct val="0"/>
              </a:spcBef>
              <a:spcAft>
                <a:spcPct val="0"/>
              </a:spcAft>
            </a:pPr>
            <a:endParaRPr lang="en-US" altLang="en-US" sz="700" dirty="0">
              <a:latin typeface="Arial" panose="020B0604020202020204" pitchFamily="34" charset="0"/>
            </a:endParaRPr>
          </a:p>
          <a:p>
            <a:pPr lvl="0" defTabSz="914400" eaLnBrk="0" fontAlgn="base" hangingPunct="0">
              <a:spcBef>
                <a:spcPct val="0"/>
              </a:spcBef>
              <a:spcAft>
                <a:spcPct val="0"/>
              </a:spcAft>
              <a:buFontTx/>
              <a:buChar char="•"/>
            </a:pPr>
            <a:r>
              <a:rPr lang="en-US" altLang="en-US" b="1" dirty="0">
                <a:latin typeface="Arial" panose="020B0604020202020204" pitchFamily="34" charset="0"/>
              </a:rPr>
              <a:t>Dynamic filters (Year, State, Party, Election Type):</a:t>
            </a:r>
            <a:r>
              <a:rPr lang="en-US" altLang="en-US" dirty="0">
                <a:latin typeface="Arial" panose="020B0604020202020204" pitchFamily="34" charset="0"/>
              </a:rPr>
              <a:t> </a:t>
            </a:r>
          </a:p>
          <a:p>
            <a:pPr lvl="0" defTabSz="914400" eaLnBrk="0" fontAlgn="base" hangingPunct="0">
              <a:spcBef>
                <a:spcPct val="0"/>
              </a:spcBef>
              <a:spcAft>
                <a:spcPct val="0"/>
              </a:spcAft>
            </a:pPr>
            <a:r>
              <a:rPr lang="en-US" altLang="en-US" dirty="0">
                <a:latin typeface="Arial" panose="020B0604020202020204" pitchFamily="34" charset="0"/>
              </a:rPr>
              <a:t>Allows users to instantly refine and customize analysis based on specific election scenarios.</a:t>
            </a:r>
          </a:p>
          <a:p>
            <a:pPr lvl="0" defTabSz="914400" eaLnBrk="0" fontAlgn="base" hangingPunct="0">
              <a:spcBef>
                <a:spcPct val="0"/>
              </a:spcBef>
              <a:spcAft>
                <a:spcPct val="0"/>
              </a:spcAft>
            </a:pPr>
            <a:endParaRPr lang="en-US" altLang="en-US" sz="700" dirty="0">
              <a:latin typeface="Arial" panose="020B0604020202020204" pitchFamily="34" charset="0"/>
            </a:endParaRPr>
          </a:p>
          <a:p>
            <a:pPr lvl="0" defTabSz="914400" eaLnBrk="0" fontAlgn="base" hangingPunct="0">
              <a:spcBef>
                <a:spcPct val="0"/>
              </a:spcBef>
              <a:spcAft>
                <a:spcPct val="0"/>
              </a:spcAft>
              <a:buFontTx/>
              <a:buChar char="•"/>
            </a:pPr>
            <a:r>
              <a:rPr lang="en-US" altLang="en-US" b="1" dirty="0">
                <a:latin typeface="Arial" panose="020B0604020202020204" pitchFamily="34" charset="0"/>
              </a:rPr>
              <a:t>KPI cards (Total Votes, Total Candidates, Average Vote Share):</a:t>
            </a:r>
            <a:r>
              <a:rPr lang="en-US" altLang="en-US" dirty="0">
                <a:latin typeface="Arial" panose="020B0604020202020204" pitchFamily="34" charset="0"/>
              </a:rPr>
              <a:t> </a:t>
            </a:r>
          </a:p>
          <a:p>
            <a:pPr lvl="0" defTabSz="914400" eaLnBrk="0" fontAlgn="base" hangingPunct="0">
              <a:spcBef>
                <a:spcPct val="0"/>
              </a:spcBef>
              <a:spcAft>
                <a:spcPct val="0"/>
              </a:spcAft>
            </a:pPr>
            <a:r>
              <a:rPr lang="en-US" altLang="en-US" dirty="0">
                <a:latin typeface="Arial" panose="020B0604020202020204" pitchFamily="34" charset="0"/>
              </a:rPr>
              <a:t>Provides quick, high-level summary metrics for immediate insight into election outcomes.</a:t>
            </a:r>
          </a:p>
          <a:p>
            <a:pPr lvl="0" defTabSz="914400" eaLnBrk="0" fontAlgn="base" hangingPunct="0">
              <a:spcBef>
                <a:spcPct val="0"/>
              </a:spcBef>
              <a:spcAft>
                <a:spcPct val="0"/>
              </a:spcAft>
            </a:pPr>
            <a:endParaRPr lang="en-US" altLang="en-US" sz="800" dirty="0">
              <a:latin typeface="Arial" panose="020B0604020202020204" pitchFamily="34" charset="0"/>
            </a:endParaRPr>
          </a:p>
          <a:p>
            <a:pPr lvl="0" defTabSz="914400" eaLnBrk="0" fontAlgn="base" hangingPunct="0">
              <a:spcBef>
                <a:spcPct val="0"/>
              </a:spcBef>
              <a:spcAft>
                <a:spcPct val="0"/>
              </a:spcAft>
              <a:buFontTx/>
              <a:buChar char="•"/>
            </a:pPr>
            <a:r>
              <a:rPr lang="en-US" altLang="en-US" b="1" dirty="0">
                <a:latin typeface="Arial" panose="020B0604020202020204" pitchFamily="34" charset="0"/>
              </a:rPr>
              <a:t>State-wise and party-wise comparison:</a:t>
            </a:r>
            <a:r>
              <a:rPr lang="en-US" altLang="en-US" dirty="0">
                <a:latin typeface="Arial" panose="020B0604020202020204" pitchFamily="34" charset="0"/>
              </a:rPr>
              <a:t> </a:t>
            </a:r>
          </a:p>
          <a:p>
            <a:pPr lvl="0" defTabSz="914400" eaLnBrk="0" fontAlgn="base" hangingPunct="0">
              <a:spcBef>
                <a:spcPct val="0"/>
              </a:spcBef>
              <a:spcAft>
                <a:spcPct val="0"/>
              </a:spcAft>
            </a:pPr>
            <a:r>
              <a:rPr lang="en-US" altLang="en-US" dirty="0">
                <a:latin typeface="Arial" panose="020B0604020202020204" pitchFamily="34" charset="0"/>
              </a:rPr>
              <a:t>Facilitates comparative analysis of electoral performance across regions and political parties.</a:t>
            </a:r>
          </a:p>
          <a:p>
            <a:pPr lvl="0" defTabSz="914400" eaLnBrk="0" fontAlgn="base" hangingPunct="0">
              <a:spcBef>
                <a:spcPct val="0"/>
              </a:spcBef>
              <a:spcAft>
                <a:spcPct val="0"/>
              </a:spcAft>
            </a:pPr>
            <a:endParaRPr lang="en-US" altLang="en-US" sz="800" dirty="0">
              <a:latin typeface="Arial" panose="020B0604020202020204" pitchFamily="34" charset="0"/>
            </a:endParaRPr>
          </a:p>
          <a:p>
            <a:pPr lvl="0" defTabSz="914400" eaLnBrk="0" fontAlgn="base" hangingPunct="0">
              <a:spcBef>
                <a:spcPct val="0"/>
              </a:spcBef>
              <a:spcAft>
                <a:spcPct val="0"/>
              </a:spcAft>
              <a:buFontTx/>
              <a:buChar char="•"/>
            </a:pPr>
            <a:r>
              <a:rPr lang="en-US" altLang="en-US" b="1" dirty="0">
                <a:latin typeface="Arial" panose="020B0604020202020204" pitchFamily="34" charset="0"/>
              </a:rPr>
              <a:t>Trend analysis across multiple election cycles:</a:t>
            </a:r>
            <a:r>
              <a:rPr lang="en-US" altLang="en-US" dirty="0">
                <a:latin typeface="Arial" panose="020B0604020202020204" pitchFamily="34" charset="0"/>
              </a:rPr>
              <a:t> </a:t>
            </a:r>
          </a:p>
          <a:p>
            <a:pPr lvl="0" defTabSz="914400" eaLnBrk="0" fontAlgn="base" hangingPunct="0">
              <a:spcBef>
                <a:spcPct val="0"/>
              </a:spcBef>
              <a:spcAft>
                <a:spcPct val="0"/>
              </a:spcAft>
            </a:pPr>
            <a:r>
              <a:rPr lang="en-US" altLang="en-US" dirty="0">
                <a:latin typeface="Arial" panose="020B0604020202020204" pitchFamily="34" charset="0"/>
              </a:rPr>
              <a:t>Visualizes long-term changes in voting behavior, party dominance, and participation over time.</a:t>
            </a:r>
          </a:p>
          <a:p>
            <a:pPr lvl="0" defTabSz="914400" eaLnBrk="0" fontAlgn="base" hangingPunct="0">
              <a:spcBef>
                <a:spcPct val="0"/>
              </a:spcBef>
              <a:spcAft>
                <a:spcPct val="0"/>
              </a:spcAft>
            </a:pPr>
            <a:endParaRPr lang="en-US" altLang="en-US" sz="900" dirty="0">
              <a:latin typeface="Arial" panose="020B0604020202020204" pitchFamily="34" charset="0"/>
            </a:endParaRPr>
          </a:p>
          <a:p>
            <a:pPr lvl="0" defTabSz="914400" eaLnBrk="0" fontAlgn="base" hangingPunct="0">
              <a:spcBef>
                <a:spcPct val="0"/>
              </a:spcBef>
              <a:spcAft>
                <a:spcPct val="0"/>
              </a:spcAft>
              <a:buFontTx/>
              <a:buChar char="•"/>
            </a:pPr>
            <a:r>
              <a:rPr lang="en-US" altLang="en-US" b="1" dirty="0">
                <a:latin typeface="Arial" panose="020B0604020202020204" pitchFamily="34" charset="0"/>
              </a:rPr>
              <a:t>User-friendly and visually consistent design:</a:t>
            </a:r>
            <a:r>
              <a:rPr lang="en-US" altLang="en-US" dirty="0">
                <a:latin typeface="Arial" panose="020B0604020202020204" pitchFamily="34" charset="0"/>
              </a:rPr>
              <a:t> </a:t>
            </a:r>
          </a:p>
          <a:p>
            <a:pPr lvl="0" defTabSz="914400" eaLnBrk="0" fontAlgn="base" hangingPunct="0">
              <a:spcBef>
                <a:spcPct val="0"/>
              </a:spcBef>
              <a:spcAft>
                <a:spcPct val="0"/>
              </a:spcAft>
            </a:pPr>
            <a:r>
              <a:rPr lang="en-US" altLang="en-US" dirty="0">
                <a:latin typeface="Arial" panose="020B0604020202020204" pitchFamily="34" charset="0"/>
              </a:rPr>
              <a:t>Ensures clarity, ease of use, and intuitive interpretation through a structured and cohesive visual layout.</a:t>
            </a:r>
          </a:p>
        </p:txBody>
      </p:sp>
    </p:spTree>
    <p:extLst>
      <p:ext uri="{BB962C8B-B14F-4D97-AF65-F5344CB8AC3E}">
        <p14:creationId xmlns:p14="http://schemas.microsoft.com/office/powerpoint/2010/main" val="1838607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94D18-2469-1425-ECD1-B8C23186638C}"/>
              </a:ext>
            </a:extLst>
          </p:cNvPr>
          <p:cNvSpPr>
            <a:spLocks noGrp="1"/>
          </p:cNvSpPr>
          <p:nvPr>
            <p:ph type="title"/>
          </p:nvPr>
        </p:nvSpPr>
        <p:spPr>
          <a:xfrm>
            <a:off x="-53094" y="1123837"/>
            <a:ext cx="3545512" cy="4601183"/>
          </a:xfrm>
        </p:spPr>
        <p:txBody>
          <a:bodyPr vert="horz" lIns="91440" tIns="45720" rIns="91440" bIns="45720" rtlCol="0" anchor="ctr">
            <a:normAutofit/>
          </a:bodyPr>
          <a:lstStyle/>
          <a:p>
            <a:pPr algn="ctr"/>
            <a:r>
              <a:rPr lang="en-IN" sz="2800" b="1" dirty="0">
                <a:latin typeface="Verdana" panose="020B0604030504040204" pitchFamily="34" charset="0"/>
                <a:ea typeface="Verdana" panose="020B0604030504040204" pitchFamily="34" charset="0"/>
              </a:rPr>
              <a:t>TOOLS</a:t>
            </a:r>
            <a:br>
              <a:rPr lang="en-IN" sz="2800" b="1" dirty="0">
                <a:latin typeface="Verdana" panose="020B0604030504040204" pitchFamily="34" charset="0"/>
                <a:ea typeface="Verdana" panose="020B0604030504040204" pitchFamily="34" charset="0"/>
              </a:rPr>
            </a:br>
            <a:r>
              <a:rPr lang="en-IN" sz="2800" b="1" dirty="0">
                <a:latin typeface="Verdana" panose="020B0604030504040204" pitchFamily="34" charset="0"/>
                <a:ea typeface="Verdana" panose="020B0604030504040204" pitchFamily="34" charset="0"/>
              </a:rPr>
              <a:t>&amp;</a:t>
            </a:r>
            <a:br>
              <a:rPr lang="en-IN" sz="2800" b="1" dirty="0">
                <a:latin typeface="Verdana" panose="020B0604030504040204" pitchFamily="34" charset="0"/>
                <a:ea typeface="Verdana" panose="020B0604030504040204" pitchFamily="34" charset="0"/>
              </a:rPr>
            </a:br>
            <a:r>
              <a:rPr lang="en-IN" sz="2800" b="1" dirty="0">
                <a:latin typeface="Verdana" panose="020B0604030504040204" pitchFamily="34" charset="0"/>
                <a:ea typeface="Verdana" panose="020B0604030504040204" pitchFamily="34" charset="0"/>
              </a:rPr>
              <a:t>TECHNOLOGIES</a:t>
            </a:r>
          </a:p>
        </p:txBody>
      </p:sp>
      <p:sp>
        <p:nvSpPr>
          <p:cNvPr id="3" name="Content Placeholder 2">
            <a:extLst>
              <a:ext uri="{FF2B5EF4-FFF2-40B4-BE49-F238E27FC236}">
                <a16:creationId xmlns:a16="http://schemas.microsoft.com/office/drawing/2014/main" id="{9ABA4BAA-6E74-D138-8DD6-7ED4CBC136BF}"/>
              </a:ext>
            </a:extLst>
          </p:cNvPr>
          <p:cNvSpPr>
            <a:spLocks noGrp="1"/>
          </p:cNvSpPr>
          <p:nvPr>
            <p:ph idx="1"/>
          </p:nvPr>
        </p:nvSpPr>
        <p:spPr>
          <a:xfrm>
            <a:off x="3610467" y="864108"/>
            <a:ext cx="8173038" cy="5120640"/>
          </a:xfrm>
        </p:spPr>
        <p:txBody>
          <a:bodyPr anchor="ctr">
            <a:normAutofit/>
          </a:bodyPr>
          <a:lstStyle/>
          <a:p>
            <a:pPr>
              <a:lnSpc>
                <a:spcPct val="150000"/>
              </a:lnSpc>
            </a:pPr>
            <a:r>
              <a:rPr lang="en-IN" b="1" dirty="0">
                <a:solidFill>
                  <a:schemeClr val="tx1"/>
                </a:solidFill>
                <a:latin typeface="Times New Roman" panose="02020603050405020304" pitchFamily="18" charset="0"/>
                <a:cs typeface="Times New Roman" panose="02020603050405020304" pitchFamily="18" charset="0"/>
              </a:rPr>
              <a:t>Microsoft Power BI Desktop</a:t>
            </a:r>
            <a:r>
              <a:rPr lang="en-IN" dirty="0">
                <a:solidFill>
                  <a:schemeClr val="tx1"/>
                </a:solidFill>
                <a:latin typeface="Times New Roman" panose="02020603050405020304" pitchFamily="18" charset="0"/>
                <a:cs typeface="Times New Roman" panose="02020603050405020304" pitchFamily="18" charset="0"/>
              </a:rPr>
              <a:t> – Data </a:t>
            </a:r>
            <a:r>
              <a:rPr lang="en-IN" dirty="0" err="1">
                <a:solidFill>
                  <a:schemeClr val="tx1"/>
                </a:solidFill>
                <a:latin typeface="Times New Roman" panose="02020603050405020304" pitchFamily="18" charset="0"/>
                <a:cs typeface="Times New Roman" panose="02020603050405020304" pitchFamily="18" charset="0"/>
              </a:rPr>
              <a:t>modeling</a:t>
            </a:r>
            <a:r>
              <a:rPr lang="en-IN" dirty="0">
                <a:solidFill>
                  <a:schemeClr val="tx1"/>
                </a:solidFill>
                <a:latin typeface="Times New Roman" panose="02020603050405020304" pitchFamily="18" charset="0"/>
                <a:cs typeface="Times New Roman" panose="02020603050405020304" pitchFamily="18" charset="0"/>
              </a:rPr>
              <a:t> and dashboard development</a:t>
            </a:r>
          </a:p>
          <a:p>
            <a:pPr>
              <a:lnSpc>
                <a:spcPct val="150000"/>
              </a:lnSpc>
            </a:pPr>
            <a:r>
              <a:rPr lang="en-IN" b="1" dirty="0">
                <a:solidFill>
                  <a:schemeClr val="tx1"/>
                </a:solidFill>
                <a:latin typeface="Times New Roman" panose="02020603050405020304" pitchFamily="18" charset="0"/>
                <a:cs typeface="Times New Roman" panose="02020603050405020304" pitchFamily="18" charset="0"/>
              </a:rPr>
              <a:t>Power Query (M Language)</a:t>
            </a:r>
            <a:r>
              <a:rPr lang="en-IN" dirty="0">
                <a:solidFill>
                  <a:schemeClr val="tx1"/>
                </a:solidFill>
                <a:latin typeface="Times New Roman" panose="02020603050405020304" pitchFamily="18" charset="0"/>
                <a:cs typeface="Times New Roman" panose="02020603050405020304" pitchFamily="18" charset="0"/>
              </a:rPr>
              <a:t> – ETL, data cleaning, and transformation</a:t>
            </a:r>
          </a:p>
          <a:p>
            <a:pPr>
              <a:lnSpc>
                <a:spcPct val="150000"/>
              </a:lnSpc>
            </a:pPr>
            <a:r>
              <a:rPr lang="en-IN" b="1" dirty="0">
                <a:solidFill>
                  <a:schemeClr val="tx1"/>
                </a:solidFill>
                <a:latin typeface="Times New Roman" panose="02020603050405020304" pitchFamily="18" charset="0"/>
                <a:cs typeface="Times New Roman" panose="02020603050405020304" pitchFamily="18" charset="0"/>
              </a:rPr>
              <a:t>DAX (Data Analysis Expressions)</a:t>
            </a:r>
            <a:r>
              <a:rPr lang="en-IN" dirty="0">
                <a:solidFill>
                  <a:schemeClr val="tx1"/>
                </a:solidFill>
                <a:latin typeface="Times New Roman" panose="02020603050405020304" pitchFamily="18" charset="0"/>
                <a:cs typeface="Times New Roman" panose="02020603050405020304" pitchFamily="18" charset="0"/>
              </a:rPr>
              <a:t> – Advanced calculations and KPIs</a:t>
            </a:r>
          </a:p>
          <a:p>
            <a:pPr>
              <a:lnSpc>
                <a:spcPct val="150000"/>
              </a:lnSpc>
            </a:pPr>
            <a:r>
              <a:rPr lang="en-IN" b="1" dirty="0">
                <a:solidFill>
                  <a:schemeClr val="tx1"/>
                </a:solidFill>
                <a:latin typeface="Times New Roman" panose="02020603050405020304" pitchFamily="18" charset="0"/>
                <a:cs typeface="Times New Roman" panose="02020603050405020304" pitchFamily="18" charset="0"/>
              </a:rPr>
              <a:t>Interactive Slicers</a:t>
            </a:r>
            <a:r>
              <a:rPr lang="en-IN" dirty="0">
                <a:solidFill>
                  <a:schemeClr val="tx1"/>
                </a:solidFill>
                <a:latin typeface="Times New Roman" panose="02020603050405020304" pitchFamily="18" charset="0"/>
                <a:cs typeface="Times New Roman" panose="02020603050405020304" pitchFamily="18" charset="0"/>
              </a:rPr>
              <a:t> – Dynamic filtering by year, state, and party</a:t>
            </a:r>
          </a:p>
        </p:txBody>
      </p:sp>
      <p:sp>
        <p:nvSpPr>
          <p:cNvPr id="4" name="Rectangle 3">
            <a:extLst>
              <a:ext uri="{FF2B5EF4-FFF2-40B4-BE49-F238E27FC236}">
                <a16:creationId xmlns:a16="http://schemas.microsoft.com/office/drawing/2014/main" id="{FAB8A5E5-337A-8EB5-9954-1A70E5A54803}"/>
              </a:ext>
            </a:extLst>
          </p:cNvPr>
          <p:cNvSpPr/>
          <p:nvPr/>
        </p:nvSpPr>
        <p:spPr>
          <a:xfrm>
            <a:off x="0" y="-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71E4B52-6918-103C-63B7-664F523F5176}"/>
              </a:ext>
            </a:extLst>
          </p:cNvPr>
          <p:cNvSpPr/>
          <p:nvPr/>
        </p:nvSpPr>
        <p:spPr>
          <a:xfrm>
            <a:off x="0" y="6462358"/>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87812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32F14-CF6A-A58B-AF73-4CB769130E0A}"/>
              </a:ext>
            </a:extLst>
          </p:cNvPr>
          <p:cNvSpPr>
            <a:spLocks noGrp="1"/>
          </p:cNvSpPr>
          <p:nvPr>
            <p:ph type="title"/>
          </p:nvPr>
        </p:nvSpPr>
        <p:spPr>
          <a:xfrm>
            <a:off x="0" y="1123837"/>
            <a:ext cx="3440784" cy="4601183"/>
          </a:xfrm>
        </p:spPr>
        <p:txBody>
          <a:bodyPr vert="horz" lIns="91440" tIns="45720" rIns="91440" bIns="45720" rtlCol="0" anchor="ctr">
            <a:normAutofit/>
          </a:bodyPr>
          <a:lstStyle/>
          <a:p>
            <a:pPr algn="ctr"/>
            <a:r>
              <a:rPr lang="en-IN" sz="2800" b="1" dirty="0">
                <a:latin typeface="Verdana" panose="020B0604030504040204" pitchFamily="34" charset="0"/>
                <a:ea typeface="Verdana" panose="020B0604030504040204" pitchFamily="34" charset="0"/>
              </a:rPr>
              <a:t>WORKFLOW</a:t>
            </a:r>
            <a:br>
              <a:rPr lang="en-IN" sz="2800" b="1" dirty="0">
                <a:latin typeface="Verdana" panose="020B0604030504040204" pitchFamily="34" charset="0"/>
                <a:ea typeface="Verdana" panose="020B0604030504040204" pitchFamily="34" charset="0"/>
              </a:rPr>
            </a:br>
            <a:r>
              <a:rPr lang="en-IN" sz="2800" b="1" dirty="0">
                <a:latin typeface="Verdana" panose="020B0604030504040204" pitchFamily="34" charset="0"/>
                <a:ea typeface="Verdana" panose="020B0604030504040204" pitchFamily="34" charset="0"/>
              </a:rPr>
              <a:t>&amp;</a:t>
            </a:r>
            <a:br>
              <a:rPr lang="en-IN" sz="2800" b="1" dirty="0">
                <a:latin typeface="Verdana" panose="020B0604030504040204" pitchFamily="34" charset="0"/>
                <a:ea typeface="Verdana" panose="020B0604030504040204" pitchFamily="34" charset="0"/>
              </a:rPr>
            </a:br>
            <a:r>
              <a:rPr lang="en-IN" sz="2800" b="1" dirty="0">
                <a:latin typeface="Verdana" panose="020B0604030504040204" pitchFamily="34" charset="0"/>
                <a:ea typeface="Verdana" panose="020B0604030504040204" pitchFamily="34" charset="0"/>
              </a:rPr>
              <a:t>SYSTEM DESIGN</a:t>
            </a:r>
          </a:p>
        </p:txBody>
      </p:sp>
      <p:sp>
        <p:nvSpPr>
          <p:cNvPr id="5" name="Rectangle 4">
            <a:extLst>
              <a:ext uri="{FF2B5EF4-FFF2-40B4-BE49-F238E27FC236}">
                <a16:creationId xmlns:a16="http://schemas.microsoft.com/office/drawing/2014/main" id="{97FF948D-C772-D4D9-ADEE-CC02F7845F7F}"/>
              </a:ext>
            </a:extLst>
          </p:cNvPr>
          <p:cNvSpPr/>
          <p:nvPr/>
        </p:nvSpPr>
        <p:spPr>
          <a:xfrm>
            <a:off x="0" y="-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C52B3794-9459-E1CF-E55D-8C64125EBB80}"/>
              </a:ext>
            </a:extLst>
          </p:cNvPr>
          <p:cNvSpPr/>
          <p:nvPr/>
        </p:nvSpPr>
        <p:spPr>
          <a:xfrm>
            <a:off x="0" y="647150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9B113460-EE4B-4837-68CD-60D0BB42693A}"/>
              </a:ext>
            </a:extLst>
          </p:cNvPr>
          <p:cNvSpPr/>
          <p:nvPr/>
        </p:nvSpPr>
        <p:spPr>
          <a:xfrm>
            <a:off x="4274481" y="544685"/>
            <a:ext cx="2139884" cy="857839"/>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CSV Dataset        (Raw Election Data) </a:t>
            </a:r>
            <a:endParaRPr lang="en-IN" dirty="0"/>
          </a:p>
        </p:txBody>
      </p:sp>
      <p:sp>
        <p:nvSpPr>
          <p:cNvPr id="9" name="Rectangle: Rounded Corners 8">
            <a:extLst>
              <a:ext uri="{FF2B5EF4-FFF2-40B4-BE49-F238E27FC236}">
                <a16:creationId xmlns:a16="http://schemas.microsoft.com/office/drawing/2014/main" id="{404299DE-52D7-A16A-20B6-952C725ADDB8}"/>
              </a:ext>
            </a:extLst>
          </p:cNvPr>
          <p:cNvSpPr/>
          <p:nvPr/>
        </p:nvSpPr>
        <p:spPr>
          <a:xfrm>
            <a:off x="8210747" y="1092319"/>
            <a:ext cx="2865749" cy="1414021"/>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Power Query (ETL Layer)  </a:t>
            </a:r>
          </a:p>
          <a:p>
            <a:r>
              <a:rPr lang="en-IN" dirty="0"/>
              <a:t>• Data Cleaning  </a:t>
            </a:r>
          </a:p>
          <a:p>
            <a:r>
              <a:rPr lang="en-IN" dirty="0"/>
              <a:t>• Data Transformation        • Normalization </a:t>
            </a:r>
          </a:p>
        </p:txBody>
      </p:sp>
      <p:sp>
        <p:nvSpPr>
          <p:cNvPr id="10" name="Rectangle: Rounded Corners 9">
            <a:extLst>
              <a:ext uri="{FF2B5EF4-FFF2-40B4-BE49-F238E27FC236}">
                <a16:creationId xmlns:a16="http://schemas.microsoft.com/office/drawing/2014/main" id="{534D416C-F9A0-C769-1B12-D27C8AF9616E}"/>
              </a:ext>
            </a:extLst>
          </p:cNvPr>
          <p:cNvSpPr/>
          <p:nvPr/>
        </p:nvSpPr>
        <p:spPr>
          <a:xfrm>
            <a:off x="3819232" y="2204684"/>
            <a:ext cx="3020784" cy="1199730"/>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Power BI Data Model </a:t>
            </a:r>
          </a:p>
          <a:p>
            <a:pPr algn="ctr"/>
            <a:r>
              <a:rPr lang="en-US" dirty="0"/>
              <a:t>• </a:t>
            </a:r>
            <a:r>
              <a:rPr lang="en-IN" dirty="0"/>
              <a:t>Tables &amp; Relationships</a:t>
            </a:r>
          </a:p>
        </p:txBody>
      </p:sp>
      <p:sp>
        <p:nvSpPr>
          <p:cNvPr id="11" name="Rectangle: Rounded Corners 10">
            <a:extLst>
              <a:ext uri="{FF2B5EF4-FFF2-40B4-BE49-F238E27FC236}">
                <a16:creationId xmlns:a16="http://schemas.microsoft.com/office/drawing/2014/main" id="{3EFB17A6-06D3-96AE-2C14-B0415E3C2B61}"/>
              </a:ext>
            </a:extLst>
          </p:cNvPr>
          <p:cNvSpPr/>
          <p:nvPr/>
        </p:nvSpPr>
        <p:spPr>
          <a:xfrm>
            <a:off x="8210747" y="3097320"/>
            <a:ext cx="2865749" cy="1610750"/>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DAX Measures &amp; KPIs</a:t>
            </a:r>
          </a:p>
          <a:p>
            <a:r>
              <a:rPr lang="en-IN" dirty="0"/>
              <a:t>• Vote Share Calculations</a:t>
            </a:r>
          </a:p>
          <a:p>
            <a:r>
              <a:rPr lang="en-IN" dirty="0"/>
              <a:t>• Seats Won Metrics</a:t>
            </a:r>
          </a:p>
          <a:p>
            <a:r>
              <a:rPr lang="en-IN" dirty="0"/>
              <a:t>• Aggregations &amp; Trends</a:t>
            </a:r>
          </a:p>
        </p:txBody>
      </p:sp>
      <p:sp>
        <p:nvSpPr>
          <p:cNvPr id="12" name="Rectangle: Rounded Corners 11">
            <a:extLst>
              <a:ext uri="{FF2B5EF4-FFF2-40B4-BE49-F238E27FC236}">
                <a16:creationId xmlns:a16="http://schemas.microsoft.com/office/drawing/2014/main" id="{4C589A81-0643-C39C-6D54-BE114379CA75}"/>
              </a:ext>
            </a:extLst>
          </p:cNvPr>
          <p:cNvSpPr/>
          <p:nvPr/>
        </p:nvSpPr>
        <p:spPr>
          <a:xfrm>
            <a:off x="4139237" y="4469611"/>
            <a:ext cx="2565535" cy="1285697"/>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US" dirty="0"/>
              <a:t>Interactive Dashboard </a:t>
            </a:r>
          </a:p>
          <a:p>
            <a:r>
              <a:rPr lang="en-US" dirty="0"/>
              <a:t>• Charts &amp; Maps </a:t>
            </a:r>
          </a:p>
          <a:p>
            <a:r>
              <a:rPr lang="en-US" dirty="0"/>
              <a:t>• KPI Cards </a:t>
            </a:r>
          </a:p>
          <a:p>
            <a:r>
              <a:rPr lang="en-US" dirty="0"/>
              <a:t>• Filters &amp; Slicers </a:t>
            </a:r>
            <a:endParaRPr lang="en-IN" dirty="0"/>
          </a:p>
        </p:txBody>
      </p:sp>
      <p:sp>
        <p:nvSpPr>
          <p:cNvPr id="13" name="Rectangle: Rounded Corners 12">
            <a:extLst>
              <a:ext uri="{FF2B5EF4-FFF2-40B4-BE49-F238E27FC236}">
                <a16:creationId xmlns:a16="http://schemas.microsoft.com/office/drawing/2014/main" id="{90987304-2F06-1D81-F4CE-D8E71099C582}"/>
              </a:ext>
            </a:extLst>
          </p:cNvPr>
          <p:cNvSpPr/>
          <p:nvPr/>
        </p:nvSpPr>
        <p:spPr>
          <a:xfrm>
            <a:off x="8360853" y="5299050"/>
            <a:ext cx="2565536" cy="976292"/>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IN" dirty="0"/>
              <a:t>User Insights &amp; Analysis </a:t>
            </a:r>
          </a:p>
          <a:p>
            <a:r>
              <a:rPr lang="en-IN" dirty="0"/>
              <a:t>• Trends Identification </a:t>
            </a:r>
          </a:p>
          <a:p>
            <a:r>
              <a:rPr lang="en-IN" dirty="0"/>
              <a:t>• Comparative Analysis </a:t>
            </a:r>
          </a:p>
        </p:txBody>
      </p:sp>
      <p:cxnSp>
        <p:nvCxnSpPr>
          <p:cNvPr id="15" name="Straight Arrow Connector 14">
            <a:extLst>
              <a:ext uri="{FF2B5EF4-FFF2-40B4-BE49-F238E27FC236}">
                <a16:creationId xmlns:a16="http://schemas.microsoft.com/office/drawing/2014/main" id="{E02A413B-54D9-21D3-1470-D91423014053}"/>
              </a:ext>
            </a:extLst>
          </p:cNvPr>
          <p:cNvCxnSpPr/>
          <p:nvPr/>
        </p:nvCxnSpPr>
        <p:spPr>
          <a:xfrm>
            <a:off x="6617616" y="973604"/>
            <a:ext cx="1263192" cy="6289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53EC62BD-58BE-D547-482D-E245A3A3C090}"/>
              </a:ext>
            </a:extLst>
          </p:cNvPr>
          <p:cNvCxnSpPr>
            <a:cxnSpLocks/>
          </p:cNvCxnSpPr>
          <p:nvPr/>
        </p:nvCxnSpPr>
        <p:spPr>
          <a:xfrm>
            <a:off x="6952878" y="2670935"/>
            <a:ext cx="1097613" cy="7334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5C39A641-6DE6-EE3B-FDAD-7EE9E771B49D}"/>
              </a:ext>
            </a:extLst>
          </p:cNvPr>
          <p:cNvCxnSpPr>
            <a:cxnSpLocks/>
          </p:cNvCxnSpPr>
          <p:nvPr/>
        </p:nvCxnSpPr>
        <p:spPr>
          <a:xfrm>
            <a:off x="6814793" y="4916191"/>
            <a:ext cx="1395954" cy="8088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46EA605B-F62B-505D-12D2-7816EE01FBA9}"/>
              </a:ext>
            </a:extLst>
          </p:cNvPr>
          <p:cNvCxnSpPr/>
          <p:nvPr/>
        </p:nvCxnSpPr>
        <p:spPr>
          <a:xfrm flipH="1">
            <a:off x="6952878" y="1799329"/>
            <a:ext cx="927930" cy="707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FFB3B69-0739-D062-A89C-CE14928687A9}"/>
              </a:ext>
            </a:extLst>
          </p:cNvPr>
          <p:cNvCxnSpPr>
            <a:cxnSpLocks/>
          </p:cNvCxnSpPr>
          <p:nvPr/>
        </p:nvCxnSpPr>
        <p:spPr>
          <a:xfrm flipH="1">
            <a:off x="6914803" y="4012408"/>
            <a:ext cx="1135688" cy="778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635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42F92-A148-BCA5-C2CC-55818E6DC9DD}"/>
              </a:ext>
            </a:extLst>
          </p:cNvPr>
          <p:cNvSpPr>
            <a:spLocks noGrp="1"/>
          </p:cNvSpPr>
          <p:nvPr>
            <p:ph type="title"/>
          </p:nvPr>
        </p:nvSpPr>
        <p:spPr/>
        <p:txBody>
          <a:bodyPr/>
          <a:lstStyle/>
          <a:p>
            <a:r>
              <a:rPr lang="en-IN" b="1" dirty="0"/>
              <a:t>MILESTONES</a:t>
            </a:r>
            <a:r>
              <a:rPr lang="en-IN" dirty="0"/>
              <a:t> </a:t>
            </a:r>
          </a:p>
        </p:txBody>
      </p:sp>
      <p:sp>
        <p:nvSpPr>
          <p:cNvPr id="5" name="Rectangle 4">
            <a:extLst>
              <a:ext uri="{FF2B5EF4-FFF2-40B4-BE49-F238E27FC236}">
                <a16:creationId xmlns:a16="http://schemas.microsoft.com/office/drawing/2014/main" id="{554AF014-DCC7-FD09-0699-171F8207FA71}"/>
              </a:ext>
            </a:extLst>
          </p:cNvPr>
          <p:cNvSpPr/>
          <p:nvPr/>
        </p:nvSpPr>
        <p:spPr>
          <a:xfrm>
            <a:off x="0" y="-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A601F6BD-1C0A-FB5C-1819-6AB4A3F7ABC4}"/>
              </a:ext>
            </a:extLst>
          </p:cNvPr>
          <p:cNvSpPr/>
          <p:nvPr/>
        </p:nvSpPr>
        <p:spPr>
          <a:xfrm>
            <a:off x="0" y="647150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Content Placeholder 2">
            <a:extLst>
              <a:ext uri="{FF2B5EF4-FFF2-40B4-BE49-F238E27FC236}">
                <a16:creationId xmlns:a16="http://schemas.microsoft.com/office/drawing/2014/main" id="{0AE5CD55-5DB3-79F4-42EF-F0ED0B964B6B}"/>
              </a:ext>
            </a:extLst>
          </p:cNvPr>
          <p:cNvSpPr>
            <a:spLocks noGrp="1"/>
          </p:cNvSpPr>
          <p:nvPr>
            <p:ph idx="1"/>
          </p:nvPr>
        </p:nvSpPr>
        <p:spPr>
          <a:xfrm>
            <a:off x="3657600" y="593889"/>
            <a:ext cx="8012784" cy="5986021"/>
          </a:xfrm>
        </p:spPr>
        <p:txBody>
          <a:bodyPr>
            <a:normAutofit fontScale="92500" lnSpcReduction="10000"/>
          </a:bodyPr>
          <a:lstStyle/>
          <a:p>
            <a:pPr marL="0" indent="0" algn="just">
              <a:buNone/>
            </a:pPr>
            <a:r>
              <a:rPr lang="en-US" b="1" u="sng" dirty="0">
                <a:solidFill>
                  <a:schemeClr val="tx1"/>
                </a:solidFill>
                <a:latin typeface="Times New Roman" panose="02020603050405020304" pitchFamily="18" charset="0"/>
                <a:cs typeface="Times New Roman" panose="02020603050405020304" pitchFamily="18" charset="0"/>
              </a:rPr>
              <a:t>Milestone 1: </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This phase focused on understanding project objectives and preparing the election dataset for analysis. </a:t>
            </a:r>
            <a:r>
              <a:rPr lang="en-US" b="1" dirty="0">
                <a:solidFill>
                  <a:schemeClr val="tx1"/>
                </a:solidFill>
                <a:latin typeface="Times New Roman" panose="02020603050405020304" pitchFamily="18" charset="0"/>
                <a:cs typeface="Times New Roman" panose="02020603050405020304" pitchFamily="18" charset="0"/>
              </a:rPr>
              <a:t>Data cleaning and preprocessing</a:t>
            </a:r>
            <a:r>
              <a:rPr lang="en-US" dirty="0">
                <a:solidFill>
                  <a:schemeClr val="tx1"/>
                </a:solidFill>
                <a:latin typeface="Times New Roman" panose="02020603050405020304" pitchFamily="18" charset="0"/>
                <a:cs typeface="Times New Roman" panose="02020603050405020304" pitchFamily="18" charset="0"/>
              </a:rPr>
              <a:t> were performed to ensure accuracy, consistency, and reliability across all election years and states.</a:t>
            </a:r>
          </a:p>
          <a:p>
            <a:pPr marL="0" indent="0">
              <a:buNone/>
            </a:pPr>
            <a:r>
              <a:rPr lang="en-US" b="1" u="sng" dirty="0">
                <a:solidFill>
                  <a:schemeClr val="tx1"/>
                </a:solidFill>
                <a:latin typeface="Times New Roman" panose="02020603050405020304" pitchFamily="18" charset="0"/>
                <a:cs typeface="Times New Roman" panose="02020603050405020304" pitchFamily="18" charset="0"/>
              </a:rPr>
              <a:t>Milestone 2: </a:t>
            </a:r>
          </a:p>
          <a:p>
            <a:pPr marL="0" indent="0">
              <a:buNone/>
            </a:pPr>
            <a:r>
              <a:rPr lang="en-US" dirty="0">
                <a:solidFill>
                  <a:schemeClr val="tx1"/>
                </a:solidFill>
                <a:latin typeface="Times New Roman" panose="02020603050405020304" pitchFamily="18" charset="0"/>
                <a:cs typeface="Times New Roman" panose="02020603050405020304" pitchFamily="18" charset="0"/>
              </a:rPr>
              <a:t>This milestone involved building the first set of dashboard pages, including </a:t>
            </a:r>
            <a:r>
              <a:rPr lang="en-US" b="1" dirty="0">
                <a:solidFill>
                  <a:schemeClr val="tx1"/>
                </a:solidFill>
                <a:latin typeface="Times New Roman" panose="02020603050405020304" pitchFamily="18" charset="0"/>
                <a:cs typeface="Times New Roman" panose="02020603050405020304" pitchFamily="18" charset="0"/>
              </a:rPr>
              <a:t>Election Overview, Special Elections and Fusion Ticket Analysis, and State-wise Candidate Vote Distribution</a:t>
            </a:r>
            <a:r>
              <a:rPr lang="en-US" dirty="0">
                <a:solidFill>
                  <a:schemeClr val="tx1"/>
                </a:solidFill>
                <a:latin typeface="Times New Roman" panose="02020603050405020304" pitchFamily="18" charset="0"/>
                <a:cs typeface="Times New Roman" panose="02020603050405020304" pitchFamily="18" charset="0"/>
              </a:rPr>
              <a:t>. These pages provide high-level trends and regional insights into voting patterns and electoral behavior.</a:t>
            </a:r>
          </a:p>
          <a:p>
            <a:pPr marL="0" indent="0" algn="just">
              <a:buNone/>
            </a:pPr>
            <a:r>
              <a:rPr lang="en-US" b="1" u="sng" dirty="0">
                <a:solidFill>
                  <a:schemeClr val="tx1"/>
                </a:solidFill>
                <a:latin typeface="Times New Roman" panose="02020603050405020304" pitchFamily="18" charset="0"/>
                <a:cs typeface="Times New Roman" panose="02020603050405020304" pitchFamily="18" charset="0"/>
              </a:rPr>
              <a:t>Milestone 3: </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In this phase, advanced analytical pages were developed to evaluate </a:t>
            </a:r>
            <a:r>
              <a:rPr lang="en-US" b="1" dirty="0">
                <a:solidFill>
                  <a:schemeClr val="tx1"/>
                </a:solidFill>
                <a:latin typeface="Times New Roman" panose="02020603050405020304" pitchFamily="18" charset="0"/>
                <a:cs typeface="Times New Roman" panose="02020603050405020304" pitchFamily="18" charset="0"/>
              </a:rPr>
              <a:t>party dominance, candidate performance, and seat distribution across states</a:t>
            </a:r>
            <a:r>
              <a:rPr lang="en-US" dirty="0">
                <a:solidFill>
                  <a:schemeClr val="tx1"/>
                </a:solidFill>
                <a:latin typeface="Times New Roman" panose="02020603050405020304" pitchFamily="18" charset="0"/>
                <a:cs typeface="Times New Roman" panose="02020603050405020304" pitchFamily="18" charset="0"/>
              </a:rPr>
              <a:t>. The visuals enable deeper insights into political control and shifts in power over time.</a:t>
            </a:r>
          </a:p>
          <a:p>
            <a:pPr marL="0" indent="0">
              <a:buNone/>
            </a:pPr>
            <a:r>
              <a:rPr lang="en-US" b="1" u="sng" dirty="0">
                <a:solidFill>
                  <a:schemeClr val="tx1"/>
                </a:solidFill>
                <a:latin typeface="Times New Roman" panose="02020603050405020304" pitchFamily="18" charset="0"/>
                <a:cs typeface="Times New Roman" panose="02020603050405020304" pitchFamily="18" charset="0"/>
              </a:rPr>
              <a:t>Milestone 4: </a:t>
            </a:r>
          </a:p>
          <a:p>
            <a:pPr marL="0" indent="0">
              <a:buNone/>
            </a:pPr>
            <a:r>
              <a:rPr lang="en-US" dirty="0">
                <a:solidFill>
                  <a:schemeClr val="tx1"/>
                </a:solidFill>
                <a:latin typeface="Times New Roman" panose="02020603050405020304" pitchFamily="18" charset="0"/>
                <a:cs typeface="Times New Roman" panose="02020603050405020304" pitchFamily="18" charset="0"/>
              </a:rPr>
              <a:t>The final milestone completed the dashboard with </a:t>
            </a:r>
            <a:r>
              <a:rPr lang="en-US" b="1" dirty="0">
                <a:solidFill>
                  <a:schemeClr val="tx1"/>
                </a:solidFill>
                <a:latin typeface="Times New Roman" panose="02020603050405020304" pitchFamily="18" charset="0"/>
                <a:cs typeface="Times New Roman" panose="02020603050405020304" pitchFamily="18" charset="0"/>
              </a:rPr>
              <a:t>voter participation analysis and a consolidated results overview</a:t>
            </a:r>
            <a:r>
              <a:rPr lang="en-US" dirty="0">
                <a:solidFill>
                  <a:schemeClr val="tx1"/>
                </a:solidFill>
                <a:latin typeface="Times New Roman" panose="02020603050405020304" pitchFamily="18" charset="0"/>
                <a:cs typeface="Times New Roman" panose="02020603050405020304" pitchFamily="18" charset="0"/>
              </a:rPr>
              <a:t>. This phase focused on summarizing insights and enhancing storytelling for quick interpretation and presentation.</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1602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51CA6A6-CF08-D3DE-095B-656EEA426DFD}"/>
              </a:ext>
            </a:extLst>
          </p:cNvPr>
          <p:cNvSpPr txBox="1">
            <a:spLocks/>
          </p:cNvSpPr>
          <p:nvPr/>
        </p:nvSpPr>
        <p:spPr>
          <a:xfrm>
            <a:off x="256032" y="1142999"/>
            <a:ext cx="2834640" cy="46088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60" baseline="0">
                <a:solidFill>
                  <a:srgbClr val="FFFFFF"/>
                </a:solidFill>
                <a:latin typeface="+mj-lt"/>
                <a:ea typeface="+mj-ea"/>
                <a:cs typeface="+mj-cs"/>
              </a:defRPr>
            </a:lvl1pPr>
          </a:lstStyle>
          <a:p>
            <a:pPr algn="ctr"/>
            <a:r>
              <a:rPr lang="en-IN" b="1" dirty="0">
                <a:latin typeface="Verdana" panose="020B0604030504040204" pitchFamily="34" charset="0"/>
                <a:ea typeface="Verdana" panose="020B0604030504040204" pitchFamily="34" charset="0"/>
              </a:rPr>
              <a:t>OUTCOMES </a:t>
            </a:r>
          </a:p>
        </p:txBody>
      </p:sp>
      <p:sp>
        <p:nvSpPr>
          <p:cNvPr id="7" name="Rectangle 6">
            <a:extLst>
              <a:ext uri="{FF2B5EF4-FFF2-40B4-BE49-F238E27FC236}">
                <a16:creationId xmlns:a16="http://schemas.microsoft.com/office/drawing/2014/main" id="{77029787-E94C-E8F9-5127-46114EACCFE2}"/>
              </a:ext>
            </a:extLst>
          </p:cNvPr>
          <p:cNvSpPr/>
          <p:nvPr/>
        </p:nvSpPr>
        <p:spPr>
          <a:xfrm>
            <a:off x="0" y="-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2333239-878A-50A2-7896-CFAB7F5A83EE}"/>
              </a:ext>
            </a:extLst>
          </p:cNvPr>
          <p:cNvSpPr/>
          <p:nvPr/>
        </p:nvSpPr>
        <p:spPr>
          <a:xfrm>
            <a:off x="0" y="6470444"/>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Content Placeholder 10">
            <a:extLst>
              <a:ext uri="{FF2B5EF4-FFF2-40B4-BE49-F238E27FC236}">
                <a16:creationId xmlns:a16="http://schemas.microsoft.com/office/drawing/2014/main" id="{09EE11F7-80B8-8410-8A27-FE11997432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47842" y="845285"/>
            <a:ext cx="4152004" cy="24528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4" name="Picture 13">
            <a:extLst>
              <a:ext uri="{FF2B5EF4-FFF2-40B4-BE49-F238E27FC236}">
                <a16:creationId xmlns:a16="http://schemas.microsoft.com/office/drawing/2014/main" id="{43450BEF-C975-4591-AE00-82A8100633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1690" y="845284"/>
            <a:ext cx="4214005" cy="24528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8" name="Picture 17">
            <a:extLst>
              <a:ext uri="{FF2B5EF4-FFF2-40B4-BE49-F238E27FC236}">
                <a16:creationId xmlns:a16="http://schemas.microsoft.com/office/drawing/2014/main" id="{ED3C1106-DAE3-DEA6-3EC6-2619573EF4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1690" y="3559834"/>
            <a:ext cx="4214005" cy="24765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CC00CDB1-74F7-7312-E469-0975D5EF501D}"/>
              </a:ext>
            </a:extLst>
          </p:cNvPr>
          <p:cNvPicPr>
            <a:picLocks noChangeAspect="1"/>
          </p:cNvPicPr>
          <p:nvPr/>
        </p:nvPicPr>
        <p:blipFill>
          <a:blip r:embed="rId5"/>
          <a:stretch>
            <a:fillRect/>
          </a:stretch>
        </p:blipFill>
        <p:spPr>
          <a:xfrm>
            <a:off x="3547842" y="3558778"/>
            <a:ext cx="4152004" cy="24765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66666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19249-9780-6DF5-2FDA-2AA68D7D80A8}"/>
              </a:ext>
            </a:extLst>
          </p:cNvPr>
          <p:cNvSpPr>
            <a:spLocks noGrp="1"/>
          </p:cNvSpPr>
          <p:nvPr>
            <p:ph type="title"/>
          </p:nvPr>
        </p:nvSpPr>
        <p:spPr>
          <a:xfrm>
            <a:off x="256032" y="1142999"/>
            <a:ext cx="2834640" cy="4608871"/>
          </a:xfrm>
        </p:spPr>
        <p:txBody>
          <a:bodyPr anchor="ctr">
            <a:normAutofit/>
          </a:bodyPr>
          <a:lstStyle/>
          <a:p>
            <a:pPr algn="ctr"/>
            <a:r>
              <a:rPr lang="en-IN" b="1" dirty="0">
                <a:latin typeface="Verdana" panose="020B0604030504040204" pitchFamily="34" charset="0"/>
                <a:ea typeface="Verdana" panose="020B0604030504040204" pitchFamily="34" charset="0"/>
              </a:rPr>
              <a:t>OUTCOMES </a:t>
            </a:r>
          </a:p>
        </p:txBody>
      </p:sp>
      <p:sp>
        <p:nvSpPr>
          <p:cNvPr id="4" name="Text Placeholder 3">
            <a:extLst>
              <a:ext uri="{FF2B5EF4-FFF2-40B4-BE49-F238E27FC236}">
                <a16:creationId xmlns:a16="http://schemas.microsoft.com/office/drawing/2014/main" id="{3271A7EB-9F15-56F2-3DAC-E1E2DBF07E75}"/>
              </a:ext>
            </a:extLst>
          </p:cNvPr>
          <p:cNvSpPr>
            <a:spLocks noGrp="1"/>
          </p:cNvSpPr>
          <p:nvPr>
            <p:ph type="body" sz="half" idx="2"/>
          </p:nvPr>
        </p:nvSpPr>
        <p:spPr>
          <a:xfrm>
            <a:off x="496018" y="5397910"/>
            <a:ext cx="2834640" cy="930918"/>
          </a:xfrm>
        </p:spPr>
        <p:txBody>
          <a:bodyPr>
            <a:normAutofit/>
          </a:bodyPr>
          <a:lstStyle/>
          <a:p>
            <a:r>
              <a:rPr lang="en-IN" dirty="0"/>
              <a:t> </a:t>
            </a:r>
          </a:p>
        </p:txBody>
      </p:sp>
      <p:sp>
        <p:nvSpPr>
          <p:cNvPr id="3" name="Rectangle 2">
            <a:extLst>
              <a:ext uri="{FF2B5EF4-FFF2-40B4-BE49-F238E27FC236}">
                <a16:creationId xmlns:a16="http://schemas.microsoft.com/office/drawing/2014/main" id="{8F30104B-5D8E-CE2F-650D-0449F4378C7F}"/>
              </a:ext>
            </a:extLst>
          </p:cNvPr>
          <p:cNvSpPr/>
          <p:nvPr/>
        </p:nvSpPr>
        <p:spPr>
          <a:xfrm>
            <a:off x="0" y="-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39172D3-5162-E32D-E9A3-F7AC8D10747F}"/>
              </a:ext>
            </a:extLst>
          </p:cNvPr>
          <p:cNvSpPr/>
          <p:nvPr/>
        </p:nvSpPr>
        <p:spPr>
          <a:xfrm>
            <a:off x="0" y="647150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0524EC97-0FC3-AE8F-6103-B935EDC45576}"/>
              </a:ext>
            </a:extLst>
          </p:cNvPr>
          <p:cNvPicPr>
            <a:picLocks noChangeAspect="1"/>
          </p:cNvPicPr>
          <p:nvPr/>
        </p:nvPicPr>
        <p:blipFill>
          <a:blip r:embed="rId2"/>
          <a:stretch>
            <a:fillRect/>
          </a:stretch>
        </p:blipFill>
        <p:spPr>
          <a:xfrm>
            <a:off x="5377248" y="870550"/>
            <a:ext cx="4641624" cy="25584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8" name="Picture 17">
            <a:extLst>
              <a:ext uri="{FF2B5EF4-FFF2-40B4-BE49-F238E27FC236}">
                <a16:creationId xmlns:a16="http://schemas.microsoft.com/office/drawing/2014/main" id="{64567BAF-37AA-932E-D4E6-FA131E4C30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4683" y="3571673"/>
            <a:ext cx="4230751" cy="24783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AB65DA88-3CAA-2C58-3ECB-EC2549309D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97319" y="3571673"/>
            <a:ext cx="4260703" cy="24783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40598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415CA-BF5B-0F8E-7C0E-0689BD303088}"/>
              </a:ext>
            </a:extLst>
          </p:cNvPr>
          <p:cNvSpPr>
            <a:spLocks noGrp="1"/>
          </p:cNvSpPr>
          <p:nvPr>
            <p:ph type="title"/>
          </p:nvPr>
        </p:nvSpPr>
        <p:spPr>
          <a:xfrm>
            <a:off x="-85725" y="1123837"/>
            <a:ext cx="3560445" cy="4601183"/>
          </a:xfrm>
        </p:spPr>
        <p:txBody>
          <a:bodyPr>
            <a:normAutofit/>
          </a:bodyPr>
          <a:lstStyle/>
          <a:p>
            <a:pPr algn="ctr"/>
            <a:r>
              <a:rPr lang="en-IN" sz="2800" b="1" dirty="0">
                <a:latin typeface="Verdana" panose="020B0604030504040204" pitchFamily="34" charset="0"/>
                <a:ea typeface="Verdana" panose="020B0604030504040204" pitchFamily="34" charset="0"/>
              </a:rPr>
              <a:t>FUTURE ENHANCEMENTS </a:t>
            </a:r>
          </a:p>
        </p:txBody>
      </p:sp>
      <p:sp>
        <p:nvSpPr>
          <p:cNvPr id="3" name="Content Placeholder 2">
            <a:extLst>
              <a:ext uri="{FF2B5EF4-FFF2-40B4-BE49-F238E27FC236}">
                <a16:creationId xmlns:a16="http://schemas.microsoft.com/office/drawing/2014/main" id="{B1A6A303-491A-D077-1842-A873397FC289}"/>
              </a:ext>
            </a:extLst>
          </p:cNvPr>
          <p:cNvSpPr>
            <a:spLocks noGrp="1"/>
          </p:cNvSpPr>
          <p:nvPr>
            <p:ph idx="1"/>
          </p:nvPr>
        </p:nvSpPr>
        <p:spPr>
          <a:xfrm>
            <a:off x="3822133" y="862642"/>
            <a:ext cx="7315200" cy="5272937"/>
          </a:xfrm>
        </p:spPr>
        <p:txBody>
          <a:bodyPr>
            <a:normAutofit fontScale="92500" lnSpcReduction="20000"/>
          </a:bodyPr>
          <a:lstStyle/>
          <a:p>
            <a:pPr algn="just">
              <a:lnSpc>
                <a:spcPct val="160000"/>
              </a:lnSpc>
            </a:pPr>
            <a:r>
              <a:rPr lang="en-US" b="1" dirty="0">
                <a:solidFill>
                  <a:schemeClr val="tx1"/>
                </a:solidFill>
                <a:latin typeface="Times New Roman" panose="02020603050405020304" pitchFamily="18" charset="0"/>
                <a:cs typeface="Times New Roman" panose="02020603050405020304" pitchFamily="18" charset="0"/>
              </a:rPr>
              <a:t>Predictive AI Integration: </a:t>
            </a:r>
            <a:r>
              <a:rPr lang="en-US" dirty="0">
                <a:solidFill>
                  <a:schemeClr val="tx1"/>
                </a:solidFill>
                <a:latin typeface="Times New Roman" panose="02020603050405020304" pitchFamily="18" charset="0"/>
                <a:cs typeface="Times New Roman" panose="02020603050405020304" pitchFamily="18" charset="0"/>
              </a:rPr>
              <a:t>Incorporating machine learning models to project "Likely Winners" in real-time based on early partial returns.</a:t>
            </a:r>
          </a:p>
          <a:p>
            <a:pPr algn="just">
              <a:lnSpc>
                <a:spcPct val="160000"/>
              </a:lnSpc>
            </a:pPr>
            <a:r>
              <a:rPr lang="en-US" b="1" dirty="0">
                <a:solidFill>
                  <a:schemeClr val="tx1"/>
                </a:solidFill>
                <a:latin typeface="Times New Roman" panose="02020603050405020304" pitchFamily="18" charset="0"/>
                <a:cs typeface="Times New Roman" panose="02020603050405020304" pitchFamily="18" charset="0"/>
              </a:rPr>
              <a:t>Predictive "What-If" Modeling: </a:t>
            </a:r>
            <a:r>
              <a:rPr lang="en-US" dirty="0">
                <a:solidFill>
                  <a:schemeClr val="tx1"/>
                </a:solidFill>
                <a:latin typeface="Times New Roman" panose="02020603050405020304" pitchFamily="18" charset="0"/>
                <a:cs typeface="Times New Roman" panose="02020603050405020304" pitchFamily="18" charset="0"/>
              </a:rPr>
              <a:t>Enabling a feature (similar to major news networks) to estimate final outcomes as soon as key precincts report.</a:t>
            </a:r>
          </a:p>
          <a:p>
            <a:pPr algn="just">
              <a:lnSpc>
                <a:spcPct val="160000"/>
              </a:lnSpc>
            </a:pPr>
            <a:r>
              <a:rPr lang="en-US" b="1" dirty="0">
                <a:solidFill>
                  <a:schemeClr val="tx1"/>
                </a:solidFill>
                <a:latin typeface="Times New Roman" panose="02020603050405020304" pitchFamily="18" charset="0"/>
                <a:cs typeface="Times New Roman" panose="02020603050405020304" pitchFamily="18" charset="0"/>
              </a:rPr>
              <a:t>Demographic Overlay: </a:t>
            </a:r>
            <a:r>
              <a:rPr lang="en-US" dirty="0">
                <a:solidFill>
                  <a:schemeClr val="tx1"/>
                </a:solidFill>
                <a:latin typeface="Times New Roman" panose="02020603050405020304" pitchFamily="18" charset="0"/>
                <a:cs typeface="Times New Roman" panose="02020603050405020304" pitchFamily="18" charset="0"/>
              </a:rPr>
              <a:t>Integrating US Census data to visualize how factors like income, education, and age influenced the voting shifts seen in your current charts.</a:t>
            </a:r>
          </a:p>
          <a:p>
            <a:pPr algn="just">
              <a:lnSpc>
                <a:spcPct val="160000"/>
              </a:lnSpc>
            </a:pPr>
            <a:r>
              <a:rPr lang="en-US" b="1" dirty="0">
                <a:solidFill>
                  <a:schemeClr val="tx1"/>
                </a:solidFill>
                <a:latin typeface="Times New Roman" panose="02020603050405020304" pitchFamily="18" charset="0"/>
                <a:cs typeface="Times New Roman" panose="02020603050405020304" pitchFamily="18" charset="0"/>
              </a:rPr>
              <a:t>Live API Connectivity: </a:t>
            </a:r>
            <a:r>
              <a:rPr lang="en-US" dirty="0">
                <a:solidFill>
                  <a:schemeClr val="tx1"/>
                </a:solidFill>
                <a:latin typeface="Times New Roman" panose="02020603050405020304" pitchFamily="18" charset="0"/>
                <a:cs typeface="Times New Roman" panose="02020603050405020304" pitchFamily="18" charset="0"/>
              </a:rPr>
              <a:t>Transitioning from static datasets to live Web API feeds (such as the Associated Press) for automated updates during election nights.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F4F3CEDC-102A-87E1-28E1-9176CBD37547}"/>
              </a:ext>
            </a:extLst>
          </p:cNvPr>
          <p:cNvSpPr/>
          <p:nvPr/>
        </p:nvSpPr>
        <p:spPr>
          <a:xfrm>
            <a:off x="0" y="-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69CFAF24-BB56-9163-4A74-45CD0880F520}"/>
              </a:ext>
            </a:extLst>
          </p:cNvPr>
          <p:cNvSpPr/>
          <p:nvPr/>
        </p:nvSpPr>
        <p:spPr>
          <a:xfrm>
            <a:off x="0" y="647150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95353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61F4F-1C8F-D27A-2DC6-0A1FB4455BFF}"/>
              </a:ext>
            </a:extLst>
          </p:cNvPr>
          <p:cNvSpPr>
            <a:spLocks noGrp="1"/>
          </p:cNvSpPr>
          <p:nvPr>
            <p:ph type="title"/>
          </p:nvPr>
        </p:nvSpPr>
        <p:spPr/>
        <p:txBody>
          <a:bodyPr>
            <a:normAutofit/>
          </a:bodyPr>
          <a:lstStyle/>
          <a:p>
            <a:pPr algn="ctr"/>
            <a:r>
              <a:rPr lang="en-IN" sz="2800" b="1" dirty="0">
                <a:latin typeface="Verdana" panose="020B0604030504040204" pitchFamily="34" charset="0"/>
                <a:ea typeface="Verdana" panose="020B0604030504040204" pitchFamily="34" charset="0"/>
              </a:rPr>
              <a:t>CONCLUSION</a:t>
            </a:r>
          </a:p>
        </p:txBody>
      </p:sp>
      <p:sp>
        <p:nvSpPr>
          <p:cNvPr id="3" name="Content Placeholder 2">
            <a:extLst>
              <a:ext uri="{FF2B5EF4-FFF2-40B4-BE49-F238E27FC236}">
                <a16:creationId xmlns:a16="http://schemas.microsoft.com/office/drawing/2014/main" id="{8681AE01-E631-9183-8E86-8FD9989DA720}"/>
              </a:ext>
            </a:extLst>
          </p:cNvPr>
          <p:cNvSpPr>
            <a:spLocks noGrp="1"/>
          </p:cNvSpPr>
          <p:nvPr>
            <p:ph idx="1"/>
          </p:nvPr>
        </p:nvSpPr>
        <p:spPr>
          <a:xfrm>
            <a:off x="3829011" y="914445"/>
            <a:ext cx="7716274" cy="5120640"/>
          </a:xfrm>
        </p:spPr>
        <p:txBody>
          <a:bodyPr>
            <a:normAutofit lnSpcReduction="10000"/>
          </a:bodyPr>
          <a:lstStyle/>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The project successfully transformed </a:t>
            </a:r>
            <a:r>
              <a:rPr lang="en-US" sz="1800" b="1" dirty="0">
                <a:solidFill>
                  <a:schemeClr val="tx1"/>
                </a:solidFill>
                <a:latin typeface="Times New Roman" panose="02020603050405020304" pitchFamily="18" charset="0"/>
                <a:cs typeface="Times New Roman" panose="02020603050405020304" pitchFamily="18" charset="0"/>
              </a:rPr>
              <a:t>raw and complex election datasets</a:t>
            </a:r>
            <a:r>
              <a:rPr lang="en-US" sz="1800" dirty="0">
                <a:solidFill>
                  <a:schemeClr val="tx1"/>
                </a:solidFill>
                <a:latin typeface="Times New Roman" panose="02020603050405020304" pitchFamily="18" charset="0"/>
                <a:cs typeface="Times New Roman" panose="02020603050405020304" pitchFamily="18" charset="0"/>
              </a:rPr>
              <a:t> into </a:t>
            </a:r>
            <a:r>
              <a:rPr lang="en-US" sz="1800" b="1" dirty="0">
                <a:solidFill>
                  <a:schemeClr val="tx1"/>
                </a:solidFill>
                <a:latin typeface="Times New Roman" panose="02020603050405020304" pitchFamily="18" charset="0"/>
                <a:cs typeface="Times New Roman" panose="02020603050405020304" pitchFamily="18" charset="0"/>
              </a:rPr>
              <a:t>structured, accurate, and visually intuitive insights</a:t>
            </a:r>
            <a:r>
              <a:rPr lang="en-US" sz="1800" dirty="0">
                <a:solidFill>
                  <a:schemeClr val="tx1"/>
                </a:solidFill>
                <a:latin typeface="Times New Roman" panose="02020603050405020304" pitchFamily="18" charset="0"/>
                <a:cs typeface="Times New Roman" panose="02020603050405020304" pitchFamily="18" charset="0"/>
              </a:rPr>
              <a:t>, enabling users to quickly interpret large volumes of electoral information that would otherwise be difficult to analyze in tabular form.</a:t>
            </a:r>
          </a:p>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By leveraging </a:t>
            </a:r>
            <a:r>
              <a:rPr lang="en-US" sz="1800" b="1" dirty="0">
                <a:solidFill>
                  <a:schemeClr val="tx1"/>
                </a:solidFill>
                <a:latin typeface="Times New Roman" panose="02020603050405020304" pitchFamily="18" charset="0"/>
                <a:cs typeface="Times New Roman" panose="02020603050405020304" pitchFamily="18" charset="0"/>
              </a:rPr>
              <a:t>modern data visualization techniques</a:t>
            </a:r>
            <a:r>
              <a:rPr lang="en-US" sz="1800" dirty="0">
                <a:solidFill>
                  <a:schemeClr val="tx1"/>
                </a:solidFill>
                <a:latin typeface="Times New Roman" panose="02020603050405020304" pitchFamily="18" charset="0"/>
                <a:cs typeface="Times New Roman" panose="02020603050405020304" pitchFamily="18" charset="0"/>
              </a:rPr>
              <a:t>, the project clearly demonstrated how interactive dashboards can enhance the understanding of </a:t>
            </a:r>
            <a:r>
              <a:rPr lang="en-US" sz="1800" b="1" dirty="0">
                <a:solidFill>
                  <a:schemeClr val="tx1"/>
                </a:solidFill>
                <a:latin typeface="Times New Roman" panose="02020603050405020304" pitchFamily="18" charset="0"/>
                <a:cs typeface="Times New Roman" panose="02020603050405020304" pitchFamily="18" charset="0"/>
              </a:rPr>
              <a:t>political trends, voting patterns, and long-term shifts in party dominance</a:t>
            </a:r>
            <a:r>
              <a:rPr lang="en-US" sz="1800" dirty="0">
                <a:solidFill>
                  <a:schemeClr val="tx1"/>
                </a:solidFill>
                <a:latin typeface="Times New Roman" panose="02020603050405020304" pitchFamily="18" charset="0"/>
                <a:cs typeface="Times New Roman" panose="02020603050405020304" pitchFamily="18" charset="0"/>
              </a:rPr>
              <a:t> across multiple election cycles.</a:t>
            </a:r>
          </a:p>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The dashboard enabled </a:t>
            </a:r>
            <a:r>
              <a:rPr lang="en-US" sz="1800" b="1" dirty="0">
                <a:solidFill>
                  <a:schemeClr val="tx1"/>
                </a:solidFill>
                <a:latin typeface="Times New Roman" panose="02020603050405020304" pitchFamily="18" charset="0"/>
                <a:cs typeface="Times New Roman" panose="02020603050405020304" pitchFamily="18" charset="0"/>
              </a:rPr>
              <a:t>comprehensive and multi-dimensional analysis</a:t>
            </a:r>
            <a:r>
              <a:rPr lang="en-US" sz="1800" dirty="0">
                <a:solidFill>
                  <a:schemeClr val="tx1"/>
                </a:solidFill>
                <a:latin typeface="Times New Roman" panose="02020603050405020304" pitchFamily="18" charset="0"/>
                <a:cs typeface="Times New Roman" panose="02020603050405020304" pitchFamily="18" charset="0"/>
              </a:rPr>
              <a:t> of </a:t>
            </a:r>
            <a:r>
              <a:rPr lang="en-US" sz="1800" b="1" dirty="0">
                <a:solidFill>
                  <a:schemeClr val="tx1"/>
                </a:solidFill>
                <a:latin typeface="Times New Roman" panose="02020603050405020304" pitchFamily="18" charset="0"/>
                <a:cs typeface="Times New Roman" panose="02020603050405020304" pitchFamily="18" charset="0"/>
              </a:rPr>
              <a:t>party performance, voter behavior, seat distribution, and regional influence</a:t>
            </a:r>
            <a:r>
              <a:rPr lang="en-US" sz="1800" dirty="0">
                <a:solidFill>
                  <a:schemeClr val="tx1"/>
                </a:solidFill>
                <a:latin typeface="Times New Roman" panose="02020603050405020304" pitchFamily="18" charset="0"/>
                <a:cs typeface="Times New Roman" panose="02020603050405020304" pitchFamily="18" charset="0"/>
              </a:rPr>
              <a:t>, allowing users to explore data at national, state, and candidate levels through dynamic filtering and drill-down capabilities.</a:t>
            </a:r>
          </a:p>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Finally, the project established a </a:t>
            </a:r>
            <a:r>
              <a:rPr lang="en-US" sz="1800" b="1" dirty="0">
                <a:solidFill>
                  <a:schemeClr val="tx1"/>
                </a:solidFill>
                <a:latin typeface="Times New Roman" panose="02020603050405020304" pitchFamily="18" charset="0"/>
                <a:cs typeface="Times New Roman" panose="02020603050405020304" pitchFamily="18" charset="0"/>
              </a:rPr>
              <a:t>strong and scalable foundation for advanced analytical work</a:t>
            </a:r>
            <a:r>
              <a:rPr lang="en-US" sz="1800" dirty="0">
                <a:solidFill>
                  <a:schemeClr val="tx1"/>
                </a:solidFill>
                <a:latin typeface="Times New Roman" panose="02020603050405020304" pitchFamily="18" charset="0"/>
                <a:cs typeface="Times New Roman" panose="02020603050405020304" pitchFamily="18" charset="0"/>
              </a:rPr>
              <a:t>, making it well-suited for future enhancements such as real-time data integration, predictive analytics, demographic analysis, and more sophisticated decision-support systems.</a:t>
            </a:r>
          </a:p>
        </p:txBody>
      </p:sp>
      <p:sp>
        <p:nvSpPr>
          <p:cNvPr id="4" name="Rectangle 3">
            <a:extLst>
              <a:ext uri="{FF2B5EF4-FFF2-40B4-BE49-F238E27FC236}">
                <a16:creationId xmlns:a16="http://schemas.microsoft.com/office/drawing/2014/main" id="{2147A02E-5277-9B85-BF98-7A37F098BDAE}"/>
              </a:ext>
            </a:extLst>
          </p:cNvPr>
          <p:cNvSpPr/>
          <p:nvPr/>
        </p:nvSpPr>
        <p:spPr>
          <a:xfrm>
            <a:off x="0" y="-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FF61B9E-491F-5ABC-AB62-842B126A31CE}"/>
              </a:ext>
            </a:extLst>
          </p:cNvPr>
          <p:cNvSpPr/>
          <p:nvPr/>
        </p:nvSpPr>
        <p:spPr>
          <a:xfrm>
            <a:off x="0" y="6462359"/>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75176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BE038-97DE-A01D-5A00-92D0EF14ABD5}"/>
              </a:ext>
            </a:extLst>
          </p:cNvPr>
          <p:cNvSpPr>
            <a:spLocks noGrp="1"/>
          </p:cNvSpPr>
          <p:nvPr>
            <p:ph type="title"/>
          </p:nvPr>
        </p:nvSpPr>
        <p:spPr>
          <a:xfrm>
            <a:off x="0" y="1123837"/>
            <a:ext cx="3429000" cy="4601183"/>
          </a:xfrm>
        </p:spPr>
        <p:txBody>
          <a:bodyPr>
            <a:normAutofit/>
          </a:bodyPr>
          <a:lstStyle/>
          <a:p>
            <a:pPr algn="ctr"/>
            <a:r>
              <a:rPr lang="en-IN" sz="2000" b="1" dirty="0">
                <a:latin typeface="Verdana" panose="020B0604030504040204" pitchFamily="34" charset="0"/>
                <a:ea typeface="Verdana" panose="020B0604030504040204" pitchFamily="34" charset="0"/>
                <a:cs typeface="Times New Roman" panose="02020603050405020304" pitchFamily="18" charset="0"/>
              </a:rPr>
              <a:t>ACKNOWLEDGEMENT</a:t>
            </a:r>
            <a:br>
              <a:rPr lang="en-IN" sz="2000" b="1" dirty="0">
                <a:latin typeface="Verdana" panose="020B0604030504040204" pitchFamily="34" charset="0"/>
                <a:ea typeface="Verdana" panose="020B0604030504040204" pitchFamily="34" charset="0"/>
                <a:cs typeface="Times New Roman" panose="02020603050405020304" pitchFamily="18" charset="0"/>
              </a:rPr>
            </a:br>
            <a:br>
              <a:rPr lang="en-IN" sz="2000" b="1" dirty="0">
                <a:latin typeface="Verdana" panose="020B0604030504040204" pitchFamily="34" charset="0"/>
                <a:ea typeface="Verdana" panose="020B0604030504040204" pitchFamily="34" charset="0"/>
                <a:cs typeface="Times New Roman" panose="02020603050405020304" pitchFamily="18" charset="0"/>
              </a:rPr>
            </a:br>
            <a:r>
              <a:rPr lang="en-IN" sz="2000" b="1" dirty="0">
                <a:latin typeface="Verdana" panose="020B0604030504040204" pitchFamily="34" charset="0"/>
                <a:ea typeface="Verdana" panose="020B0604030504040204" pitchFamily="34" charset="0"/>
                <a:cs typeface="Times New Roman" panose="02020603050405020304" pitchFamily="18" charset="0"/>
              </a:rPr>
              <a:t> AND </a:t>
            </a:r>
            <a:br>
              <a:rPr lang="en-IN" sz="2000" b="1" dirty="0">
                <a:latin typeface="Verdana" panose="020B0604030504040204" pitchFamily="34" charset="0"/>
                <a:ea typeface="Verdana" panose="020B0604030504040204" pitchFamily="34" charset="0"/>
                <a:cs typeface="Times New Roman" panose="02020603050405020304" pitchFamily="18" charset="0"/>
              </a:rPr>
            </a:br>
            <a:br>
              <a:rPr lang="en-IN" sz="2000" b="1" dirty="0">
                <a:latin typeface="Verdana" panose="020B0604030504040204" pitchFamily="34" charset="0"/>
                <a:ea typeface="Verdana" panose="020B0604030504040204" pitchFamily="34" charset="0"/>
                <a:cs typeface="Times New Roman" panose="02020603050405020304" pitchFamily="18" charset="0"/>
              </a:rPr>
            </a:br>
            <a:r>
              <a:rPr lang="en-IN" sz="2000" b="1" dirty="0">
                <a:latin typeface="Verdana" panose="020B0604030504040204" pitchFamily="34" charset="0"/>
                <a:ea typeface="Verdana" panose="020B0604030504040204" pitchFamily="34" charset="0"/>
                <a:cs typeface="Times New Roman" panose="02020603050405020304" pitchFamily="18" charset="0"/>
              </a:rPr>
              <a:t>REFERENCE </a:t>
            </a:r>
          </a:p>
        </p:txBody>
      </p:sp>
      <p:sp>
        <p:nvSpPr>
          <p:cNvPr id="4" name="Content Placeholder 2">
            <a:extLst>
              <a:ext uri="{FF2B5EF4-FFF2-40B4-BE49-F238E27FC236}">
                <a16:creationId xmlns:a16="http://schemas.microsoft.com/office/drawing/2014/main" id="{33682DF1-A310-E16D-B286-8E1001192E36}"/>
              </a:ext>
            </a:extLst>
          </p:cNvPr>
          <p:cNvSpPr>
            <a:spLocks noGrp="1"/>
          </p:cNvSpPr>
          <p:nvPr>
            <p:ph idx="1"/>
          </p:nvPr>
        </p:nvSpPr>
        <p:spPr>
          <a:xfrm>
            <a:off x="3868738" y="863600"/>
            <a:ext cx="7315200" cy="5121275"/>
          </a:xfrm>
        </p:spPr>
        <p:txBody>
          <a:bodyPr>
            <a:noAutofit/>
          </a:bodyPr>
          <a:lstStyle/>
          <a:p>
            <a:pPr marL="0" indent="0" algn="just">
              <a:buNone/>
            </a:pPr>
            <a:r>
              <a:rPr lang="en-US" altLang="en-US" b="1" dirty="0">
                <a:solidFill>
                  <a:schemeClr val="tx1"/>
                </a:solidFill>
                <a:latin typeface="Times New Roman" panose="02020603050405020304" pitchFamily="18" charset="0"/>
                <a:cs typeface="Times New Roman" panose="02020603050405020304" pitchFamily="18" charset="0"/>
              </a:rPr>
              <a:t>We would like to express our heartfelt gratitude to:</a:t>
            </a:r>
          </a:p>
          <a:p>
            <a:pPr marL="0" indent="0" algn="just">
              <a:buNone/>
            </a:pPr>
            <a:r>
              <a:rPr lang="en-US" altLang="en-US" dirty="0">
                <a:solidFill>
                  <a:schemeClr val="tx1"/>
                </a:solidFill>
                <a:latin typeface="Times New Roman" panose="02020603050405020304" pitchFamily="18" charset="0"/>
                <a:cs typeface="Times New Roman" panose="02020603050405020304" pitchFamily="18" charset="0"/>
              </a:rPr>
              <a:t>Infosys Springboard Team – for organizing this valuable internship opportunity.</a:t>
            </a:r>
          </a:p>
          <a:p>
            <a:pPr marL="0" indent="0" algn="just">
              <a:buNone/>
            </a:pPr>
            <a:r>
              <a:rPr lang="en-US" altLang="en-US" dirty="0">
                <a:solidFill>
                  <a:schemeClr val="tx1"/>
                </a:solidFill>
                <a:latin typeface="Times New Roman" panose="02020603050405020304" pitchFamily="18" charset="0"/>
                <a:cs typeface="Times New Roman" panose="02020603050405020304" pitchFamily="18" charset="0"/>
              </a:rPr>
              <a:t>Our Mentor – for her continuous support and feedback.</a:t>
            </a:r>
          </a:p>
          <a:p>
            <a:pPr marL="0" indent="0" algn="just">
              <a:buNone/>
            </a:pPr>
            <a:r>
              <a:rPr lang="en-US" altLang="en-US" dirty="0">
                <a:solidFill>
                  <a:schemeClr val="tx1"/>
                </a:solidFill>
                <a:latin typeface="Times New Roman" panose="02020603050405020304" pitchFamily="18" charset="0"/>
                <a:cs typeface="Times New Roman" panose="02020603050405020304" pitchFamily="18" charset="0"/>
              </a:rPr>
              <a:t>My Teammates – for collaboration, encouragement, and insights </a:t>
            </a:r>
          </a:p>
          <a:p>
            <a:pPr marL="0" indent="0" algn="just">
              <a:buNone/>
            </a:pPr>
            <a:r>
              <a:rPr lang="en-US" altLang="en-US" dirty="0">
                <a:solidFill>
                  <a:schemeClr val="tx1"/>
                </a:solidFill>
                <a:latin typeface="Times New Roman" panose="02020603050405020304" pitchFamily="18" charset="0"/>
                <a:cs typeface="Times New Roman" panose="02020603050405020304" pitchFamily="18" charset="0"/>
              </a:rPr>
              <a:t>This internship has been a significant step in our professional growth and technical journey.</a:t>
            </a:r>
          </a:p>
          <a:p>
            <a:pPr marL="0" indent="0" algn="just">
              <a:buNone/>
            </a:pPr>
            <a:r>
              <a:rPr lang="en-US" altLang="en-US" b="1" dirty="0">
                <a:solidFill>
                  <a:schemeClr val="tx1"/>
                </a:solidFill>
                <a:latin typeface="Times New Roman" panose="02020603050405020304" pitchFamily="18" charset="0"/>
                <a:cs typeface="Times New Roman" panose="02020603050405020304" pitchFamily="18" charset="0"/>
              </a:rPr>
              <a:t>References:</a:t>
            </a:r>
          </a:p>
          <a:p>
            <a:pPr marL="0" indent="0" algn="just">
              <a:buNone/>
            </a:pPr>
            <a:r>
              <a:rPr lang="en-US" altLang="en-US" dirty="0" err="1">
                <a:solidFill>
                  <a:schemeClr val="tx1"/>
                </a:solidFill>
                <a:latin typeface="Times New Roman" panose="02020603050405020304" pitchFamily="18" charset="0"/>
                <a:cs typeface="Times New Roman" panose="02020603050405020304" pitchFamily="18" charset="0"/>
              </a:rPr>
              <a:t>US_Election_Data</a:t>
            </a:r>
            <a:r>
              <a:rPr lang="en-US" altLang="en-US" dirty="0">
                <a:solidFill>
                  <a:schemeClr val="tx1"/>
                </a:solidFill>
                <a:latin typeface="Times New Roman" panose="02020603050405020304" pitchFamily="18" charset="0"/>
                <a:cs typeface="Times New Roman" panose="02020603050405020304" pitchFamily="18" charset="0"/>
              </a:rPr>
              <a:t>(Kaggle source) </a:t>
            </a:r>
          </a:p>
          <a:p>
            <a:pPr marL="0" indent="0" algn="just">
              <a:buNone/>
            </a:pPr>
            <a:r>
              <a:rPr lang="en-US" altLang="en-US" dirty="0">
                <a:solidFill>
                  <a:schemeClr val="tx1"/>
                </a:solidFill>
                <a:latin typeface="Times New Roman" panose="02020603050405020304" pitchFamily="18" charset="0"/>
                <a:cs typeface="Times New Roman" panose="02020603050405020304" pitchFamily="18" charset="0"/>
              </a:rPr>
              <a:t>Microsoft Power BI Documentation</a:t>
            </a:r>
          </a:p>
          <a:p>
            <a:pPr marL="0" indent="0" algn="just">
              <a:buNone/>
            </a:pPr>
            <a:r>
              <a:rPr lang="en-US" altLang="en-US" dirty="0">
                <a:solidFill>
                  <a:schemeClr val="tx1"/>
                </a:solidFill>
                <a:latin typeface="Times New Roman" panose="02020603050405020304" pitchFamily="18" charset="0"/>
                <a:cs typeface="Times New Roman" panose="02020603050405020304" pitchFamily="18" charset="0"/>
              </a:rPr>
              <a:t>Infosys Springboard Virtual Internship course materials</a:t>
            </a:r>
          </a:p>
        </p:txBody>
      </p:sp>
      <p:sp>
        <p:nvSpPr>
          <p:cNvPr id="5" name="Rectangle 4">
            <a:extLst>
              <a:ext uri="{FF2B5EF4-FFF2-40B4-BE49-F238E27FC236}">
                <a16:creationId xmlns:a16="http://schemas.microsoft.com/office/drawing/2014/main" id="{8AC66E49-7833-FA47-4EC0-BBFA3FF2C46A}"/>
              </a:ext>
            </a:extLst>
          </p:cNvPr>
          <p:cNvSpPr/>
          <p:nvPr/>
        </p:nvSpPr>
        <p:spPr>
          <a:xfrm>
            <a:off x="0" y="-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CB35B794-322F-B229-695F-B20C47EBA277}"/>
              </a:ext>
            </a:extLst>
          </p:cNvPr>
          <p:cNvSpPr/>
          <p:nvPr/>
        </p:nvSpPr>
        <p:spPr>
          <a:xfrm>
            <a:off x="0" y="647150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5293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C8428D-2240-71C5-8ABE-B68E9D1AF229}"/>
              </a:ext>
            </a:extLst>
          </p:cNvPr>
          <p:cNvSpPr/>
          <p:nvPr/>
        </p:nvSpPr>
        <p:spPr>
          <a:xfrm>
            <a:off x="0" y="-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EFEE273F-9910-68ED-E0C3-0B9D197FD1D3}"/>
              </a:ext>
            </a:extLst>
          </p:cNvPr>
          <p:cNvSpPr/>
          <p:nvPr/>
        </p:nvSpPr>
        <p:spPr>
          <a:xfrm>
            <a:off x="0" y="6471501"/>
            <a:ext cx="12192000" cy="3864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ED65616-9BCE-FE2E-2680-0266BE29D256}"/>
              </a:ext>
            </a:extLst>
          </p:cNvPr>
          <p:cNvSpPr txBox="1"/>
          <p:nvPr/>
        </p:nvSpPr>
        <p:spPr>
          <a:xfrm>
            <a:off x="2426899" y="2967335"/>
            <a:ext cx="6676845" cy="923330"/>
          </a:xfrm>
          <a:prstGeom prst="rect">
            <a:avLst/>
          </a:prstGeom>
          <a:noFill/>
        </p:spPr>
        <p:txBody>
          <a:bodyPr wrap="square" rtlCol="0">
            <a:spAutoFit/>
          </a:bodyPr>
          <a:lstStyle/>
          <a:p>
            <a:pPr algn="ctr"/>
            <a:r>
              <a:rPr lang="en-IN" sz="5400" dirty="0">
                <a:latin typeface="Forte" panose="03060902040502070203" pitchFamily="66" charset="0"/>
              </a:rPr>
              <a:t>THANK YOU</a:t>
            </a:r>
          </a:p>
        </p:txBody>
      </p:sp>
    </p:spTree>
    <p:extLst>
      <p:ext uri="{BB962C8B-B14F-4D97-AF65-F5344CB8AC3E}">
        <p14:creationId xmlns:p14="http://schemas.microsoft.com/office/powerpoint/2010/main" val="2953206594"/>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TM03457475[[fn=Frame]]</Template>
  <TotalTime>2935</TotalTime>
  <Words>930</Words>
  <Application>Microsoft Office PowerPoint</Application>
  <PresentationFormat>Widescreen</PresentationFormat>
  <Paragraphs>103</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Corbel</vt:lpstr>
      <vt:lpstr>Forte</vt:lpstr>
      <vt:lpstr>Times New Roman</vt:lpstr>
      <vt:lpstr>Verdana</vt:lpstr>
      <vt:lpstr>Wingdings 2</vt:lpstr>
      <vt:lpstr>Frame</vt:lpstr>
      <vt:lpstr>INFOSYS VIRTUAL INTERNSHIP 6.0  ElectViz: Election Data Visualisation for Media  Batch-11 Group 1</vt:lpstr>
      <vt:lpstr>PROJECT OVERVIEW </vt:lpstr>
      <vt:lpstr>KEY FEATURES</vt:lpstr>
      <vt:lpstr>TOOLS &amp; TECHNOLOGIES</vt:lpstr>
      <vt:lpstr>WORKFLOW &amp; SYSTEM DESIGN</vt:lpstr>
      <vt:lpstr>MILESTONES </vt:lpstr>
      <vt:lpstr>PowerPoint Presentation</vt:lpstr>
      <vt:lpstr>OUTCOMES </vt:lpstr>
      <vt:lpstr>FUTURE ENHANCEMENTS </vt:lpstr>
      <vt:lpstr>CONCLUSION</vt:lpstr>
      <vt:lpstr>ACKNOWLEDGEMENT   AND   REFERENCE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Herambudu neelapu</dc:creator>
  <cp:lastModifiedBy>Herambudu neelapu</cp:lastModifiedBy>
  <cp:revision>27</cp:revision>
  <dcterms:created xsi:type="dcterms:W3CDTF">2026-02-02T17:28:50Z</dcterms:created>
  <dcterms:modified xsi:type="dcterms:W3CDTF">2026-02-17T11:26:24Z</dcterms:modified>
</cp:coreProperties>
</file>