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0A4FE0-387A-4B50-A7CD-B025A9E7D294}" type="datetimeFigureOut">
              <a:rPr lang="en-IN" smtClean="0"/>
              <a:t>09-02-2026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973B31F2-4D88-40C1-B8AC-93DD8F5E9384}"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5537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0A4FE0-387A-4B50-A7CD-B025A9E7D29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B31F2-4D88-40C1-B8AC-93DD8F5E9384}"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552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0A4FE0-387A-4B50-A7CD-B025A9E7D29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B31F2-4D88-40C1-B8AC-93DD8F5E9384}"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7285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0A4FE0-387A-4B50-A7CD-B025A9E7D294}"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B31F2-4D88-40C1-B8AC-93DD8F5E9384}"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7049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0A4FE0-387A-4B50-A7CD-B025A9E7D294}" type="datetimeFigureOut">
              <a:rPr lang="en-IN" smtClean="0"/>
              <a:t>09-02-2026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3B31F2-4D88-40C1-B8AC-93DD8F5E9384}"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3136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0A4FE0-387A-4B50-A7CD-B025A9E7D294}" type="datetimeFigureOut">
              <a:rPr lang="en-IN" smtClean="0"/>
              <a:t>09-02-2026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3B31F2-4D88-40C1-B8AC-93DD8F5E9384}"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2088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0A4FE0-387A-4B50-A7CD-B025A9E7D294}" type="datetimeFigureOut">
              <a:rPr lang="en-IN" smtClean="0"/>
              <a:t>09-02-2026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3B31F2-4D88-40C1-B8AC-93DD8F5E9384}" type="slidenum">
              <a:rPr lang="en-IN" smtClean="0"/>
              <a:t>‹#›</a:t>
            </a:fld>
            <a:endParaRPr lang="en-IN"/>
          </a:p>
        </p:txBody>
      </p:sp>
    </p:spTree>
    <p:extLst>
      <p:ext uri="{BB962C8B-B14F-4D97-AF65-F5344CB8AC3E}">
        <p14:creationId xmlns:p14="http://schemas.microsoft.com/office/powerpoint/2010/main" val="2852742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0A4FE0-387A-4B50-A7CD-B025A9E7D294}"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B31F2-4D88-40C1-B8AC-93DD8F5E9384}"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94770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E0A4FE0-387A-4B50-A7CD-B025A9E7D294}" type="datetimeFigureOut">
              <a:rPr lang="en-IN" smtClean="0"/>
              <a:t>09-02-2026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973B31F2-4D88-40C1-B8AC-93DD8F5E9384}"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4675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0A4FE0-387A-4B50-A7CD-B025A9E7D29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B31F2-4D88-40C1-B8AC-93DD8F5E9384}"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7192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0A4FE0-387A-4B50-A7CD-B025A9E7D294}"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B31F2-4D88-40C1-B8AC-93DD8F5E9384}"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04861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E0A4FE0-387A-4B50-A7CD-B025A9E7D294}" type="datetimeFigureOut">
              <a:rPr lang="en-IN" smtClean="0"/>
              <a:t>09-02-2026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73B31F2-4D88-40C1-B8AC-93DD8F5E9384}"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589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E8C6D-1526-A5BD-7835-36C1BDC74705}"/>
              </a:ext>
            </a:extLst>
          </p:cNvPr>
          <p:cNvSpPr>
            <a:spLocks noGrp="1"/>
          </p:cNvSpPr>
          <p:nvPr>
            <p:ph type="ctrTitle"/>
          </p:nvPr>
        </p:nvSpPr>
        <p:spPr/>
        <p:txBody>
          <a:bodyPr>
            <a:normAutofit/>
          </a:bodyPr>
          <a:lstStyle/>
          <a:p>
            <a:pPr algn="ctr"/>
            <a:r>
              <a:rPr lang="en-US" sz="4000" b="1" dirty="0" err="1">
                <a:latin typeface="Verdana" panose="020B0604030504040204" pitchFamily="34" charset="0"/>
                <a:ea typeface="Verdana" panose="020B0604030504040204" pitchFamily="34" charset="0"/>
              </a:rPr>
              <a:t>ElectViz</a:t>
            </a:r>
            <a:r>
              <a:rPr lang="en-US" sz="4000" b="1" dirty="0">
                <a:latin typeface="Verdana" panose="020B0604030504040204" pitchFamily="34" charset="0"/>
                <a:ea typeface="Verdana" panose="020B0604030504040204" pitchFamily="34" charset="0"/>
              </a:rPr>
              <a:t>: Election Data Visualization for Media</a:t>
            </a:r>
            <a:endParaRPr lang="en-IN" sz="4000" dirty="0"/>
          </a:p>
        </p:txBody>
      </p:sp>
      <p:sp>
        <p:nvSpPr>
          <p:cNvPr id="3" name="Subtitle 2">
            <a:extLst>
              <a:ext uri="{FF2B5EF4-FFF2-40B4-BE49-F238E27FC236}">
                <a16:creationId xmlns:a16="http://schemas.microsoft.com/office/drawing/2014/main" id="{03865CEF-6F6C-1BFF-A4D5-AE6BE504ED86}"/>
              </a:ext>
            </a:extLst>
          </p:cNvPr>
          <p:cNvSpPr>
            <a:spLocks noGrp="1"/>
          </p:cNvSpPr>
          <p:nvPr>
            <p:ph type="subTitle" idx="1"/>
          </p:nvPr>
        </p:nvSpPr>
        <p:spPr>
          <a:xfrm>
            <a:off x="7447473" y="5141216"/>
            <a:ext cx="4641012" cy="966285"/>
          </a:xfrm>
        </p:spPr>
        <p:txBody>
          <a:bodyPr/>
          <a:lstStyle/>
          <a:p>
            <a:pPr algn="ctr"/>
            <a:r>
              <a:rPr lang="en-IN" dirty="0"/>
              <a:t>Team-D</a:t>
            </a:r>
          </a:p>
          <a:p>
            <a:pPr algn="ctr"/>
            <a:r>
              <a:rPr lang="en-IN" dirty="0"/>
              <a:t>Neelapu Herambudu</a:t>
            </a:r>
          </a:p>
        </p:txBody>
      </p:sp>
    </p:spTree>
    <p:extLst>
      <p:ext uri="{BB962C8B-B14F-4D97-AF65-F5344CB8AC3E}">
        <p14:creationId xmlns:p14="http://schemas.microsoft.com/office/powerpoint/2010/main" val="184325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11A45-39E0-BEF7-4464-A85AA6EF71B4}"/>
              </a:ext>
            </a:extLst>
          </p:cNvPr>
          <p:cNvSpPr>
            <a:spLocks noGrp="1"/>
          </p:cNvSpPr>
          <p:nvPr>
            <p:ph type="title"/>
          </p:nvPr>
        </p:nvSpPr>
        <p:spPr/>
        <p:txBody>
          <a:bodyPr anchor="b"/>
          <a:lstStyle/>
          <a:p>
            <a:pPr algn="ctr"/>
            <a:r>
              <a:rPr lang="en-IN" b="1" dirty="0"/>
              <a:t>INTRODUCTION</a:t>
            </a:r>
          </a:p>
        </p:txBody>
      </p:sp>
      <p:sp>
        <p:nvSpPr>
          <p:cNvPr id="3" name="Content Placeholder 2">
            <a:extLst>
              <a:ext uri="{FF2B5EF4-FFF2-40B4-BE49-F238E27FC236}">
                <a16:creationId xmlns:a16="http://schemas.microsoft.com/office/drawing/2014/main" id="{C3F6CE60-C01C-7967-E26A-25C4CA85EA3C}"/>
              </a:ext>
            </a:extLst>
          </p:cNvPr>
          <p:cNvSpPr>
            <a:spLocks noGrp="1"/>
          </p:cNvSpPr>
          <p:nvPr>
            <p:ph idx="1"/>
          </p:nvPr>
        </p:nvSpPr>
        <p:spPr/>
        <p:txBody>
          <a:bodyPr>
            <a:normAutofit fontScale="92500"/>
          </a:bodyPr>
          <a:lstStyle/>
          <a:p>
            <a:pPr algn="just"/>
            <a:r>
              <a:rPr lang="en-US" dirty="0"/>
              <a:t>Elections generate large volumes of complex data that can be difficult to interpret in raw form. Effective data visualization helps transform this data into clear insights that support transparency, media reporting, and public understanding.</a:t>
            </a:r>
          </a:p>
          <a:p>
            <a:pPr algn="just"/>
            <a:r>
              <a:rPr lang="en-US" b="1" dirty="0" err="1"/>
              <a:t>ElectViz</a:t>
            </a:r>
            <a:r>
              <a:rPr lang="en-US" b="1" dirty="0"/>
              <a:t> – Election Data-Based Dashboard</a:t>
            </a:r>
            <a:r>
              <a:rPr lang="en-US" dirty="0"/>
              <a:t> is a data visualization project that analyzes historical U.S. House election data to present voting trends, party performance, and state-wise outcomes through interactive dashboards. By enabling filters for year, state, party, and election type, the project supports intuitive exploration and data-driven storytelling.</a:t>
            </a:r>
          </a:p>
          <a:p>
            <a:pPr algn="just"/>
            <a:r>
              <a:rPr lang="en-US" dirty="0"/>
              <a:t>Overall, </a:t>
            </a:r>
            <a:r>
              <a:rPr lang="en-US" dirty="0" err="1"/>
              <a:t>ElectViz</a:t>
            </a:r>
            <a:r>
              <a:rPr lang="en-US" dirty="0"/>
              <a:t> demonstrates how visual analytics can simplify election data and make democratic processes more accessible and understandable for media and the public.</a:t>
            </a:r>
          </a:p>
        </p:txBody>
      </p:sp>
    </p:spTree>
    <p:extLst>
      <p:ext uri="{BB962C8B-B14F-4D97-AF65-F5344CB8AC3E}">
        <p14:creationId xmlns:p14="http://schemas.microsoft.com/office/powerpoint/2010/main" val="2662573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8B3D7-C4E9-82C5-0477-E4D0BD0CEE90}"/>
              </a:ext>
            </a:extLst>
          </p:cNvPr>
          <p:cNvSpPr>
            <a:spLocks noGrp="1"/>
          </p:cNvSpPr>
          <p:nvPr>
            <p:ph type="title"/>
          </p:nvPr>
        </p:nvSpPr>
        <p:spPr/>
        <p:txBody>
          <a:bodyPr anchor="b"/>
          <a:lstStyle/>
          <a:p>
            <a:pPr algn="ctr"/>
            <a:r>
              <a:rPr lang="en-IN" b="1" dirty="0"/>
              <a:t>Workflow &amp; system design</a:t>
            </a:r>
          </a:p>
        </p:txBody>
      </p:sp>
      <p:sp>
        <p:nvSpPr>
          <p:cNvPr id="3" name="Content Placeholder 2">
            <a:extLst>
              <a:ext uri="{FF2B5EF4-FFF2-40B4-BE49-F238E27FC236}">
                <a16:creationId xmlns:a16="http://schemas.microsoft.com/office/drawing/2014/main" id="{BE82AC8C-F650-926D-0770-EAEA7A6BA396}"/>
              </a:ext>
            </a:extLst>
          </p:cNvPr>
          <p:cNvSpPr>
            <a:spLocks noGrp="1"/>
          </p:cNvSpPr>
          <p:nvPr>
            <p:ph idx="1"/>
          </p:nvPr>
        </p:nvSpPr>
        <p:spPr>
          <a:xfrm>
            <a:off x="1451579" y="1853754"/>
            <a:ext cx="9603275" cy="4199727"/>
          </a:xfrm>
        </p:spPr>
        <p:txBody>
          <a:bodyPr>
            <a:normAutofit lnSpcReduction="10000"/>
          </a:bodyPr>
          <a:lstStyle/>
          <a:p>
            <a:pPr marL="0" indent="0" algn="just">
              <a:lnSpc>
                <a:spcPct val="100000"/>
              </a:lnSpc>
              <a:buNone/>
            </a:pPr>
            <a:r>
              <a:rPr lang="en-US" sz="1800" b="1" dirty="0"/>
              <a:t>Workflow</a:t>
            </a:r>
          </a:p>
          <a:p>
            <a:pPr algn="just">
              <a:lnSpc>
                <a:spcPct val="100000"/>
              </a:lnSpc>
            </a:pPr>
            <a:r>
              <a:rPr lang="en-US" sz="1800" dirty="0"/>
              <a:t>Election data is collected from public sources in CSV/Excel format.</a:t>
            </a:r>
          </a:p>
          <a:p>
            <a:pPr algn="just">
              <a:lnSpc>
                <a:spcPct val="100000"/>
              </a:lnSpc>
            </a:pPr>
            <a:r>
              <a:rPr lang="en-US" sz="1800" dirty="0"/>
              <a:t>The data is cleaned, filtered, and transformed to handle missing values and create required metrics.</a:t>
            </a:r>
          </a:p>
          <a:p>
            <a:pPr algn="just">
              <a:lnSpc>
                <a:spcPct val="100000"/>
              </a:lnSpc>
            </a:pPr>
            <a:r>
              <a:rPr lang="en-US" sz="1800" dirty="0"/>
              <a:t>Processed data is modeled for analysis using year, state, party, and election type.</a:t>
            </a:r>
          </a:p>
          <a:p>
            <a:pPr algn="just">
              <a:lnSpc>
                <a:spcPct val="100000"/>
              </a:lnSpc>
            </a:pPr>
            <a:r>
              <a:rPr lang="en-US" sz="1800" dirty="0"/>
              <a:t>Interactive dashboards are created using suitable charts and filters.</a:t>
            </a:r>
          </a:p>
          <a:p>
            <a:pPr algn="just">
              <a:lnSpc>
                <a:spcPct val="100000"/>
              </a:lnSpc>
            </a:pPr>
            <a:r>
              <a:rPr lang="en-US" sz="1800" dirty="0"/>
              <a:t>Insights are generated to support media-friendly election storytelling.</a:t>
            </a:r>
          </a:p>
          <a:p>
            <a:pPr marL="0" indent="0" algn="just">
              <a:lnSpc>
                <a:spcPct val="100000"/>
              </a:lnSpc>
              <a:buNone/>
            </a:pPr>
            <a:r>
              <a:rPr lang="en-US" sz="1800" b="1" dirty="0"/>
              <a:t>System Design</a:t>
            </a:r>
          </a:p>
          <a:p>
            <a:pPr algn="just">
              <a:lnSpc>
                <a:spcPct val="100000"/>
              </a:lnSpc>
            </a:pPr>
            <a:r>
              <a:rPr lang="en-US" sz="1800" dirty="0"/>
              <a:t>The system follows a simple layered design:</a:t>
            </a:r>
          </a:p>
          <a:p>
            <a:pPr algn="just">
              <a:lnSpc>
                <a:spcPct val="100000"/>
              </a:lnSpc>
            </a:pPr>
            <a:r>
              <a:rPr lang="en-US" sz="1800" b="1" dirty="0"/>
              <a:t>Data Layer:</a:t>
            </a:r>
            <a:r>
              <a:rPr lang="en-US" sz="1800" dirty="0"/>
              <a:t> Stores raw and cleaned election data</a:t>
            </a:r>
          </a:p>
          <a:p>
            <a:pPr algn="just">
              <a:lnSpc>
                <a:spcPct val="100000"/>
              </a:lnSpc>
            </a:pPr>
            <a:r>
              <a:rPr lang="en-US" sz="1800" b="1" dirty="0"/>
              <a:t>Processing Layer:</a:t>
            </a:r>
            <a:r>
              <a:rPr lang="en-US" sz="1800" dirty="0"/>
              <a:t> Performs calculations and aggregations</a:t>
            </a:r>
          </a:p>
          <a:p>
            <a:pPr algn="just">
              <a:lnSpc>
                <a:spcPct val="100000"/>
              </a:lnSpc>
            </a:pPr>
            <a:r>
              <a:rPr lang="en-US" sz="1800" b="1" dirty="0"/>
              <a:t>Visualization Layer:</a:t>
            </a:r>
            <a:r>
              <a:rPr lang="en-US" sz="1800" dirty="0"/>
              <a:t> Displays insights through interactive dashboards</a:t>
            </a:r>
          </a:p>
          <a:p>
            <a:pPr marL="0" indent="0" algn="just">
              <a:lnSpc>
                <a:spcPct val="100000"/>
              </a:lnSpc>
              <a:buNone/>
            </a:pPr>
            <a:endParaRPr lang="en-US" sz="1800" dirty="0"/>
          </a:p>
        </p:txBody>
      </p:sp>
    </p:spTree>
    <p:extLst>
      <p:ext uri="{BB962C8B-B14F-4D97-AF65-F5344CB8AC3E}">
        <p14:creationId xmlns:p14="http://schemas.microsoft.com/office/powerpoint/2010/main" val="1232431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6092-9D5A-56DF-AFD0-7FC3432728D1}"/>
              </a:ext>
            </a:extLst>
          </p:cNvPr>
          <p:cNvSpPr>
            <a:spLocks noGrp="1"/>
          </p:cNvSpPr>
          <p:nvPr>
            <p:ph type="title"/>
          </p:nvPr>
        </p:nvSpPr>
        <p:spPr/>
        <p:txBody>
          <a:bodyPr anchor="b"/>
          <a:lstStyle/>
          <a:p>
            <a:pPr algn="ctr"/>
            <a:r>
              <a:rPr lang="en-IN" b="1" dirty="0"/>
              <a:t>Future enhance</a:t>
            </a:r>
          </a:p>
        </p:txBody>
      </p:sp>
      <p:sp>
        <p:nvSpPr>
          <p:cNvPr id="3" name="Content Placeholder 2">
            <a:extLst>
              <a:ext uri="{FF2B5EF4-FFF2-40B4-BE49-F238E27FC236}">
                <a16:creationId xmlns:a16="http://schemas.microsoft.com/office/drawing/2014/main" id="{F311FC17-151F-CB84-68BD-512C0EA068EF}"/>
              </a:ext>
            </a:extLst>
          </p:cNvPr>
          <p:cNvSpPr>
            <a:spLocks noGrp="1"/>
          </p:cNvSpPr>
          <p:nvPr>
            <p:ph idx="1"/>
          </p:nvPr>
        </p:nvSpPr>
        <p:spPr/>
        <p:txBody>
          <a:bodyPr/>
          <a:lstStyle/>
          <a:p>
            <a:pPr algn="just"/>
            <a:r>
              <a:rPr lang="en-US" dirty="0"/>
              <a:t>Integrate </a:t>
            </a:r>
            <a:r>
              <a:rPr lang="en-US" b="1" dirty="0"/>
              <a:t>real-time election data</a:t>
            </a:r>
            <a:r>
              <a:rPr lang="en-US" dirty="0"/>
              <a:t> to provide live updates during ongoing elections.</a:t>
            </a:r>
          </a:p>
          <a:p>
            <a:pPr algn="just"/>
            <a:r>
              <a:rPr lang="en-US" dirty="0"/>
              <a:t>Apply </a:t>
            </a:r>
            <a:r>
              <a:rPr lang="en-US" b="1" dirty="0"/>
              <a:t>predictive analytics and machine learning</a:t>
            </a:r>
            <a:r>
              <a:rPr lang="en-US" dirty="0"/>
              <a:t> to forecast election outcomes and voter trends.</a:t>
            </a:r>
          </a:p>
          <a:p>
            <a:pPr algn="just"/>
            <a:r>
              <a:rPr lang="en-US" dirty="0"/>
              <a:t>Include </a:t>
            </a:r>
            <a:r>
              <a:rPr lang="en-US" b="1" dirty="0"/>
              <a:t>demographic data</a:t>
            </a:r>
            <a:r>
              <a:rPr lang="en-US" dirty="0"/>
              <a:t> (age, gender, urban–rural) for deeper voter behavior analysis.</a:t>
            </a:r>
          </a:p>
          <a:p>
            <a:pPr algn="just"/>
            <a:r>
              <a:rPr lang="en-US" dirty="0"/>
              <a:t>Add </a:t>
            </a:r>
            <a:r>
              <a:rPr lang="en-US" b="1" dirty="0"/>
              <a:t>AI-generated insights and automated headlines</a:t>
            </a:r>
            <a:r>
              <a:rPr lang="en-US" dirty="0"/>
              <a:t> to support media reporting.</a:t>
            </a:r>
          </a:p>
          <a:p>
            <a:pPr algn="just"/>
            <a:r>
              <a:rPr lang="en-US" dirty="0"/>
              <a:t>Improve </a:t>
            </a:r>
            <a:r>
              <a:rPr lang="en-US" b="1" dirty="0"/>
              <a:t>interactivity and drill-down capabilities</a:t>
            </a:r>
            <a:r>
              <a:rPr lang="en-US" dirty="0"/>
              <a:t> for constituency-level analysis.</a:t>
            </a:r>
          </a:p>
        </p:txBody>
      </p:sp>
    </p:spTree>
    <p:extLst>
      <p:ext uri="{BB962C8B-B14F-4D97-AF65-F5344CB8AC3E}">
        <p14:creationId xmlns:p14="http://schemas.microsoft.com/office/powerpoint/2010/main" val="3984091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376FA-6D5F-5D42-AF42-F99403417ED6}"/>
              </a:ext>
            </a:extLst>
          </p:cNvPr>
          <p:cNvSpPr>
            <a:spLocks noGrp="1"/>
          </p:cNvSpPr>
          <p:nvPr>
            <p:ph type="title" idx="4294967295"/>
          </p:nvPr>
        </p:nvSpPr>
        <p:spPr>
          <a:xfrm>
            <a:off x="1293812" y="0"/>
            <a:ext cx="9604375" cy="1049337"/>
          </a:xfrm>
        </p:spPr>
        <p:txBody>
          <a:bodyPr anchor="ctr"/>
          <a:lstStyle/>
          <a:p>
            <a:pPr algn="ctr"/>
            <a:r>
              <a:rPr lang="en-IN" b="1" dirty="0"/>
              <a:t>outputs</a:t>
            </a:r>
          </a:p>
        </p:txBody>
      </p:sp>
      <p:pic>
        <p:nvPicPr>
          <p:cNvPr id="4" name="Picture 3">
            <a:extLst>
              <a:ext uri="{FF2B5EF4-FFF2-40B4-BE49-F238E27FC236}">
                <a16:creationId xmlns:a16="http://schemas.microsoft.com/office/drawing/2014/main" id="{6724870E-C37A-C818-5BFC-F059EA6275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358" y="920151"/>
            <a:ext cx="5063763" cy="2831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EB03BFCD-555D-F154-EF3A-0650072CD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3033" y="920151"/>
            <a:ext cx="5173066" cy="2831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853CF831-9115-E023-FADD-7A1A423B9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358" y="3909963"/>
            <a:ext cx="5068346" cy="28661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Picture 13">
            <a:extLst>
              <a:ext uri="{FF2B5EF4-FFF2-40B4-BE49-F238E27FC236}">
                <a16:creationId xmlns:a16="http://schemas.microsoft.com/office/drawing/2014/main" id="{C3D29E1E-2894-8732-F009-2C88C03BE3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3033" y="3909963"/>
            <a:ext cx="5173067" cy="28661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46682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B244AC-7575-9507-7A4E-BB7B8CA41B7F}"/>
              </a:ext>
            </a:extLst>
          </p:cNvPr>
          <p:cNvPicPr>
            <a:picLocks noChangeAspect="1"/>
          </p:cNvPicPr>
          <p:nvPr/>
        </p:nvPicPr>
        <p:blipFill>
          <a:blip r:embed="rId2"/>
          <a:stretch>
            <a:fillRect/>
          </a:stretch>
        </p:blipFill>
        <p:spPr>
          <a:xfrm>
            <a:off x="4785246" y="218786"/>
            <a:ext cx="2621507" cy="853514"/>
          </a:xfrm>
          <a:prstGeom prst="rect">
            <a:avLst/>
          </a:prstGeom>
        </p:spPr>
      </p:pic>
      <p:pic>
        <p:nvPicPr>
          <p:cNvPr id="3" name="Picture 2">
            <a:extLst>
              <a:ext uri="{FF2B5EF4-FFF2-40B4-BE49-F238E27FC236}">
                <a16:creationId xmlns:a16="http://schemas.microsoft.com/office/drawing/2014/main" id="{F6C6C53D-6EB2-E8AF-6DA8-41CF01BC5D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840" y="1066597"/>
            <a:ext cx="4945813" cy="27817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D4D6BA7A-E432-42CC-A7C4-975C9057F9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8349" y="1066597"/>
            <a:ext cx="4945814" cy="28042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ED3ADFF9-5F2C-8874-D939-E652E0BAED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0851" y="3951090"/>
            <a:ext cx="5010295" cy="28609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91778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7127-8D51-3A85-AD22-3B0C641A6D19}"/>
              </a:ext>
            </a:extLst>
          </p:cNvPr>
          <p:cNvSpPr>
            <a:spLocks noGrp="1"/>
          </p:cNvSpPr>
          <p:nvPr>
            <p:ph type="title"/>
          </p:nvPr>
        </p:nvSpPr>
        <p:spPr/>
        <p:txBody>
          <a:bodyPr anchor="ctr"/>
          <a:lstStyle/>
          <a:p>
            <a:pPr algn="ctr"/>
            <a:r>
              <a:rPr lang="en-IN" b="1" dirty="0"/>
              <a:t>conclusion</a:t>
            </a:r>
          </a:p>
        </p:txBody>
      </p:sp>
      <p:sp>
        <p:nvSpPr>
          <p:cNvPr id="3" name="Content Placeholder 2">
            <a:extLst>
              <a:ext uri="{FF2B5EF4-FFF2-40B4-BE49-F238E27FC236}">
                <a16:creationId xmlns:a16="http://schemas.microsoft.com/office/drawing/2014/main" id="{100F7B60-E206-DBA2-3A40-436791705C67}"/>
              </a:ext>
            </a:extLst>
          </p:cNvPr>
          <p:cNvSpPr>
            <a:spLocks noGrp="1"/>
          </p:cNvSpPr>
          <p:nvPr>
            <p:ph idx="1"/>
          </p:nvPr>
        </p:nvSpPr>
        <p:spPr/>
        <p:txBody>
          <a:bodyPr anchor="ctr"/>
          <a:lstStyle/>
          <a:p>
            <a:pPr marL="0" indent="0" algn="just">
              <a:buNone/>
            </a:pPr>
            <a:r>
              <a:rPr lang="en-US" dirty="0"/>
              <a:t>The </a:t>
            </a:r>
            <a:r>
              <a:rPr lang="en-US" dirty="0" err="1"/>
              <a:t>ElectViz</a:t>
            </a:r>
            <a:r>
              <a:rPr lang="en-US" dirty="0"/>
              <a:t> – Election Data Visualization for Media project successfully transforms complex election data into clear, interactive, and media-friendly dashboards. By analyzing historical U.S. House election data, the system highlights voting trends, party performance, state-wise outcomes, and electoral competitiveness. The project demonstrates how data visualization and storytelling can improve transparency, support data-driven journalism, and enhance public understanding of democratic processes.</a:t>
            </a:r>
            <a:endParaRPr lang="en-IN" dirty="0"/>
          </a:p>
        </p:txBody>
      </p:sp>
    </p:spTree>
    <p:extLst>
      <p:ext uri="{BB962C8B-B14F-4D97-AF65-F5344CB8AC3E}">
        <p14:creationId xmlns:p14="http://schemas.microsoft.com/office/powerpoint/2010/main" val="2303291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AA92AF-FFD6-6781-859A-951203E95737}"/>
              </a:ext>
            </a:extLst>
          </p:cNvPr>
          <p:cNvSpPr txBox="1"/>
          <p:nvPr/>
        </p:nvSpPr>
        <p:spPr>
          <a:xfrm>
            <a:off x="3046563" y="2505670"/>
            <a:ext cx="6098874" cy="923330"/>
          </a:xfrm>
          <a:prstGeom prst="rect">
            <a:avLst/>
          </a:prstGeom>
          <a:noFill/>
        </p:spPr>
        <p:txBody>
          <a:bodyPr wrap="square" anchor="ctr">
            <a:spAutoFit/>
          </a:bodyPr>
          <a:lstStyle/>
          <a:p>
            <a:pPr algn="ctr"/>
            <a:r>
              <a:rPr lang="en-IN" sz="5400" dirty="0">
                <a:latin typeface="Cooper Black" panose="0208090404030B020404" pitchFamily="18" charset="0"/>
              </a:rPr>
              <a:t>Thank you</a:t>
            </a:r>
          </a:p>
        </p:txBody>
      </p:sp>
    </p:spTree>
    <p:extLst>
      <p:ext uri="{BB962C8B-B14F-4D97-AF65-F5344CB8AC3E}">
        <p14:creationId xmlns:p14="http://schemas.microsoft.com/office/powerpoint/2010/main" val="1922647026"/>
      </p:ext>
    </p:extLst>
  </p:cSld>
  <p:clrMapOvr>
    <a:masterClrMapping/>
  </p:clrMapOvr>
</p:sld>
</file>

<file path=ppt/theme/theme1.xml><?xml version="1.0" encoding="utf-8"?>
<a:theme xmlns:a="http://schemas.openxmlformats.org/drawingml/2006/main" name="Gallery">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40</TotalTime>
  <Words>382</Words>
  <Application>Microsoft Office PowerPoint</Application>
  <PresentationFormat>Widescreen</PresentationFormat>
  <Paragraphs>29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Cooper Black</vt:lpstr>
      <vt:lpstr>Gill Sans MT</vt:lpstr>
      <vt:lpstr>Verdana</vt:lpstr>
      <vt:lpstr>Gallery</vt:lpstr>
      <vt:lpstr>ElectViz: Election Data Visualization for Media</vt:lpstr>
      <vt:lpstr>INTRODUCTION</vt:lpstr>
      <vt:lpstr>Workflow &amp; system design</vt:lpstr>
      <vt:lpstr>Future enhance</vt:lpstr>
      <vt:lpstr>outputs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Herambudu neelapu</dc:creator>
  <cp:lastModifiedBy>Herambudu neelapu</cp:lastModifiedBy>
  <cp:revision>2</cp:revision>
  <dcterms:created xsi:type="dcterms:W3CDTF">2026-02-04T05:27:52Z</dcterms:created>
  <dcterms:modified xsi:type="dcterms:W3CDTF">2026-02-09T12:12:50Z</dcterms:modified>
</cp:coreProperties>
</file>