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64" r:id="rId10"/>
    <p:sldId id="263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53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83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52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74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72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45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3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25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87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36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E87F0A9-1185-430C-AD9F-4A6A23A39D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706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3D2B-976A-6805-0AB4-D5D9E2EE6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4373076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dirty="0" err="1">
                <a:latin typeface="Verdana" panose="020B0604030504040204" pitchFamily="34" charset="0"/>
                <a:ea typeface="Verdana" panose="020B0604030504040204" pitchFamily="34" charset="0"/>
              </a:rPr>
              <a:t>ElectViz</a:t>
            </a:r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: Election Data Visualization for Media</a:t>
            </a:r>
            <a:b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Batch-11</a:t>
            </a:r>
            <a:endParaRPr lang="en-IN" sz="1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531828F-2798-8BE8-56E0-23C8257DB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5333" y="3429000"/>
            <a:ext cx="3065253" cy="3013494"/>
          </a:xfrm>
        </p:spPr>
        <p:txBody>
          <a:bodyPr anchor="ctr">
            <a:normAutofit/>
          </a:bodyPr>
          <a:lstStyle/>
          <a:p>
            <a:pPr>
              <a:spcBef>
                <a:spcPts val="600"/>
              </a:spcBef>
            </a:pPr>
            <a:r>
              <a:rPr lang="en-IN" sz="1800" dirty="0">
                <a:solidFill>
                  <a:schemeClr val="tx1"/>
                </a:solidFill>
              </a:rPr>
              <a:t>	Group D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Neelapu Herambudu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Francis Daniel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Swathika Murugan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Shaik Shabeena Praveen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Gopi Krishna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Tanmay </a:t>
            </a:r>
            <a:r>
              <a:rPr lang="en-IN" sz="1800" dirty="0" err="1">
                <a:solidFill>
                  <a:schemeClr val="tx1"/>
                </a:solidFill>
              </a:rPr>
              <a:t>Parulkar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C04BD2-18E9-4426-11A3-C654D55995CE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351171-D266-7B39-59DE-811E0098D8EE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38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EF5E-1360-ACD8-7139-838981D7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3200" b="1" dirty="0">
                <a:latin typeface="Verdana" panose="020B0604030504040204" pitchFamily="34" charset="0"/>
                <a:ea typeface="Verdana" panose="020B0604030504040204" pitchFamily="34" charset="0"/>
              </a:rPr>
              <a:t>PROJECT OVERVIEW 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1C305FC-0EF7-1E45-C5C3-D40DEAD7AC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82186" y="1362135"/>
            <a:ext cx="8081177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Project Name: ElectViz – Election Data Analytics Dashboard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Domain: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Data Analytics &amp; Visualization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Tool Used: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Microsoft Power BI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Dataset: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U.S. House of Representatives Elections (1976–2022)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Objective: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Analyze long-term election trends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Understand party dominance and power shifts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Compare state-wise and candidate-wise performance</a:t>
            </a: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Outcome: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    An interactive dashboard enabling data-driven exploration of election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4F21B9-9917-0C9C-4365-EE3DCDB82766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B3B8D1-DAFD-3A82-3DE2-B4ACFE3F65B6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35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C7D1-7080-DED1-AF06-D488FC13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Verdana" panose="020B0604030504040204" pitchFamily="34" charset="0"/>
                <a:ea typeface="Verdana" panose="020B0604030504040204" pitchFamily="34" charset="0"/>
              </a:rPr>
              <a:t>PROJECT FILES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7AA82A-9DDA-C14F-279A-55821640E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269" y="1685490"/>
            <a:ext cx="586288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Dataset: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 U.S. House election data (CSV format)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Processed using Power Query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state and party names</a:t>
            </a: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 2" pitchFamily="18" charset="2"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File (.</a:t>
            </a: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pbix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 2" pitchFamily="18" charset="2"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data model, DAX measures, and dashboards</a:t>
            </a: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 2" pitchFamily="18" charset="2"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report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 explanation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PPT for final submission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C38464-834A-914F-A90D-31D5461D8FDA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A999BD-94DA-5442-7BB0-99BD7782CA97}"/>
              </a:ext>
            </a:extLst>
          </p:cNvPr>
          <p:cNvSpPr/>
          <p:nvPr/>
        </p:nvSpPr>
        <p:spPr>
          <a:xfrm>
            <a:off x="0" y="6462357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890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E907-BDB0-EFF7-5F3E-5909320A1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Verdana" panose="020B0604030504040204" pitchFamily="34" charset="0"/>
                <a:ea typeface="Verdana" panose="020B0604030504040204" pitchFamily="34" charset="0"/>
              </a:rPr>
              <a:t>KEY FEATURES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6417ED-FA75-EA00-34A6-D57CD10A8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404" y="1303085"/>
            <a:ext cx="7107810" cy="4307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with multi-page navigation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filters: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Year, State, Party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Election Type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cards for: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votes, Total candidates, Average vote share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State-wise and party-wise comparison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across multiple election cycles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visually consistent design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814DF1-4CE3-A35D-08BA-3C8CAF015670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FF9610-DA26-79A2-FA07-E167360D2531}"/>
              </a:ext>
            </a:extLst>
          </p:cNvPr>
          <p:cNvSpPr/>
          <p:nvPr/>
        </p:nvSpPr>
        <p:spPr>
          <a:xfrm>
            <a:off x="0" y="6495353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60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94D18-2469-1425-ECD1-B8C23186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094" y="1123837"/>
            <a:ext cx="3545512" cy="46011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  <a:t>TOOLS</a:t>
            </a:r>
            <a:b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  <a:t>&amp;</a:t>
            </a:r>
            <a:b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A4BAA-6E74-D138-8DD6-7ED4CBC13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0467" y="864108"/>
            <a:ext cx="8173038" cy="512064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Desktop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Data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dashboard development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Query (M Language)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ETL, data cleaning, and transformation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(Data Analysis Expressions)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Advanced calculations and KPIs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Slicers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Dynamic filtering by year, state, and party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8A5E5-337A-8EB5-9954-1A70E5A54803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1E4B52-6918-103C-63B7-664F523F5176}"/>
              </a:ext>
            </a:extLst>
          </p:cNvPr>
          <p:cNvSpPr/>
          <p:nvPr/>
        </p:nvSpPr>
        <p:spPr>
          <a:xfrm>
            <a:off x="0" y="6462358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81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2F14-CF6A-A58B-AF73-4CB76913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3200" b="1" dirty="0">
                <a:latin typeface="Verdana" panose="020B0604030504040204" pitchFamily="34" charset="0"/>
                <a:ea typeface="Verdana" panose="020B0604030504040204" pitchFamily="34" charset="0"/>
              </a:rPr>
              <a:t>WORKFLOW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46959A3-031E-E1BE-B9BA-216C86E5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2441" y="772998"/>
            <a:ext cx="8041064" cy="5750349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Understanding the Raw Dataset 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team first analyzed the structure to identify all cleaning and transformation steps needed. 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– Data Cleaning &amp; Preparation (Power Query)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step ensured that the dashboard visuals produced correct insights.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– Data Modeling &amp; Measure Creation (DAX)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also fixed logical issues created by the raw dataset (e.g., recalculating correct percentages)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– Designing Visual Pages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pages were built with a clear structure: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1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1 – Election Overview &amp; Trends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1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2 – Special Elections &amp; Fusion Ticket Analysis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1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3 – State-wise Candidate Vote Distribution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1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4 – Party &amp; Candidate Performance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1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5 – Seat Distribution by Party and State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1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6 – State Wise Election Participation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1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7 –Election Results-Final Overview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 – Usability &amp; Visual Refinements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 color contrast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label visibility, Slicer interactivity, Clean layout spacing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title clarity &amp; page names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F948D-C772-D4D9-ADEE-CC02F7845F7F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2B3794-9459-E1CF-E55D-8C64125EBB80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35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27719-5863-3894-3254-97FEE9113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3200" b="1" dirty="0">
                <a:latin typeface="Verdana" panose="020B0604030504040204" pitchFamily="34" charset="0"/>
                <a:ea typeface="Verdana" panose="020B0604030504040204" pitchFamily="34" charset="0"/>
              </a:rPr>
              <a:t>SYSTEM DESIGN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987016-3798-A0BC-51C6-CF2CB8682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738" y="939015"/>
            <a:ext cx="7315200" cy="51212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Dataset 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Query (Cleaning &amp; Transformation)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Data Model (Tables + Relationships)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&amp; KPIs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Visuals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Insights &amp; Analysis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779579-BB4F-A11F-53A6-C576383E13A4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9EEF6C-8C7E-6457-D1FE-8C55BD87BAF3}"/>
              </a:ext>
            </a:extLst>
          </p:cNvPr>
          <p:cNvSpPr/>
          <p:nvPr/>
        </p:nvSpPr>
        <p:spPr>
          <a:xfrm>
            <a:off x="0" y="6462359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031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42F92-A148-BCA5-C2CC-55818E6D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MILESTONES</a:t>
            </a:r>
            <a:r>
              <a:rPr lang="en-IN" dirty="0"/>
              <a:t>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7B62B8-EA2D-63F6-588D-45027F095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5126897"/>
              </p:ext>
            </p:extLst>
          </p:nvPr>
        </p:nvGraphicFramePr>
        <p:xfrm>
          <a:off x="3808429" y="546753"/>
          <a:ext cx="7579151" cy="57880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1254">
                  <a:extLst>
                    <a:ext uri="{9D8B030D-6E8A-4147-A177-3AD203B41FA5}">
                      <a16:colId xmlns:a16="http://schemas.microsoft.com/office/drawing/2014/main" val="1146301681"/>
                    </a:ext>
                  </a:extLst>
                </a:gridCol>
                <a:gridCol w="4301836">
                  <a:extLst>
                    <a:ext uri="{9D8B030D-6E8A-4147-A177-3AD203B41FA5}">
                      <a16:colId xmlns:a16="http://schemas.microsoft.com/office/drawing/2014/main" val="3034226949"/>
                    </a:ext>
                  </a:extLst>
                </a:gridCol>
                <a:gridCol w="1536061">
                  <a:extLst>
                    <a:ext uri="{9D8B030D-6E8A-4147-A177-3AD203B41FA5}">
                      <a16:colId xmlns:a16="http://schemas.microsoft.com/office/drawing/2014/main" val="2958371701"/>
                    </a:ext>
                  </a:extLst>
                </a:gridCol>
              </a:tblGrid>
              <a:tr h="437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Weekly Activities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                 Milestones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     Date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4581125"/>
                  </a:ext>
                </a:extLst>
              </a:tr>
              <a:tr h="5170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kern="100" dirty="0">
                          <a:effectLst/>
                        </a:rPr>
                        <a:t>Week 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Milestone 1: Project Initialization, Dataset Setup, Data cleaning and preprocessing 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00">
                          <a:effectLst/>
                        </a:rPr>
                        <a:t>January 16,2026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072726"/>
                  </a:ext>
                </a:extLst>
              </a:tr>
              <a:tr h="13431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kern="100" dirty="0">
                          <a:effectLst/>
                        </a:rPr>
                        <a:t>Week 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25095"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Milestone 2: </a:t>
                      </a:r>
                      <a:endParaRPr lang="en-IN" sz="1100" b="1" kern="100" dirty="0">
                        <a:effectLst/>
                      </a:endParaRPr>
                    </a:p>
                    <a:p>
                      <a:pPr marR="125095"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Dashboard development: </a:t>
                      </a:r>
                      <a:endParaRPr lang="en-IN" sz="1100" b="1" kern="100" dirty="0">
                        <a:effectLst/>
                      </a:endParaRPr>
                    </a:p>
                    <a:p>
                      <a:pPr marR="125095"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Page1:Election Overview and Trends</a:t>
                      </a:r>
                      <a:endParaRPr lang="en-IN" sz="1100" b="1" kern="100" dirty="0">
                        <a:effectLst/>
                      </a:endParaRPr>
                    </a:p>
                    <a:p>
                      <a:pPr marR="125095"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Page2: Special Elections and Fusion Ticket Analysis </a:t>
                      </a:r>
                      <a:endParaRPr lang="en-IN" sz="1100" b="1" kern="100" dirty="0">
                        <a:effectLst/>
                      </a:endParaRPr>
                    </a:p>
                    <a:p>
                      <a:pPr marR="125095"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Page3: State-wise Candidate Vote Distribution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00">
                          <a:effectLst/>
                        </a:rPr>
                        <a:t>January 23,2026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7542406"/>
                  </a:ext>
                </a:extLst>
              </a:tr>
              <a:tr h="3127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kern="100">
                          <a:effectLst/>
                        </a:rPr>
                        <a:t>Week 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00">
                          <a:effectLst/>
                        </a:rPr>
                        <a:t>Optimization and documentation              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1457130"/>
                  </a:ext>
                </a:extLst>
              </a:tr>
              <a:tr h="9920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kern="100" dirty="0">
                          <a:effectLst/>
                        </a:rPr>
                        <a:t>Week 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25095"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Milestone3: </a:t>
                      </a:r>
                      <a:endParaRPr lang="en-IN" sz="1100" b="1" kern="100" dirty="0">
                        <a:effectLst/>
                      </a:endParaRPr>
                    </a:p>
                    <a:p>
                      <a:pPr marR="125095"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Dashboard development: </a:t>
                      </a:r>
                      <a:endParaRPr lang="en-IN" sz="1100" b="1" kern="100" dirty="0">
                        <a:effectLst/>
                      </a:endParaRPr>
                    </a:p>
                    <a:p>
                      <a:pPr marR="125095"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Page4: Party and Candidate Performance</a:t>
                      </a:r>
                      <a:br>
                        <a:rPr lang="en-US" sz="1400" b="1" kern="100" dirty="0">
                          <a:effectLst/>
                        </a:rPr>
                      </a:br>
                      <a:r>
                        <a:rPr lang="en-US" sz="1400" b="1" kern="100" dirty="0">
                          <a:effectLst/>
                        </a:rPr>
                        <a:t>Page5: Seat Distribution by Party and State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00">
                          <a:effectLst/>
                        </a:rPr>
                        <a:t>January 30,2026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2541266"/>
                  </a:ext>
                </a:extLst>
              </a:tr>
              <a:tr h="340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kern="100" dirty="0">
                          <a:effectLst/>
                        </a:rPr>
                        <a:t>Week 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Optimization and documentation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8751575"/>
                  </a:ext>
                </a:extLst>
              </a:tr>
              <a:tr h="12391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kern="100" dirty="0">
                          <a:effectLst/>
                        </a:rPr>
                        <a:t>Week 6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125095"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Milestone4: </a:t>
                      </a:r>
                      <a:endParaRPr lang="en-IN" sz="1100" b="1" kern="100" dirty="0">
                        <a:effectLst/>
                      </a:endParaRPr>
                    </a:p>
                    <a:p>
                      <a:pPr marR="125095"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Dashboard development: </a:t>
                      </a:r>
                      <a:endParaRPr lang="en-IN" sz="1100" b="1" kern="100" dirty="0">
                        <a:effectLst/>
                      </a:endParaRPr>
                    </a:p>
                    <a:p>
                      <a:pPr marR="125095"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Page6: State-wise Election Participation and Comparison</a:t>
                      </a:r>
                      <a:endParaRPr lang="en-IN" sz="1100" b="1" kern="100" dirty="0">
                        <a:effectLst/>
                      </a:endParaRPr>
                    </a:p>
                    <a:p>
                      <a:pPr marR="125095"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Page7: Election results – Final Overview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February 6,2026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446726"/>
                  </a:ext>
                </a:extLst>
              </a:tr>
              <a:tr h="2957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kern="100" dirty="0">
                          <a:effectLst/>
                        </a:rPr>
                        <a:t>Week 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00">
                          <a:effectLst/>
                        </a:rPr>
                        <a:t>Optimization and documentation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6634383"/>
                  </a:ext>
                </a:extLst>
              </a:tr>
              <a:tr h="3105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kern="100" dirty="0">
                          <a:effectLst/>
                        </a:rPr>
                        <a:t>Week 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00">
                          <a:effectLst/>
                        </a:rPr>
                        <a:t>Documentation and Final Presentation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86976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54AF014-DCC7-FD09-0699-171F8207FA71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1F6BD-1C0A-FB5C-1819-6AB4A3F7ABC4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602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279603-AE98-0F01-839F-B85B7F6B0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9088" y="839890"/>
            <a:ext cx="4096979" cy="23054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DE791C-6189-4A67-4529-C2FCC2DB7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719" y="839890"/>
            <a:ext cx="4096979" cy="23084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775A5F-7A36-DAD3-0937-F6AE57F0B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088" y="3705890"/>
            <a:ext cx="4122341" cy="23219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88E017-0B1D-30C7-7D1E-3A506449E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5719" y="3712702"/>
            <a:ext cx="4101419" cy="23219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51CA6A6-CF08-D3DE-095B-656EEA426DFD}"/>
              </a:ext>
            </a:extLst>
          </p:cNvPr>
          <p:cNvSpPr txBox="1">
            <a:spLocks/>
          </p:cNvSpPr>
          <p:nvPr/>
        </p:nvSpPr>
        <p:spPr>
          <a:xfrm>
            <a:off x="256032" y="1142999"/>
            <a:ext cx="2834640" cy="46088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OUTCOMES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029787-E94C-E8F9-5127-46114EACCFE2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333239-878A-50A2-7896-CFAB7F5A83EE}"/>
              </a:ext>
            </a:extLst>
          </p:cNvPr>
          <p:cNvSpPr/>
          <p:nvPr/>
        </p:nvSpPr>
        <p:spPr>
          <a:xfrm>
            <a:off x="0" y="6464693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666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9249-9780-6DF5-2FDA-2AA68D7D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2999"/>
            <a:ext cx="2834640" cy="4608871"/>
          </a:xfrm>
        </p:spPr>
        <p:txBody>
          <a:bodyPr anchor="ctr">
            <a:normAutofit/>
          </a:bodyPr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OUTCOMES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91CD00C-DB2A-19B9-6EEB-343F6227CBD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373" r="6373"/>
          <a:stretch/>
        </p:blipFill>
        <p:spPr>
          <a:xfrm>
            <a:off x="5481613" y="782432"/>
            <a:ext cx="4432893" cy="25450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1A7EB-9F15-56F2-3DAC-E1E2DBF07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018" y="5397910"/>
            <a:ext cx="2834640" cy="930918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EF12D1-58C9-F83C-BC1C-07DE76BB6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915" y="3530485"/>
            <a:ext cx="4159145" cy="23921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1BCC8A-73EA-0470-F3E9-5FA78DA21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317" y="3530485"/>
            <a:ext cx="4197975" cy="23921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F30104B-5D8E-CE2F-650D-0449F4378C7F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9172D3-5162-E32D-E9A3-F7AC8D10747F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598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15CA-BF5B-0F8E-7C0E-0689BD30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5725" y="1123837"/>
            <a:ext cx="3560445" cy="460118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  <a:t>FUTURE ENHANCEMENTS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A303-491A-D077-1842-A873397FC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133" y="1014939"/>
            <a:ext cx="7315200" cy="512064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AI Integration: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machine learning models to project "Likely Winners" in real-time based on early partial returns.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"What-If" Modeling: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Enabling a feature (similar to major news networks) to estimate final outcomes as soon as key precincts report.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Overlay: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US Census data to visualize how factors like income, education, and age influenced the voting shifts seen in your current charts.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API Connectivity: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from static datasets to live Web API feeds (such as the Associated Press) for automated updates during election nights.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F3CEDC-102A-87E1-28E1-9176CBD37547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CFAF24-BB56-9163-4A74-45CD0880F520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353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1F4F-1C8F-D27A-2DC6-0A1FB445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AE01-E631-9183-8E86-8FD9989D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948951"/>
            <a:ext cx="7315200" cy="5120640"/>
          </a:xfrm>
        </p:spPr>
        <p:txBody>
          <a:bodyPr/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transformed raw election data into meaningful insights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power of data visualization in understanding political trends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Enabled comprehensive analysis of party performance and voter behavior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Served as a valuable learning experience in data analytics and visualization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 a strong foundation for advanced analytical projects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47A02E-5277-9B85-BF98-7A37F098BDAE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F61B9E-491F-5ABC-AB62-842B126A31CE}"/>
              </a:ext>
            </a:extLst>
          </p:cNvPr>
          <p:cNvSpPr/>
          <p:nvPr/>
        </p:nvSpPr>
        <p:spPr>
          <a:xfrm>
            <a:off x="0" y="6462359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176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BE038-97DE-A01D-5A00-92D0EF14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9000" cy="4601183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ACKNOWLEDGEMENT</a:t>
            </a:r>
            <a:b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AND </a:t>
            </a:r>
            <a:b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REFERENCE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682DF1-A310-E16D-B286-8E1001192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738" y="863600"/>
            <a:ext cx="7315200" cy="512127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600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Neelapu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Herambudu, </a:t>
            </a:r>
          </a:p>
          <a:p>
            <a:pPr marL="3600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Francis Daniel, </a:t>
            </a:r>
          </a:p>
          <a:p>
            <a:pPr marL="3600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Swathika Murugan, </a:t>
            </a:r>
          </a:p>
          <a:p>
            <a:pPr marL="3600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Shaik Shabeena Praveen, </a:t>
            </a:r>
          </a:p>
          <a:p>
            <a:pPr marL="3600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Gopi Krishna, </a:t>
            </a:r>
          </a:p>
          <a:p>
            <a:pPr marL="3600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Tanmay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Parulkar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 Election Data set 1976-22 (Kaggle).</a:t>
            </a:r>
          </a:p>
          <a:p>
            <a:pPr marL="0" indent="0" algn="just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Notes: 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 vary based on selected filters</a:t>
            </a:r>
          </a:p>
          <a:p>
            <a:pPr algn="just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 depends on source dataset completeness</a:t>
            </a:r>
          </a:p>
          <a:p>
            <a:pPr algn="just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Visuals are designed for analytical interpretation</a:t>
            </a:r>
          </a:p>
          <a:p>
            <a:pPr algn="just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developed as part of Infosys Springboard Virtual Internship 6.0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66E49-7833-FA47-4EC0-BBFA3FF2C46A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5B794-322F-B229-695F-B20C47EBA277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9383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1346</TotalTime>
  <Words>807</Words>
  <Application>Microsoft Office PowerPoint</Application>
  <PresentationFormat>Widescreen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Corbel</vt:lpstr>
      <vt:lpstr>Times New Roman</vt:lpstr>
      <vt:lpstr>Verdana</vt:lpstr>
      <vt:lpstr>Wingdings 2</vt:lpstr>
      <vt:lpstr>Frame</vt:lpstr>
      <vt:lpstr>ElectViz: Election Data Visualization for Media Batch-11</vt:lpstr>
      <vt:lpstr>PROJECT OVERVIEW </vt:lpstr>
      <vt:lpstr>PROJECT FILES</vt:lpstr>
      <vt:lpstr>KEY FEATURES</vt:lpstr>
      <vt:lpstr>TOOLS &amp; TECHNOLOGIES</vt:lpstr>
      <vt:lpstr>WORKFLOW</vt:lpstr>
      <vt:lpstr>SYSTEM DESIGN</vt:lpstr>
      <vt:lpstr>MILESTONES </vt:lpstr>
      <vt:lpstr>PowerPoint Presentation</vt:lpstr>
      <vt:lpstr>OUTCOMES </vt:lpstr>
      <vt:lpstr>FUTURE ENHANCEMENTS </vt:lpstr>
      <vt:lpstr>CONCLUSION</vt:lpstr>
      <vt:lpstr>ACKNOWLEDGEMENT   AND   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Herambudu neelapu</dc:creator>
  <cp:lastModifiedBy>SWATHIKA M</cp:lastModifiedBy>
  <cp:revision>9</cp:revision>
  <dcterms:created xsi:type="dcterms:W3CDTF">2026-02-02T17:28:50Z</dcterms:created>
  <dcterms:modified xsi:type="dcterms:W3CDTF">2026-02-12T09:06:30Z</dcterms:modified>
</cp:coreProperties>
</file>