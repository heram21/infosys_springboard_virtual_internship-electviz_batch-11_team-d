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5" r:id="rId5"/>
    <p:sldId id="259" r:id="rId6"/>
    <p:sldId id="260" r:id="rId7"/>
    <p:sldId id="261" r:id="rId8"/>
    <p:sldId id="262" r:id="rId9"/>
    <p:sldId id="264"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D169C27-D63F-4556-AA32-CDB08B43BA79}">
          <p14:sldIdLst>
            <p14:sldId id="256"/>
            <p14:sldId id="257"/>
            <p14:sldId id="258"/>
            <p14:sldId id="265"/>
            <p14:sldId id="259"/>
            <p14:sldId id="260"/>
            <p14:sldId id="261"/>
            <p14:sldId id="262"/>
            <p14:sldId id="264"/>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14-02-2026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973B31F2-4D88-40C1-B8AC-93DD8F5E9384}"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5537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552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0A4FE0-387A-4B50-A7CD-B025A9E7D294}"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7285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0A4FE0-387A-4B50-A7CD-B025A9E7D294}"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B31F2-4D88-40C1-B8AC-93DD8F5E938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049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0A4FE0-387A-4B50-A7CD-B025A9E7D294}"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3B31F2-4D88-40C1-B8AC-93DD8F5E938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3136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0A4FE0-387A-4B50-A7CD-B025A9E7D294}" type="datetimeFigureOut">
              <a:rPr lang="en-IN" smtClean="0"/>
              <a:t>14-02-2026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3B31F2-4D88-40C1-B8AC-93DD8F5E938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208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0A4FE0-387A-4B50-A7CD-B025A9E7D294}" type="datetimeFigureOut">
              <a:rPr lang="en-IN" smtClean="0"/>
              <a:t>14-02-2026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3B31F2-4D88-40C1-B8AC-93DD8F5E9384}" type="slidenum">
              <a:rPr lang="en-IN" smtClean="0"/>
              <a:t>‹#›</a:t>
            </a:fld>
            <a:endParaRPr lang="en-IN"/>
          </a:p>
        </p:txBody>
      </p:sp>
    </p:spTree>
    <p:extLst>
      <p:ext uri="{BB962C8B-B14F-4D97-AF65-F5344CB8AC3E}">
        <p14:creationId xmlns:p14="http://schemas.microsoft.com/office/powerpoint/2010/main" val="285274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0A4FE0-387A-4B50-A7CD-B025A9E7D294}"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B31F2-4D88-40C1-B8AC-93DD8F5E938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4770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E0A4FE0-387A-4B50-A7CD-B025A9E7D294}" type="datetimeFigureOut">
              <a:rPr lang="en-IN" smtClean="0"/>
              <a:t>14-02-2026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973B31F2-4D88-40C1-B8AC-93DD8F5E938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4675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7192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0A4FE0-387A-4B50-A7CD-B025A9E7D294}"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B31F2-4D88-40C1-B8AC-93DD8F5E938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04861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E0A4FE0-387A-4B50-A7CD-B025A9E7D294}" type="datetimeFigureOut">
              <a:rPr lang="en-IN" smtClean="0"/>
              <a:t>14-02-2026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73B31F2-4D88-40C1-B8AC-93DD8F5E938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589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8C6D-1526-A5BD-7835-36C1BDC74705}"/>
              </a:ext>
            </a:extLst>
          </p:cNvPr>
          <p:cNvSpPr>
            <a:spLocks noGrp="1"/>
          </p:cNvSpPr>
          <p:nvPr>
            <p:ph type="ctrTitle"/>
          </p:nvPr>
        </p:nvSpPr>
        <p:spPr/>
        <p:txBody>
          <a:bodyPr>
            <a:normAutofit/>
          </a:bodyPr>
          <a:lstStyle/>
          <a:p>
            <a:pPr algn="ctr"/>
            <a:r>
              <a:rPr lang="en-US" sz="3200" b="1" dirty="0">
                <a:latin typeface="Verdana" panose="020B0604030504040204" pitchFamily="34" charset="0"/>
                <a:ea typeface="Verdana" panose="020B0604030504040204" pitchFamily="34" charset="0"/>
              </a:rPr>
              <a:t>INFOSYS VIRTUAL INTERNSHIP 6.0</a:t>
            </a:r>
            <a:br>
              <a:rPr lang="en-US" sz="3200" b="1" dirty="0">
                <a:latin typeface="Verdana" panose="020B0604030504040204" pitchFamily="34" charset="0"/>
                <a:ea typeface="Verdana" panose="020B0604030504040204" pitchFamily="34" charset="0"/>
              </a:rPr>
            </a:br>
            <a:r>
              <a:rPr lang="en-US" sz="3200" b="1" dirty="0" err="1">
                <a:latin typeface="Verdana" panose="020B0604030504040204" pitchFamily="34" charset="0"/>
                <a:ea typeface="Verdana" panose="020B0604030504040204" pitchFamily="34" charset="0"/>
              </a:rPr>
              <a:t>ElectViz</a:t>
            </a:r>
            <a:r>
              <a:rPr lang="en-US" sz="3200" b="1" dirty="0">
                <a:latin typeface="Verdana" panose="020B0604030504040204" pitchFamily="34" charset="0"/>
                <a:ea typeface="Verdana" panose="020B0604030504040204" pitchFamily="34" charset="0"/>
              </a:rPr>
              <a:t>: Election Data Visualization for Media</a:t>
            </a:r>
            <a:endParaRPr lang="en-IN" sz="3200" dirty="0"/>
          </a:p>
        </p:txBody>
      </p:sp>
      <p:sp>
        <p:nvSpPr>
          <p:cNvPr id="3" name="Subtitle 2">
            <a:extLst>
              <a:ext uri="{FF2B5EF4-FFF2-40B4-BE49-F238E27FC236}">
                <a16:creationId xmlns:a16="http://schemas.microsoft.com/office/drawing/2014/main" id="{03865CEF-6F6C-1BFF-A4D5-AE6BE504ED86}"/>
              </a:ext>
            </a:extLst>
          </p:cNvPr>
          <p:cNvSpPr>
            <a:spLocks noGrp="1"/>
          </p:cNvSpPr>
          <p:nvPr>
            <p:ph type="subTitle" idx="1"/>
          </p:nvPr>
        </p:nvSpPr>
        <p:spPr>
          <a:xfrm>
            <a:off x="7447473" y="5141216"/>
            <a:ext cx="4641012" cy="966285"/>
          </a:xfrm>
        </p:spPr>
        <p:txBody>
          <a:bodyPr anchor="ctr"/>
          <a:lstStyle/>
          <a:p>
            <a:pPr algn="ctr"/>
            <a:r>
              <a:rPr lang="en-IN" dirty="0"/>
              <a:t>Mentor : Mrs Nithyasri S J </a:t>
            </a:r>
          </a:p>
          <a:p>
            <a:pPr algn="ctr"/>
            <a:r>
              <a:rPr lang="en-IN" dirty="0"/>
              <a:t>Presented by : Neelapu Herambudu</a:t>
            </a:r>
          </a:p>
        </p:txBody>
      </p:sp>
      <p:sp>
        <p:nvSpPr>
          <p:cNvPr id="5" name="TextBox 4">
            <a:extLst>
              <a:ext uri="{FF2B5EF4-FFF2-40B4-BE49-F238E27FC236}">
                <a16:creationId xmlns:a16="http://schemas.microsoft.com/office/drawing/2014/main" id="{D3FBB7E5-FDCE-0048-6DEA-FA240F070591}"/>
              </a:ext>
            </a:extLst>
          </p:cNvPr>
          <p:cNvSpPr txBox="1"/>
          <p:nvPr/>
        </p:nvSpPr>
        <p:spPr>
          <a:xfrm>
            <a:off x="3046563" y="3593227"/>
            <a:ext cx="6098874" cy="954107"/>
          </a:xfrm>
          <a:prstGeom prst="rect">
            <a:avLst/>
          </a:prstGeom>
          <a:noFill/>
        </p:spPr>
        <p:txBody>
          <a:bodyPr wrap="square">
            <a:spAutoFit/>
          </a:bodyPr>
          <a:lstStyle/>
          <a:p>
            <a:pPr algn="ctr"/>
            <a:r>
              <a:rPr lang="en-IN" sz="2800" b="1" dirty="0"/>
              <a:t>BATCH-11</a:t>
            </a:r>
            <a:br>
              <a:rPr lang="en-IN" sz="2800" b="1" dirty="0"/>
            </a:br>
            <a:r>
              <a:rPr lang="en-IN" sz="2800" b="1" dirty="0"/>
              <a:t>TEAM-D</a:t>
            </a:r>
          </a:p>
        </p:txBody>
      </p:sp>
    </p:spTree>
    <p:extLst>
      <p:ext uri="{BB962C8B-B14F-4D97-AF65-F5344CB8AC3E}">
        <p14:creationId xmlns:p14="http://schemas.microsoft.com/office/powerpoint/2010/main" val="184325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11A45-39E0-BEF7-4464-A85AA6EF71B4}"/>
              </a:ext>
            </a:extLst>
          </p:cNvPr>
          <p:cNvSpPr>
            <a:spLocks noGrp="1"/>
          </p:cNvSpPr>
          <p:nvPr>
            <p:ph type="title"/>
          </p:nvPr>
        </p:nvSpPr>
        <p:spPr/>
        <p:txBody>
          <a:bodyPr anchor="ctr"/>
          <a:lstStyle/>
          <a:p>
            <a:pPr algn="ctr"/>
            <a:r>
              <a:rPr lang="en-IN" b="1" dirty="0"/>
              <a:t>INTRODUCTION</a:t>
            </a:r>
          </a:p>
        </p:txBody>
      </p:sp>
      <p:sp>
        <p:nvSpPr>
          <p:cNvPr id="3" name="Content Placeholder 2">
            <a:extLst>
              <a:ext uri="{FF2B5EF4-FFF2-40B4-BE49-F238E27FC236}">
                <a16:creationId xmlns:a16="http://schemas.microsoft.com/office/drawing/2014/main" id="{C3F6CE60-C01C-7967-E26A-25C4CA85EA3C}"/>
              </a:ext>
            </a:extLst>
          </p:cNvPr>
          <p:cNvSpPr>
            <a:spLocks noGrp="1"/>
          </p:cNvSpPr>
          <p:nvPr>
            <p:ph idx="1"/>
          </p:nvPr>
        </p:nvSpPr>
        <p:spPr/>
        <p:txBody>
          <a:bodyPr>
            <a:normAutofit fontScale="92500"/>
          </a:bodyPr>
          <a:lstStyle/>
          <a:p>
            <a:pPr algn="just"/>
            <a:r>
              <a:rPr lang="en-US" dirty="0"/>
              <a:t>Elections generate large volumes of complex data that can be difficult to interpret in raw form. Effective data visualization helps transform this data into clear insights that support transparency, media reporting, and public understanding.</a:t>
            </a:r>
          </a:p>
          <a:p>
            <a:pPr algn="just"/>
            <a:r>
              <a:rPr lang="en-US" b="1" dirty="0" err="1"/>
              <a:t>ElectViz</a:t>
            </a:r>
            <a:r>
              <a:rPr lang="en-US" b="1" dirty="0"/>
              <a:t> – Election Data-Based Dashboard</a:t>
            </a:r>
            <a:r>
              <a:rPr lang="en-US" dirty="0"/>
              <a:t> is a data visualization project that analyzes historical U.S. House election data to present voting trends, party performance, and state-wise outcomes through interactive dashboards. By enabling filters for year, state, party, and election type, the project supports intuitive exploration and data-driven storytelling.</a:t>
            </a:r>
          </a:p>
          <a:p>
            <a:pPr algn="just"/>
            <a:r>
              <a:rPr lang="en-US" dirty="0"/>
              <a:t>Overall, </a:t>
            </a:r>
            <a:r>
              <a:rPr lang="en-US" dirty="0" err="1"/>
              <a:t>ElectViz</a:t>
            </a:r>
            <a:r>
              <a:rPr lang="en-US" dirty="0"/>
              <a:t> demonstrates how visual analytics can simplify election data and make democratic processes more accessible and understandable for media and the public.</a:t>
            </a:r>
          </a:p>
        </p:txBody>
      </p:sp>
    </p:spTree>
    <p:extLst>
      <p:ext uri="{BB962C8B-B14F-4D97-AF65-F5344CB8AC3E}">
        <p14:creationId xmlns:p14="http://schemas.microsoft.com/office/powerpoint/2010/main" val="2662573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8B3D7-C4E9-82C5-0477-E4D0BD0CEE90}"/>
              </a:ext>
            </a:extLst>
          </p:cNvPr>
          <p:cNvSpPr>
            <a:spLocks noGrp="1"/>
          </p:cNvSpPr>
          <p:nvPr>
            <p:ph type="title"/>
          </p:nvPr>
        </p:nvSpPr>
        <p:spPr/>
        <p:txBody>
          <a:bodyPr anchor="ctr"/>
          <a:lstStyle/>
          <a:p>
            <a:pPr algn="ctr"/>
            <a:r>
              <a:rPr lang="en-IN" b="1" dirty="0"/>
              <a:t>Workflow &amp; system design</a:t>
            </a:r>
          </a:p>
        </p:txBody>
      </p:sp>
      <p:sp>
        <p:nvSpPr>
          <p:cNvPr id="3" name="Content Placeholder 2">
            <a:extLst>
              <a:ext uri="{FF2B5EF4-FFF2-40B4-BE49-F238E27FC236}">
                <a16:creationId xmlns:a16="http://schemas.microsoft.com/office/drawing/2014/main" id="{BE82AC8C-F650-926D-0770-EAEA7A6BA396}"/>
              </a:ext>
            </a:extLst>
          </p:cNvPr>
          <p:cNvSpPr>
            <a:spLocks noGrp="1"/>
          </p:cNvSpPr>
          <p:nvPr>
            <p:ph idx="1"/>
          </p:nvPr>
        </p:nvSpPr>
        <p:spPr>
          <a:xfrm>
            <a:off x="1451579" y="1853754"/>
            <a:ext cx="9603275" cy="4199727"/>
          </a:xfrm>
        </p:spPr>
        <p:txBody>
          <a:bodyPr>
            <a:normAutofit/>
          </a:bodyPr>
          <a:lstStyle/>
          <a:p>
            <a:pPr marL="0" indent="0" algn="just">
              <a:lnSpc>
                <a:spcPct val="100000"/>
              </a:lnSpc>
              <a:buNone/>
            </a:pPr>
            <a:r>
              <a:rPr lang="en-US" sz="1800" dirty="0"/>
              <a:t> </a:t>
            </a:r>
          </a:p>
        </p:txBody>
      </p:sp>
      <p:sp>
        <p:nvSpPr>
          <p:cNvPr id="4" name="Rectangle: Rounded Corners 3">
            <a:extLst>
              <a:ext uri="{FF2B5EF4-FFF2-40B4-BE49-F238E27FC236}">
                <a16:creationId xmlns:a16="http://schemas.microsoft.com/office/drawing/2014/main" id="{9164243F-9F75-11F9-AEE9-99EC69818CF0}"/>
              </a:ext>
            </a:extLst>
          </p:cNvPr>
          <p:cNvSpPr/>
          <p:nvPr/>
        </p:nvSpPr>
        <p:spPr>
          <a:xfrm>
            <a:off x="1554789" y="3772355"/>
            <a:ext cx="2865749" cy="1414021"/>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Power Query (ETL Layer)  </a:t>
            </a:r>
          </a:p>
          <a:p>
            <a:r>
              <a:rPr lang="en-IN" dirty="0"/>
              <a:t>• Data Cleaning  </a:t>
            </a:r>
          </a:p>
          <a:p>
            <a:r>
              <a:rPr lang="en-IN" dirty="0"/>
              <a:t>• Data Transformation        • Normalization </a:t>
            </a:r>
          </a:p>
        </p:txBody>
      </p:sp>
      <p:sp>
        <p:nvSpPr>
          <p:cNvPr id="5" name="Rectangle: Rounded Corners 4">
            <a:extLst>
              <a:ext uri="{FF2B5EF4-FFF2-40B4-BE49-F238E27FC236}">
                <a16:creationId xmlns:a16="http://schemas.microsoft.com/office/drawing/2014/main" id="{2681266F-EABD-A045-1A30-2BC7309BEF9D}"/>
              </a:ext>
            </a:extLst>
          </p:cNvPr>
          <p:cNvSpPr/>
          <p:nvPr/>
        </p:nvSpPr>
        <p:spPr>
          <a:xfrm>
            <a:off x="3723202" y="2104951"/>
            <a:ext cx="3020784" cy="119973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Power BI Data Model </a:t>
            </a:r>
          </a:p>
          <a:p>
            <a:pPr algn="ctr"/>
            <a:r>
              <a:rPr lang="en-US" dirty="0"/>
              <a:t>• </a:t>
            </a:r>
            <a:r>
              <a:rPr lang="en-IN" dirty="0"/>
              <a:t>Tables &amp; Relationships</a:t>
            </a:r>
          </a:p>
        </p:txBody>
      </p:sp>
      <p:sp>
        <p:nvSpPr>
          <p:cNvPr id="6" name="Rectangle: Rounded Corners 5">
            <a:extLst>
              <a:ext uri="{FF2B5EF4-FFF2-40B4-BE49-F238E27FC236}">
                <a16:creationId xmlns:a16="http://schemas.microsoft.com/office/drawing/2014/main" id="{C0057162-202B-F239-969A-449F319AC130}"/>
              </a:ext>
            </a:extLst>
          </p:cNvPr>
          <p:cNvSpPr/>
          <p:nvPr/>
        </p:nvSpPr>
        <p:spPr>
          <a:xfrm>
            <a:off x="5311111" y="3673990"/>
            <a:ext cx="2865749" cy="161075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DAX Measures &amp; KPIs</a:t>
            </a:r>
          </a:p>
          <a:p>
            <a:r>
              <a:rPr lang="en-IN" dirty="0"/>
              <a:t>• Vote Share Calculations</a:t>
            </a:r>
          </a:p>
          <a:p>
            <a:r>
              <a:rPr lang="en-IN" dirty="0"/>
              <a:t>• Seats Won Metrics</a:t>
            </a:r>
          </a:p>
          <a:p>
            <a:r>
              <a:rPr lang="en-IN" dirty="0"/>
              <a:t>• Aggregations &amp; Trends</a:t>
            </a:r>
          </a:p>
        </p:txBody>
      </p:sp>
      <p:sp>
        <p:nvSpPr>
          <p:cNvPr id="7" name="Rectangle: Rounded Corners 6">
            <a:extLst>
              <a:ext uri="{FF2B5EF4-FFF2-40B4-BE49-F238E27FC236}">
                <a16:creationId xmlns:a16="http://schemas.microsoft.com/office/drawing/2014/main" id="{1E6AF852-4413-20C2-F03A-82E40F2B2927}"/>
              </a:ext>
            </a:extLst>
          </p:cNvPr>
          <p:cNvSpPr/>
          <p:nvPr/>
        </p:nvSpPr>
        <p:spPr>
          <a:xfrm>
            <a:off x="7479524" y="2061967"/>
            <a:ext cx="2565535" cy="1285697"/>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dirty="0"/>
              <a:t>Interactive Dashboard </a:t>
            </a:r>
          </a:p>
          <a:p>
            <a:r>
              <a:rPr lang="en-US" dirty="0"/>
              <a:t>• Charts &amp; Maps </a:t>
            </a:r>
          </a:p>
          <a:p>
            <a:r>
              <a:rPr lang="en-US" dirty="0"/>
              <a:t>• KPI Cards </a:t>
            </a:r>
          </a:p>
          <a:p>
            <a:r>
              <a:rPr lang="en-US" dirty="0"/>
              <a:t>• Filters &amp; Slicers </a:t>
            </a:r>
            <a:endParaRPr lang="en-IN" dirty="0"/>
          </a:p>
        </p:txBody>
      </p:sp>
      <p:sp>
        <p:nvSpPr>
          <p:cNvPr id="8" name="Rectangle: Rounded Corners 7">
            <a:extLst>
              <a:ext uri="{FF2B5EF4-FFF2-40B4-BE49-F238E27FC236}">
                <a16:creationId xmlns:a16="http://schemas.microsoft.com/office/drawing/2014/main" id="{8B612F6D-E215-277A-5992-667E63C62676}"/>
              </a:ext>
            </a:extLst>
          </p:cNvPr>
          <p:cNvSpPr/>
          <p:nvPr/>
        </p:nvSpPr>
        <p:spPr>
          <a:xfrm>
            <a:off x="9067433" y="3994408"/>
            <a:ext cx="2565536" cy="976292"/>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IN" dirty="0"/>
              <a:t>User Insights &amp; Analysis </a:t>
            </a:r>
          </a:p>
          <a:p>
            <a:r>
              <a:rPr lang="en-IN" dirty="0"/>
              <a:t>• Trends Identification </a:t>
            </a:r>
          </a:p>
          <a:p>
            <a:r>
              <a:rPr lang="en-IN" dirty="0"/>
              <a:t>• Comparative Analysis </a:t>
            </a:r>
          </a:p>
        </p:txBody>
      </p:sp>
      <p:cxnSp>
        <p:nvCxnSpPr>
          <p:cNvPr id="9" name="Straight Arrow Connector 8">
            <a:extLst>
              <a:ext uri="{FF2B5EF4-FFF2-40B4-BE49-F238E27FC236}">
                <a16:creationId xmlns:a16="http://schemas.microsoft.com/office/drawing/2014/main" id="{BE986F00-559D-D4A2-4379-4638C3B8EE0C}"/>
              </a:ext>
            </a:extLst>
          </p:cNvPr>
          <p:cNvCxnSpPr>
            <a:cxnSpLocks/>
          </p:cNvCxnSpPr>
          <p:nvPr/>
        </p:nvCxnSpPr>
        <p:spPr>
          <a:xfrm>
            <a:off x="5187973" y="3304681"/>
            <a:ext cx="1035784" cy="3693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7400FCF3-36F7-22F8-1D87-4B57C08FB015}"/>
              </a:ext>
            </a:extLst>
          </p:cNvPr>
          <p:cNvCxnSpPr>
            <a:cxnSpLocks/>
          </p:cNvCxnSpPr>
          <p:nvPr/>
        </p:nvCxnSpPr>
        <p:spPr>
          <a:xfrm>
            <a:off x="9110096" y="3347664"/>
            <a:ext cx="1097613" cy="6467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ECD584B6-59CE-EB74-E69D-3B981E0A4837}"/>
              </a:ext>
            </a:extLst>
          </p:cNvPr>
          <p:cNvCxnSpPr>
            <a:cxnSpLocks/>
          </p:cNvCxnSpPr>
          <p:nvPr/>
        </p:nvCxnSpPr>
        <p:spPr>
          <a:xfrm>
            <a:off x="1846139" y="3224222"/>
            <a:ext cx="763754" cy="5515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C91C5863-2030-2092-43FA-9502242FC1AC}"/>
              </a:ext>
            </a:extLst>
          </p:cNvPr>
          <p:cNvCxnSpPr>
            <a:cxnSpLocks/>
          </p:cNvCxnSpPr>
          <p:nvPr/>
        </p:nvCxnSpPr>
        <p:spPr>
          <a:xfrm flipV="1">
            <a:off x="3580194" y="3347664"/>
            <a:ext cx="937391" cy="424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3A7F31-7515-5538-F24F-8E2A59D6D7FA}"/>
              </a:ext>
            </a:extLst>
          </p:cNvPr>
          <p:cNvCxnSpPr>
            <a:cxnSpLocks/>
          </p:cNvCxnSpPr>
          <p:nvPr/>
        </p:nvCxnSpPr>
        <p:spPr>
          <a:xfrm flipV="1">
            <a:off x="7614249" y="3347664"/>
            <a:ext cx="1007897" cy="326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2B6C2867-0AFB-3524-2468-D403F90063D8}"/>
              </a:ext>
            </a:extLst>
          </p:cNvPr>
          <p:cNvSpPr/>
          <p:nvPr/>
        </p:nvSpPr>
        <p:spPr>
          <a:xfrm>
            <a:off x="716041" y="2198503"/>
            <a:ext cx="2271623" cy="1049236"/>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CSV Dataset        (Raw Election Data) </a:t>
            </a:r>
            <a:endParaRPr lang="en-IN" dirty="0"/>
          </a:p>
        </p:txBody>
      </p:sp>
    </p:spTree>
    <p:extLst>
      <p:ext uri="{BB962C8B-B14F-4D97-AF65-F5344CB8AC3E}">
        <p14:creationId xmlns:p14="http://schemas.microsoft.com/office/powerpoint/2010/main" val="1232431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7686F-E450-8F36-79B9-6BCD0D5AC341}"/>
              </a:ext>
            </a:extLst>
          </p:cNvPr>
          <p:cNvSpPr>
            <a:spLocks noGrp="1"/>
          </p:cNvSpPr>
          <p:nvPr>
            <p:ph type="title"/>
          </p:nvPr>
        </p:nvSpPr>
        <p:spPr/>
        <p:txBody>
          <a:bodyPr anchor="ctr"/>
          <a:lstStyle/>
          <a:p>
            <a:pPr algn="ctr"/>
            <a:r>
              <a:rPr lang="en-IN" b="1" dirty="0"/>
              <a:t>milestones</a:t>
            </a:r>
          </a:p>
        </p:txBody>
      </p:sp>
      <p:sp>
        <p:nvSpPr>
          <p:cNvPr id="3" name="Content Placeholder 2">
            <a:extLst>
              <a:ext uri="{FF2B5EF4-FFF2-40B4-BE49-F238E27FC236}">
                <a16:creationId xmlns:a16="http://schemas.microsoft.com/office/drawing/2014/main" id="{5FBFBA4E-C360-E45E-3716-015D61613AF3}"/>
              </a:ext>
            </a:extLst>
          </p:cNvPr>
          <p:cNvSpPr>
            <a:spLocks noGrp="1"/>
          </p:cNvSpPr>
          <p:nvPr>
            <p:ph idx="1"/>
          </p:nvPr>
        </p:nvSpPr>
        <p:spPr>
          <a:xfrm>
            <a:off x="1451579" y="1797196"/>
            <a:ext cx="9603275" cy="3450613"/>
          </a:xfrm>
        </p:spPr>
        <p:txBody>
          <a:bodyPr>
            <a:noAutofit/>
          </a:bodyPr>
          <a:lstStyle/>
          <a:p>
            <a:pPr marL="0" indent="0" algn="just">
              <a:buNone/>
            </a:pPr>
            <a:r>
              <a:rPr lang="en-US" sz="1400" b="1" u="sng" dirty="0">
                <a:latin typeface="+mj-lt"/>
                <a:cs typeface="Times New Roman" panose="02020603050405020304" pitchFamily="18" charset="0"/>
              </a:rPr>
              <a:t>Milestone 1: </a:t>
            </a:r>
          </a:p>
          <a:p>
            <a:pPr marL="0" indent="0" algn="just">
              <a:buNone/>
            </a:pPr>
            <a:r>
              <a:rPr lang="en-US" sz="1400" dirty="0">
                <a:latin typeface="+mj-lt"/>
                <a:cs typeface="Times New Roman" panose="02020603050405020304" pitchFamily="18" charset="0"/>
              </a:rPr>
              <a:t>This phase focused on understanding project objectives and preparing the election dataset for analysis. </a:t>
            </a:r>
            <a:r>
              <a:rPr lang="en-US" sz="1400" b="1" dirty="0">
                <a:latin typeface="+mj-lt"/>
                <a:cs typeface="Times New Roman" panose="02020603050405020304" pitchFamily="18" charset="0"/>
              </a:rPr>
              <a:t>Data cleaning and preprocessing </a:t>
            </a:r>
            <a:r>
              <a:rPr lang="en-US" sz="1400" dirty="0">
                <a:latin typeface="+mj-lt"/>
                <a:cs typeface="Times New Roman" panose="02020603050405020304" pitchFamily="18" charset="0"/>
              </a:rPr>
              <a:t>were performed to ensure accuracy, consistency, and reliability across all election years and states.</a:t>
            </a:r>
          </a:p>
          <a:p>
            <a:pPr marL="0" indent="0" algn="just">
              <a:buNone/>
            </a:pPr>
            <a:r>
              <a:rPr lang="en-US" sz="1400" b="1" u="sng" dirty="0">
                <a:latin typeface="+mj-lt"/>
                <a:cs typeface="Times New Roman" panose="02020603050405020304" pitchFamily="18" charset="0"/>
              </a:rPr>
              <a:t>Milestone 2: </a:t>
            </a:r>
          </a:p>
          <a:p>
            <a:pPr marL="0" indent="0" algn="just">
              <a:buNone/>
            </a:pPr>
            <a:r>
              <a:rPr lang="en-US" sz="1400" dirty="0">
                <a:latin typeface="+mj-lt"/>
                <a:cs typeface="Times New Roman" panose="02020603050405020304" pitchFamily="18" charset="0"/>
              </a:rPr>
              <a:t>This milestone involved building the first set of dashboard pages, including </a:t>
            </a:r>
            <a:r>
              <a:rPr lang="en-US" sz="1400" b="1" dirty="0">
                <a:latin typeface="+mj-lt"/>
                <a:cs typeface="Times New Roman" panose="02020603050405020304" pitchFamily="18" charset="0"/>
              </a:rPr>
              <a:t>Election Overview, Special Elections and Fusion Ticket Analysis, and State-wise Candidate Vote Distribution</a:t>
            </a:r>
            <a:r>
              <a:rPr lang="en-US" sz="1400" dirty="0">
                <a:latin typeface="+mj-lt"/>
                <a:cs typeface="Times New Roman" panose="02020603050405020304" pitchFamily="18" charset="0"/>
              </a:rPr>
              <a:t>. These pages provide high-level trends and regional insights into voting patterns and electoral behavior.</a:t>
            </a:r>
          </a:p>
          <a:p>
            <a:pPr marL="0" indent="0" algn="just">
              <a:buNone/>
            </a:pPr>
            <a:r>
              <a:rPr lang="en-US" sz="1400" b="1" u="sng" dirty="0">
                <a:latin typeface="+mj-lt"/>
                <a:cs typeface="Times New Roman" panose="02020603050405020304" pitchFamily="18" charset="0"/>
              </a:rPr>
              <a:t>Milestone3:</a:t>
            </a:r>
            <a:r>
              <a:rPr lang="en-US" sz="1400" b="1" dirty="0">
                <a:latin typeface="+mj-lt"/>
                <a:cs typeface="Times New Roman" panose="02020603050405020304" pitchFamily="18" charset="0"/>
              </a:rPr>
              <a:t> </a:t>
            </a:r>
          </a:p>
          <a:p>
            <a:pPr marL="0" indent="0" algn="just">
              <a:buNone/>
            </a:pPr>
            <a:r>
              <a:rPr lang="en-US" sz="1400" dirty="0">
                <a:latin typeface="+mj-lt"/>
                <a:cs typeface="Times New Roman" panose="02020603050405020304" pitchFamily="18" charset="0"/>
              </a:rPr>
              <a:t>In this phase, advanced analytical pages were developed to evaluate </a:t>
            </a:r>
            <a:r>
              <a:rPr lang="en-US" sz="1400" b="1" dirty="0">
                <a:latin typeface="+mj-lt"/>
                <a:cs typeface="Times New Roman" panose="02020603050405020304" pitchFamily="18" charset="0"/>
              </a:rPr>
              <a:t>party dominance, candidate performance, and seat distribution across states</a:t>
            </a:r>
            <a:r>
              <a:rPr lang="en-US" sz="1400" dirty="0">
                <a:latin typeface="+mj-lt"/>
                <a:cs typeface="Times New Roman" panose="02020603050405020304" pitchFamily="18" charset="0"/>
              </a:rPr>
              <a:t>. The visuals enable deeper insights into political control and shifts in power over time.</a:t>
            </a:r>
          </a:p>
          <a:p>
            <a:pPr marL="0" indent="0" algn="just">
              <a:buNone/>
            </a:pPr>
            <a:r>
              <a:rPr lang="en-US" sz="1400" b="1" u="sng" dirty="0">
                <a:latin typeface="+mj-lt"/>
                <a:cs typeface="Times New Roman" panose="02020603050405020304" pitchFamily="18" charset="0"/>
              </a:rPr>
              <a:t>Milestone 4: </a:t>
            </a:r>
          </a:p>
          <a:p>
            <a:pPr marL="0" indent="0" algn="just">
              <a:buNone/>
            </a:pPr>
            <a:r>
              <a:rPr lang="en-US" sz="1400" dirty="0">
                <a:latin typeface="+mj-lt"/>
                <a:cs typeface="Times New Roman" panose="02020603050405020304" pitchFamily="18" charset="0"/>
              </a:rPr>
              <a:t>The final milestone completed the dashboard with </a:t>
            </a:r>
            <a:r>
              <a:rPr lang="en-US" sz="1400" b="1" dirty="0">
                <a:latin typeface="+mj-lt"/>
                <a:cs typeface="Times New Roman" panose="02020603050405020304" pitchFamily="18" charset="0"/>
              </a:rPr>
              <a:t>voter participation analysis and a consolidated results overview</a:t>
            </a:r>
            <a:r>
              <a:rPr lang="en-US" sz="1400" dirty="0">
                <a:latin typeface="+mj-lt"/>
                <a:cs typeface="Times New Roman" panose="02020603050405020304" pitchFamily="18" charset="0"/>
              </a:rPr>
              <a:t>. This phase focused on summarizing insights and enhancing storytelling for quick interpretation and presentation.</a:t>
            </a:r>
          </a:p>
        </p:txBody>
      </p:sp>
    </p:spTree>
    <p:extLst>
      <p:ext uri="{BB962C8B-B14F-4D97-AF65-F5344CB8AC3E}">
        <p14:creationId xmlns:p14="http://schemas.microsoft.com/office/powerpoint/2010/main" val="4065586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6092-9D5A-56DF-AFD0-7FC3432728D1}"/>
              </a:ext>
            </a:extLst>
          </p:cNvPr>
          <p:cNvSpPr>
            <a:spLocks noGrp="1"/>
          </p:cNvSpPr>
          <p:nvPr>
            <p:ph type="title"/>
          </p:nvPr>
        </p:nvSpPr>
        <p:spPr/>
        <p:txBody>
          <a:bodyPr anchor="ctr"/>
          <a:lstStyle/>
          <a:p>
            <a:pPr algn="ctr"/>
            <a:r>
              <a:rPr lang="en-IN" b="1" dirty="0"/>
              <a:t>Future enhance</a:t>
            </a:r>
          </a:p>
        </p:txBody>
      </p:sp>
      <p:sp>
        <p:nvSpPr>
          <p:cNvPr id="3" name="Content Placeholder 2">
            <a:extLst>
              <a:ext uri="{FF2B5EF4-FFF2-40B4-BE49-F238E27FC236}">
                <a16:creationId xmlns:a16="http://schemas.microsoft.com/office/drawing/2014/main" id="{F311FC17-151F-CB84-68BD-512C0EA068EF}"/>
              </a:ext>
            </a:extLst>
          </p:cNvPr>
          <p:cNvSpPr>
            <a:spLocks noGrp="1"/>
          </p:cNvSpPr>
          <p:nvPr>
            <p:ph idx="1"/>
          </p:nvPr>
        </p:nvSpPr>
        <p:spPr/>
        <p:txBody>
          <a:bodyPr/>
          <a:lstStyle/>
          <a:p>
            <a:pPr algn="just"/>
            <a:r>
              <a:rPr lang="en-US" dirty="0"/>
              <a:t>Integrate </a:t>
            </a:r>
            <a:r>
              <a:rPr lang="en-US" b="1" dirty="0"/>
              <a:t>real-time election data</a:t>
            </a:r>
            <a:r>
              <a:rPr lang="en-US" dirty="0"/>
              <a:t> to provide live updates during ongoing elections.</a:t>
            </a:r>
          </a:p>
          <a:p>
            <a:pPr algn="just"/>
            <a:r>
              <a:rPr lang="en-US" dirty="0"/>
              <a:t>Apply </a:t>
            </a:r>
            <a:r>
              <a:rPr lang="en-US" b="1" dirty="0"/>
              <a:t>predictive analytics and machine learning</a:t>
            </a:r>
            <a:r>
              <a:rPr lang="en-US" dirty="0"/>
              <a:t> to forecast election outcomes and voter trends.</a:t>
            </a:r>
          </a:p>
          <a:p>
            <a:pPr algn="just"/>
            <a:r>
              <a:rPr lang="en-US" dirty="0"/>
              <a:t>Include </a:t>
            </a:r>
            <a:r>
              <a:rPr lang="en-US" b="1" dirty="0"/>
              <a:t>demographic data</a:t>
            </a:r>
            <a:r>
              <a:rPr lang="en-US" dirty="0"/>
              <a:t> (age, gender, urban–rural) for deeper voter behavior analysis.</a:t>
            </a:r>
          </a:p>
          <a:p>
            <a:pPr algn="just"/>
            <a:r>
              <a:rPr lang="en-US" dirty="0"/>
              <a:t>Add </a:t>
            </a:r>
            <a:r>
              <a:rPr lang="en-US" b="1" dirty="0"/>
              <a:t>AI-generated insights and automated headlines</a:t>
            </a:r>
            <a:r>
              <a:rPr lang="en-US" dirty="0"/>
              <a:t> to support media reporting.</a:t>
            </a:r>
          </a:p>
          <a:p>
            <a:pPr algn="just"/>
            <a:r>
              <a:rPr lang="en-US" dirty="0"/>
              <a:t>Improve </a:t>
            </a:r>
            <a:r>
              <a:rPr lang="en-US" b="1" dirty="0"/>
              <a:t>interactivity and drill-down capabilities</a:t>
            </a:r>
            <a:r>
              <a:rPr lang="en-US" dirty="0"/>
              <a:t> for constituency-level analysis.</a:t>
            </a:r>
          </a:p>
        </p:txBody>
      </p:sp>
    </p:spTree>
    <p:extLst>
      <p:ext uri="{BB962C8B-B14F-4D97-AF65-F5344CB8AC3E}">
        <p14:creationId xmlns:p14="http://schemas.microsoft.com/office/powerpoint/2010/main" val="3984091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376FA-6D5F-5D42-AF42-F99403417ED6}"/>
              </a:ext>
            </a:extLst>
          </p:cNvPr>
          <p:cNvSpPr>
            <a:spLocks noGrp="1"/>
          </p:cNvSpPr>
          <p:nvPr>
            <p:ph type="title" idx="4294967295"/>
          </p:nvPr>
        </p:nvSpPr>
        <p:spPr>
          <a:xfrm>
            <a:off x="1293812" y="0"/>
            <a:ext cx="9604375" cy="1049337"/>
          </a:xfrm>
        </p:spPr>
        <p:txBody>
          <a:bodyPr anchor="ctr"/>
          <a:lstStyle/>
          <a:p>
            <a:pPr algn="ctr"/>
            <a:r>
              <a:rPr lang="en-IN" b="1" dirty="0"/>
              <a:t>outputs</a:t>
            </a:r>
          </a:p>
        </p:txBody>
      </p:sp>
      <p:pic>
        <p:nvPicPr>
          <p:cNvPr id="4" name="Picture 3">
            <a:extLst>
              <a:ext uri="{FF2B5EF4-FFF2-40B4-BE49-F238E27FC236}">
                <a16:creationId xmlns:a16="http://schemas.microsoft.com/office/drawing/2014/main" id="{6724870E-C37A-C818-5BFC-F059EA627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358" y="920151"/>
            <a:ext cx="5063763" cy="2831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EB03BFCD-555D-F154-EF3A-0650072CD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3033" y="920151"/>
            <a:ext cx="5173066" cy="2831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853CF831-9115-E023-FADD-7A1A423B9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358" y="3909963"/>
            <a:ext cx="5068346" cy="28661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a:extLst>
              <a:ext uri="{FF2B5EF4-FFF2-40B4-BE49-F238E27FC236}">
                <a16:creationId xmlns:a16="http://schemas.microsoft.com/office/drawing/2014/main" id="{C3D29E1E-2894-8732-F009-2C88C03BE3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3033" y="3909963"/>
            <a:ext cx="5173067" cy="28661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46682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B244AC-7575-9507-7A4E-BB7B8CA41B7F}"/>
              </a:ext>
            </a:extLst>
          </p:cNvPr>
          <p:cNvPicPr>
            <a:picLocks noChangeAspect="1"/>
          </p:cNvPicPr>
          <p:nvPr/>
        </p:nvPicPr>
        <p:blipFill>
          <a:blip r:embed="rId2"/>
          <a:stretch>
            <a:fillRect/>
          </a:stretch>
        </p:blipFill>
        <p:spPr>
          <a:xfrm>
            <a:off x="4785246" y="218786"/>
            <a:ext cx="2621507" cy="853514"/>
          </a:xfrm>
          <a:prstGeom prst="rect">
            <a:avLst/>
          </a:prstGeom>
        </p:spPr>
      </p:pic>
      <p:pic>
        <p:nvPicPr>
          <p:cNvPr id="3" name="Picture 2">
            <a:extLst>
              <a:ext uri="{FF2B5EF4-FFF2-40B4-BE49-F238E27FC236}">
                <a16:creationId xmlns:a16="http://schemas.microsoft.com/office/drawing/2014/main" id="{F6C6C53D-6EB2-E8AF-6DA8-41CF01BC5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840" y="1066597"/>
            <a:ext cx="4945813" cy="27817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D4D6BA7A-E432-42CC-A7C4-975C9057F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8349" y="1066597"/>
            <a:ext cx="4945814" cy="28042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ED3ADFF9-5F2C-8874-D939-E652E0BAE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0851" y="3951090"/>
            <a:ext cx="5010295" cy="28609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91778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7127-8D51-3A85-AD22-3B0C641A6D19}"/>
              </a:ext>
            </a:extLst>
          </p:cNvPr>
          <p:cNvSpPr>
            <a:spLocks noGrp="1"/>
          </p:cNvSpPr>
          <p:nvPr>
            <p:ph type="title"/>
          </p:nvPr>
        </p:nvSpPr>
        <p:spPr/>
        <p:txBody>
          <a:bodyPr anchor="ctr"/>
          <a:lstStyle/>
          <a:p>
            <a:pPr algn="ctr"/>
            <a:r>
              <a:rPr lang="en-IN" b="1" dirty="0"/>
              <a:t>conclusion</a:t>
            </a:r>
          </a:p>
        </p:txBody>
      </p:sp>
      <p:sp>
        <p:nvSpPr>
          <p:cNvPr id="3" name="Content Placeholder 2">
            <a:extLst>
              <a:ext uri="{FF2B5EF4-FFF2-40B4-BE49-F238E27FC236}">
                <a16:creationId xmlns:a16="http://schemas.microsoft.com/office/drawing/2014/main" id="{100F7B60-E206-DBA2-3A40-436791705C67}"/>
              </a:ext>
            </a:extLst>
          </p:cNvPr>
          <p:cNvSpPr>
            <a:spLocks noGrp="1"/>
          </p:cNvSpPr>
          <p:nvPr>
            <p:ph idx="1"/>
          </p:nvPr>
        </p:nvSpPr>
        <p:spPr/>
        <p:txBody>
          <a:bodyPr anchor="ctr"/>
          <a:lstStyle/>
          <a:p>
            <a:pPr marL="0" indent="0" algn="just">
              <a:buNone/>
            </a:pPr>
            <a:r>
              <a:rPr lang="en-US" dirty="0"/>
              <a:t>The </a:t>
            </a:r>
            <a:r>
              <a:rPr lang="en-US" dirty="0" err="1"/>
              <a:t>ElectViz</a:t>
            </a:r>
            <a:r>
              <a:rPr lang="en-US" dirty="0"/>
              <a:t> – Election Data Visualization for Media project successfully transforms complex election data into clear, interactive, and media-friendly dashboards. By analyzing historical U.S. House election data, the system highlights voting trends, party performance, state-wise outcomes, and electoral competitiveness. The project demonstrates how data visualization and storytelling can improve transparency, support data-driven journalism, and enhance public understanding of democratic processes.</a:t>
            </a:r>
            <a:endParaRPr lang="en-IN" dirty="0"/>
          </a:p>
        </p:txBody>
      </p:sp>
    </p:spTree>
    <p:extLst>
      <p:ext uri="{BB962C8B-B14F-4D97-AF65-F5344CB8AC3E}">
        <p14:creationId xmlns:p14="http://schemas.microsoft.com/office/powerpoint/2010/main" val="2303291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40F4-79FF-3C97-C892-DE564EAC6CD1}"/>
              </a:ext>
            </a:extLst>
          </p:cNvPr>
          <p:cNvSpPr>
            <a:spLocks noGrp="1"/>
          </p:cNvSpPr>
          <p:nvPr>
            <p:ph type="title"/>
          </p:nvPr>
        </p:nvSpPr>
        <p:spPr/>
        <p:txBody>
          <a:bodyPr anchor="ctr"/>
          <a:lstStyle/>
          <a:p>
            <a:pPr algn="ctr"/>
            <a:r>
              <a:rPr lang="en-IN" b="1" dirty="0"/>
              <a:t>Acknowledgement &amp; reference</a:t>
            </a:r>
          </a:p>
        </p:txBody>
      </p:sp>
      <p:sp>
        <p:nvSpPr>
          <p:cNvPr id="3" name="Content Placeholder 2">
            <a:extLst>
              <a:ext uri="{FF2B5EF4-FFF2-40B4-BE49-F238E27FC236}">
                <a16:creationId xmlns:a16="http://schemas.microsoft.com/office/drawing/2014/main" id="{B899FBA7-D7F9-B91D-38DA-4C11FE64D5FE}"/>
              </a:ext>
            </a:extLst>
          </p:cNvPr>
          <p:cNvSpPr>
            <a:spLocks noGrp="1"/>
          </p:cNvSpPr>
          <p:nvPr>
            <p:ph idx="1"/>
          </p:nvPr>
        </p:nvSpPr>
        <p:spPr>
          <a:xfrm>
            <a:off x="1451579" y="2015732"/>
            <a:ext cx="9603275" cy="4494336"/>
          </a:xfrm>
        </p:spPr>
        <p:txBody>
          <a:bodyPr>
            <a:noAutofit/>
          </a:bodyPr>
          <a:lstStyle/>
          <a:p>
            <a:pPr marL="0" indent="0" algn="just">
              <a:lnSpc>
                <a:spcPct val="100000"/>
              </a:lnSpc>
              <a:buNone/>
            </a:pPr>
            <a:r>
              <a:rPr lang="en-US" altLang="en-US" b="1" dirty="0">
                <a:latin typeface="+mj-lt"/>
                <a:cs typeface="Times New Roman" panose="02020603050405020304" pitchFamily="18" charset="0"/>
              </a:rPr>
              <a:t>We would like to express our heartfelt gratitude to:</a:t>
            </a:r>
          </a:p>
          <a:p>
            <a:pPr algn="just">
              <a:lnSpc>
                <a:spcPct val="100000"/>
              </a:lnSpc>
            </a:pPr>
            <a:r>
              <a:rPr lang="en-US" altLang="en-US" dirty="0">
                <a:latin typeface="+mj-lt"/>
                <a:cs typeface="Times New Roman" panose="02020603050405020304" pitchFamily="18" charset="0"/>
              </a:rPr>
              <a:t>Infosys Springboard Team – for organizing this valuable internship opportunity.</a:t>
            </a:r>
          </a:p>
          <a:p>
            <a:pPr algn="just">
              <a:lnSpc>
                <a:spcPct val="100000"/>
              </a:lnSpc>
            </a:pPr>
            <a:r>
              <a:rPr lang="en-US" altLang="en-US" dirty="0">
                <a:latin typeface="+mj-lt"/>
                <a:cs typeface="Times New Roman" panose="02020603050405020304" pitchFamily="18" charset="0"/>
              </a:rPr>
              <a:t>Our Mentor – for her continuous support and feedback.</a:t>
            </a:r>
          </a:p>
          <a:p>
            <a:pPr algn="just">
              <a:lnSpc>
                <a:spcPct val="100000"/>
              </a:lnSpc>
            </a:pPr>
            <a:r>
              <a:rPr lang="en-US" altLang="en-US" dirty="0">
                <a:latin typeface="+mj-lt"/>
                <a:cs typeface="Times New Roman" panose="02020603050405020304" pitchFamily="18" charset="0"/>
              </a:rPr>
              <a:t>My Teammates – for collaboration, encouragement, and insights </a:t>
            </a:r>
          </a:p>
          <a:p>
            <a:pPr algn="just">
              <a:lnSpc>
                <a:spcPct val="100000"/>
              </a:lnSpc>
            </a:pPr>
            <a:r>
              <a:rPr lang="en-US" altLang="en-US" dirty="0">
                <a:latin typeface="+mj-lt"/>
                <a:cs typeface="Times New Roman" panose="02020603050405020304" pitchFamily="18" charset="0"/>
              </a:rPr>
              <a:t>This internship has been a significant step in our professional growth and technical journey.</a:t>
            </a:r>
          </a:p>
          <a:p>
            <a:pPr marL="0" indent="0" algn="just">
              <a:lnSpc>
                <a:spcPct val="100000"/>
              </a:lnSpc>
              <a:buNone/>
            </a:pPr>
            <a:r>
              <a:rPr lang="en-US" altLang="en-US" b="1" dirty="0">
                <a:latin typeface="+mj-lt"/>
                <a:cs typeface="Times New Roman" panose="02020603050405020304" pitchFamily="18" charset="0"/>
              </a:rPr>
              <a:t>References:</a:t>
            </a:r>
          </a:p>
          <a:p>
            <a:pPr algn="just">
              <a:lnSpc>
                <a:spcPct val="100000"/>
              </a:lnSpc>
            </a:pPr>
            <a:r>
              <a:rPr lang="en-US" altLang="en-US" dirty="0" err="1">
                <a:latin typeface="+mj-lt"/>
                <a:cs typeface="Times New Roman" panose="02020603050405020304" pitchFamily="18" charset="0"/>
              </a:rPr>
              <a:t>US_Election_Data</a:t>
            </a:r>
            <a:r>
              <a:rPr lang="en-US" altLang="en-US" dirty="0">
                <a:latin typeface="+mj-lt"/>
                <a:cs typeface="Times New Roman" panose="02020603050405020304" pitchFamily="18" charset="0"/>
              </a:rPr>
              <a:t>(Kaggle source) </a:t>
            </a:r>
          </a:p>
          <a:p>
            <a:pPr algn="just">
              <a:lnSpc>
                <a:spcPct val="100000"/>
              </a:lnSpc>
            </a:pPr>
            <a:r>
              <a:rPr lang="en-US" altLang="en-US" dirty="0">
                <a:latin typeface="+mj-lt"/>
                <a:cs typeface="Times New Roman" panose="02020603050405020304" pitchFamily="18" charset="0"/>
              </a:rPr>
              <a:t>Microsoft Power BI Documentation</a:t>
            </a:r>
          </a:p>
          <a:p>
            <a:pPr algn="just">
              <a:lnSpc>
                <a:spcPct val="100000"/>
              </a:lnSpc>
            </a:pPr>
            <a:r>
              <a:rPr lang="en-US" altLang="en-US" dirty="0">
                <a:latin typeface="+mj-lt"/>
                <a:cs typeface="Times New Roman" panose="02020603050405020304" pitchFamily="18" charset="0"/>
              </a:rPr>
              <a:t>Infosys Springboard Virtual Internship course materials</a:t>
            </a:r>
          </a:p>
          <a:p>
            <a:pPr>
              <a:lnSpc>
                <a:spcPct val="100000"/>
              </a:lnSpc>
            </a:pPr>
            <a:endParaRPr lang="en-IN" dirty="0">
              <a:latin typeface="+mj-lt"/>
            </a:endParaRPr>
          </a:p>
        </p:txBody>
      </p:sp>
    </p:spTree>
    <p:extLst>
      <p:ext uri="{BB962C8B-B14F-4D97-AF65-F5344CB8AC3E}">
        <p14:creationId xmlns:p14="http://schemas.microsoft.com/office/powerpoint/2010/main" val="822984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AA92AF-FFD6-6781-859A-951203E95737}"/>
              </a:ext>
            </a:extLst>
          </p:cNvPr>
          <p:cNvSpPr txBox="1"/>
          <p:nvPr/>
        </p:nvSpPr>
        <p:spPr>
          <a:xfrm>
            <a:off x="3046563" y="2505670"/>
            <a:ext cx="6098874" cy="923330"/>
          </a:xfrm>
          <a:prstGeom prst="rect">
            <a:avLst/>
          </a:prstGeom>
          <a:noFill/>
        </p:spPr>
        <p:txBody>
          <a:bodyPr wrap="square" anchor="ctr">
            <a:spAutoFit/>
          </a:bodyPr>
          <a:lstStyle/>
          <a:p>
            <a:pPr algn="ctr"/>
            <a:r>
              <a:rPr lang="en-IN" sz="5400" dirty="0">
                <a:latin typeface="Cooper Black" panose="0208090404030B020404" pitchFamily="18" charset="0"/>
              </a:rPr>
              <a:t>Thank you</a:t>
            </a:r>
          </a:p>
        </p:txBody>
      </p:sp>
    </p:spTree>
    <p:extLst>
      <p:ext uri="{BB962C8B-B14F-4D97-AF65-F5344CB8AC3E}">
        <p14:creationId xmlns:p14="http://schemas.microsoft.com/office/powerpoint/2010/main" val="1922647026"/>
      </p:ext>
    </p:extLst>
  </p:cSld>
  <p:clrMapOvr>
    <a:masterClrMapping/>
  </p:clrMapOvr>
</p:sld>
</file>

<file path=ppt/theme/theme1.xml><?xml version="1.0" encoding="utf-8"?>
<a:theme xmlns:a="http://schemas.openxmlformats.org/drawingml/2006/main" name="Gallery">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693</TotalTime>
  <Words>605</Words>
  <Application>Microsoft Office PowerPoint</Application>
  <PresentationFormat>Widescreen</PresentationFormat>
  <Paragraphs>56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Cooper Black</vt:lpstr>
      <vt:lpstr>Gill Sans MT</vt:lpstr>
      <vt:lpstr>Verdana</vt:lpstr>
      <vt:lpstr>Gallery</vt:lpstr>
      <vt:lpstr>INFOSYS VIRTUAL INTERNSHIP 6.0 ElectViz: Election Data Visualization for Media</vt:lpstr>
      <vt:lpstr>INTRODUCTION</vt:lpstr>
      <vt:lpstr>Workflow &amp; system design</vt:lpstr>
      <vt:lpstr>milestones</vt:lpstr>
      <vt:lpstr>Future enhance</vt:lpstr>
      <vt:lpstr>outputs</vt:lpstr>
      <vt:lpstr>PowerPoint Presentation</vt:lpstr>
      <vt:lpstr>conclusion</vt:lpstr>
      <vt:lpstr>Acknowledgement &amp; 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Herambudu neelapu</dc:creator>
  <cp:lastModifiedBy>Herambudu neelapu</cp:lastModifiedBy>
  <cp:revision>6</cp:revision>
  <dcterms:created xsi:type="dcterms:W3CDTF">2026-02-04T05:27:52Z</dcterms:created>
  <dcterms:modified xsi:type="dcterms:W3CDTF">2026-02-14T11:58:33Z</dcterms:modified>
</cp:coreProperties>
</file>