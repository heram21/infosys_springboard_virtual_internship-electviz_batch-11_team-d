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68" r:id="rId2"/>
    <p:sldId id="258" r:id="rId3"/>
    <p:sldId id="269" r:id="rId4"/>
    <p:sldId id="259" r:id="rId5"/>
    <p:sldId id="262" r:id="rId6"/>
    <p:sldId id="264" r:id="rId7"/>
    <p:sldId id="270" r:id="rId8"/>
    <p:sldId id="266" r:id="rId9"/>
    <p:sldId id="272" r:id="rId10"/>
    <p:sldId id="261" r:id="rId11"/>
    <p:sldId id="271" r:id="rId12"/>
    <p:sldId id="260" r:id="rId13"/>
    <p:sldId id="267" r:id="rId14"/>
    <p:sldId id="265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76926F-C9F6-4670-901E-FF0EA5DE1FE5}" type="doc">
      <dgm:prSet loTypeId="urn:microsoft.com/office/officeart/2005/8/layout/hProcess7" loCatId="process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n-IN"/>
        </a:p>
      </dgm:t>
    </dgm:pt>
    <dgm:pt modelId="{9E3EB430-5A1C-4010-95FA-ACE0F05B1E3C}">
      <dgm:prSet phldrT="[Text]" phldr="0"/>
      <dgm:spPr/>
      <dgm:t>
        <a:bodyPr anchor="t"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Data Collection</a:t>
          </a:r>
        </a:p>
      </dgm:t>
    </dgm:pt>
    <dgm:pt modelId="{BE6AB294-88DA-4025-845F-A747400ED890}" type="parTrans" cxnId="{AF8ECC91-027D-4F80-94B5-4C481CC19CC7}">
      <dgm:prSet/>
      <dgm:spPr/>
      <dgm:t>
        <a:bodyPr/>
        <a:lstStyle/>
        <a:p>
          <a:endParaRPr lang="en-IN"/>
        </a:p>
      </dgm:t>
    </dgm:pt>
    <dgm:pt modelId="{E67B725C-7853-4238-B9D7-687F8B62F4B9}" type="sibTrans" cxnId="{AF8ECC91-027D-4F80-94B5-4C481CC19CC7}">
      <dgm:prSet/>
      <dgm:spPr/>
      <dgm:t>
        <a:bodyPr/>
        <a:lstStyle/>
        <a:p>
          <a:endParaRPr lang="en-IN"/>
        </a:p>
      </dgm:t>
    </dgm:pt>
    <dgm:pt modelId="{D837AEBE-9469-43AB-A2C8-24914E6841BD}">
      <dgm:prSet phldrT="[Text]" phldr="0"/>
      <dgm:spPr/>
      <dgm:t>
        <a:bodyPr anchor="t"/>
        <a:lstStyle/>
        <a:p>
          <a:r>
            <a:rPr lang="en-IN" dirty="0"/>
            <a:t>Data Preprocessing</a:t>
          </a:r>
        </a:p>
      </dgm:t>
    </dgm:pt>
    <dgm:pt modelId="{1977116A-CF77-48DE-BAC4-7B6DF46AC177}" type="parTrans" cxnId="{C79725CF-0969-499D-92A4-92A9A25918BB}">
      <dgm:prSet/>
      <dgm:spPr/>
      <dgm:t>
        <a:bodyPr/>
        <a:lstStyle/>
        <a:p>
          <a:endParaRPr lang="en-IN"/>
        </a:p>
      </dgm:t>
    </dgm:pt>
    <dgm:pt modelId="{77DB63EC-3EE1-400D-80F1-82DF21518992}" type="sibTrans" cxnId="{C79725CF-0969-499D-92A4-92A9A25918BB}">
      <dgm:prSet/>
      <dgm:spPr/>
      <dgm:t>
        <a:bodyPr/>
        <a:lstStyle/>
        <a:p>
          <a:endParaRPr lang="en-IN"/>
        </a:p>
      </dgm:t>
    </dgm:pt>
    <dgm:pt modelId="{1D78D70D-0A04-4659-AC05-BCCA1FE007EF}">
      <dgm:prSet phldrT="[Text]" phldr="0"/>
      <dgm:spPr/>
      <dgm:t>
        <a:bodyPr anchor="t"/>
        <a:lstStyle/>
        <a:p>
          <a:r>
            <a:rPr lang="en-IN" dirty="0"/>
            <a:t>Data </a:t>
          </a:r>
          <a:r>
            <a:rPr lang="en-IN" dirty="0" err="1"/>
            <a:t>Modeling</a:t>
          </a:r>
          <a:endParaRPr lang="en-IN" dirty="0"/>
        </a:p>
      </dgm:t>
    </dgm:pt>
    <dgm:pt modelId="{06FEF676-AFAC-41A7-B2C4-158AE88E0F26}" type="parTrans" cxnId="{3A5503EB-D6B3-4062-9EED-1B9494D012C7}">
      <dgm:prSet/>
      <dgm:spPr/>
      <dgm:t>
        <a:bodyPr/>
        <a:lstStyle/>
        <a:p>
          <a:endParaRPr lang="en-IN"/>
        </a:p>
      </dgm:t>
    </dgm:pt>
    <dgm:pt modelId="{D67C2E49-8499-4F6E-A605-0B4D50B73197}" type="sibTrans" cxnId="{3A5503EB-D6B3-4062-9EED-1B9494D012C7}">
      <dgm:prSet/>
      <dgm:spPr/>
      <dgm:t>
        <a:bodyPr/>
        <a:lstStyle/>
        <a:p>
          <a:endParaRPr lang="en-IN"/>
        </a:p>
      </dgm:t>
    </dgm:pt>
    <dgm:pt modelId="{8392FC04-0D9F-49EC-A950-9B1D52F3DBC8}">
      <dgm:prSet phldrT="[Text]" phldr="0"/>
      <dgm:spPr/>
      <dgm:t>
        <a:bodyPr/>
        <a:lstStyle/>
        <a:p>
          <a:endParaRPr lang="en-IN" dirty="0"/>
        </a:p>
      </dgm:t>
    </dgm:pt>
    <dgm:pt modelId="{833968AB-670E-495C-91E0-736431102356}" type="parTrans" cxnId="{46557D5A-A0DA-4A21-9074-2DF40A176CD2}">
      <dgm:prSet/>
      <dgm:spPr/>
      <dgm:t>
        <a:bodyPr/>
        <a:lstStyle/>
        <a:p>
          <a:endParaRPr lang="en-IN"/>
        </a:p>
      </dgm:t>
    </dgm:pt>
    <dgm:pt modelId="{9E2E93FE-6CB8-481D-97CD-5D76569CDCCF}" type="sibTrans" cxnId="{46557D5A-A0DA-4A21-9074-2DF40A176CD2}">
      <dgm:prSet/>
      <dgm:spPr/>
      <dgm:t>
        <a:bodyPr/>
        <a:lstStyle/>
        <a:p>
          <a:endParaRPr lang="en-IN"/>
        </a:p>
      </dgm:t>
    </dgm:pt>
    <dgm:pt modelId="{8D319203-BCC2-4A6F-AB7F-77235F9CC8C0}">
      <dgm:prSet phldrT="[Text]" phldr="0"/>
      <dgm:spPr/>
      <dgm:t>
        <a:bodyPr/>
        <a:lstStyle/>
        <a:p>
          <a:endParaRPr lang="en-IN" dirty="0"/>
        </a:p>
      </dgm:t>
    </dgm:pt>
    <dgm:pt modelId="{A964B94F-C4E4-4007-9459-4D4CC87F8BDA}" type="parTrans" cxnId="{3E27BC7F-FD9A-4FE7-B8F0-1AFBAA639584}">
      <dgm:prSet/>
      <dgm:spPr/>
      <dgm:t>
        <a:bodyPr/>
        <a:lstStyle/>
        <a:p>
          <a:endParaRPr lang="en-IN"/>
        </a:p>
      </dgm:t>
    </dgm:pt>
    <dgm:pt modelId="{2D228A49-C16A-4AF2-ACA5-FE3DBA2A23EB}" type="sibTrans" cxnId="{3E27BC7F-FD9A-4FE7-B8F0-1AFBAA639584}">
      <dgm:prSet/>
      <dgm:spPr/>
      <dgm:t>
        <a:bodyPr/>
        <a:lstStyle/>
        <a:p>
          <a:endParaRPr lang="en-IN"/>
        </a:p>
      </dgm:t>
    </dgm:pt>
    <dgm:pt modelId="{909DFFD0-0AA3-42DD-B226-15C2D24BB210}">
      <dgm:prSet phldrT="[Text]" phldr="0"/>
      <dgm:spPr/>
      <dgm:t>
        <a:bodyPr anchor="t"/>
        <a:lstStyle/>
        <a:p>
          <a:endParaRPr lang="en-IN" dirty="0"/>
        </a:p>
      </dgm:t>
    </dgm:pt>
    <dgm:pt modelId="{EAC433A5-AACA-4C82-B1A1-ADEA82B8658C}" type="parTrans" cxnId="{844275A7-9DFB-454A-BA81-E29B75E8C140}">
      <dgm:prSet/>
      <dgm:spPr/>
      <dgm:t>
        <a:bodyPr/>
        <a:lstStyle/>
        <a:p>
          <a:endParaRPr lang="en-IN"/>
        </a:p>
      </dgm:t>
    </dgm:pt>
    <dgm:pt modelId="{2BC0AA46-361C-4EE0-8AE0-DA5C73B5F419}" type="sibTrans" cxnId="{844275A7-9DFB-454A-BA81-E29B75E8C140}">
      <dgm:prSet/>
      <dgm:spPr/>
      <dgm:t>
        <a:bodyPr/>
        <a:lstStyle/>
        <a:p>
          <a:endParaRPr lang="en-IN"/>
        </a:p>
      </dgm:t>
    </dgm:pt>
    <dgm:pt modelId="{7FE6557A-44F2-432D-A706-D0A9322458E4}" type="pres">
      <dgm:prSet presAssocID="{AC76926F-C9F6-4670-901E-FF0EA5DE1FE5}" presName="Name0" presStyleCnt="0">
        <dgm:presLayoutVars>
          <dgm:dir/>
          <dgm:animLvl val="lvl"/>
          <dgm:resizeHandles val="exact"/>
        </dgm:presLayoutVars>
      </dgm:prSet>
      <dgm:spPr/>
    </dgm:pt>
    <dgm:pt modelId="{7476069C-6FC4-4711-AD3A-E24704F5B6F6}" type="pres">
      <dgm:prSet presAssocID="{8392FC04-0D9F-49EC-A950-9B1D52F3DBC8}" presName="compositeNode" presStyleCnt="0">
        <dgm:presLayoutVars>
          <dgm:bulletEnabled val="1"/>
        </dgm:presLayoutVars>
      </dgm:prSet>
      <dgm:spPr/>
    </dgm:pt>
    <dgm:pt modelId="{08BA650E-7EC3-451A-86A7-D30D23E86C54}" type="pres">
      <dgm:prSet presAssocID="{8392FC04-0D9F-49EC-A950-9B1D52F3DBC8}" presName="bgRect" presStyleLbl="node1" presStyleIdx="0" presStyleCnt="3"/>
      <dgm:spPr/>
    </dgm:pt>
    <dgm:pt modelId="{28574E93-3AF8-4713-8AF8-920BEB0CBE31}" type="pres">
      <dgm:prSet presAssocID="{8392FC04-0D9F-49EC-A950-9B1D52F3DBC8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FA98EA8D-C5CE-4DD6-98E3-82F1F5B952B9}" type="pres">
      <dgm:prSet presAssocID="{8392FC04-0D9F-49EC-A950-9B1D52F3DBC8}" presName="childNode" presStyleLbl="node1" presStyleIdx="0" presStyleCnt="3">
        <dgm:presLayoutVars>
          <dgm:bulletEnabled val="1"/>
        </dgm:presLayoutVars>
      </dgm:prSet>
      <dgm:spPr/>
    </dgm:pt>
    <dgm:pt modelId="{A5D5C633-892A-4FDF-B587-E1AECD9921E5}" type="pres">
      <dgm:prSet presAssocID="{9E2E93FE-6CB8-481D-97CD-5D76569CDCCF}" presName="hSp" presStyleCnt="0"/>
      <dgm:spPr/>
    </dgm:pt>
    <dgm:pt modelId="{F41275FA-23D2-4B1C-A2CA-0CCEDABCA4F8}" type="pres">
      <dgm:prSet presAssocID="{9E2E93FE-6CB8-481D-97CD-5D76569CDCCF}" presName="vProcSp" presStyleCnt="0"/>
      <dgm:spPr/>
    </dgm:pt>
    <dgm:pt modelId="{E646B213-BE87-4435-A39D-32DB60ACD343}" type="pres">
      <dgm:prSet presAssocID="{9E2E93FE-6CB8-481D-97CD-5D76569CDCCF}" presName="vSp1" presStyleCnt="0"/>
      <dgm:spPr/>
    </dgm:pt>
    <dgm:pt modelId="{CB200755-7384-44CF-9D36-B58930DF09F7}" type="pres">
      <dgm:prSet presAssocID="{9E2E93FE-6CB8-481D-97CD-5D76569CDCCF}" presName="simulatedConn" presStyleLbl="solidFgAcc1" presStyleIdx="0" presStyleCnt="2"/>
      <dgm:spPr/>
    </dgm:pt>
    <dgm:pt modelId="{62EA2247-09F9-4AA6-A5CA-B689F8614735}" type="pres">
      <dgm:prSet presAssocID="{9E2E93FE-6CB8-481D-97CD-5D76569CDCCF}" presName="vSp2" presStyleCnt="0"/>
      <dgm:spPr/>
    </dgm:pt>
    <dgm:pt modelId="{5B66F77E-AAA2-4839-8C0F-2655A9C9D400}" type="pres">
      <dgm:prSet presAssocID="{9E2E93FE-6CB8-481D-97CD-5D76569CDCCF}" presName="sibTrans" presStyleCnt="0"/>
      <dgm:spPr/>
    </dgm:pt>
    <dgm:pt modelId="{9E21E7A7-3940-40D4-BE1E-18AC827A2F08}" type="pres">
      <dgm:prSet presAssocID="{8D319203-BCC2-4A6F-AB7F-77235F9CC8C0}" presName="compositeNode" presStyleCnt="0">
        <dgm:presLayoutVars>
          <dgm:bulletEnabled val="1"/>
        </dgm:presLayoutVars>
      </dgm:prSet>
      <dgm:spPr/>
    </dgm:pt>
    <dgm:pt modelId="{CDA2E126-F0A5-4BB6-8638-3735B9AEF291}" type="pres">
      <dgm:prSet presAssocID="{8D319203-BCC2-4A6F-AB7F-77235F9CC8C0}" presName="bgRect" presStyleLbl="node1" presStyleIdx="1" presStyleCnt="3"/>
      <dgm:spPr/>
    </dgm:pt>
    <dgm:pt modelId="{4F92FE6C-7CBA-4B79-9258-EF2E0DE96CE0}" type="pres">
      <dgm:prSet presAssocID="{8D319203-BCC2-4A6F-AB7F-77235F9CC8C0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66B38283-AEA5-41F7-812C-FFF3B2DEB625}" type="pres">
      <dgm:prSet presAssocID="{8D319203-BCC2-4A6F-AB7F-77235F9CC8C0}" presName="childNode" presStyleLbl="node1" presStyleIdx="1" presStyleCnt="3">
        <dgm:presLayoutVars>
          <dgm:bulletEnabled val="1"/>
        </dgm:presLayoutVars>
      </dgm:prSet>
      <dgm:spPr/>
    </dgm:pt>
    <dgm:pt modelId="{F5B42B0B-9D0D-4022-93E0-200F5329B346}" type="pres">
      <dgm:prSet presAssocID="{2D228A49-C16A-4AF2-ACA5-FE3DBA2A23EB}" presName="hSp" presStyleCnt="0"/>
      <dgm:spPr/>
    </dgm:pt>
    <dgm:pt modelId="{A9BEA886-8601-48E3-9868-9406A9BBE63C}" type="pres">
      <dgm:prSet presAssocID="{2D228A49-C16A-4AF2-ACA5-FE3DBA2A23EB}" presName="vProcSp" presStyleCnt="0"/>
      <dgm:spPr/>
    </dgm:pt>
    <dgm:pt modelId="{E68A52B2-35D0-470D-BA1B-B74E6982A2C1}" type="pres">
      <dgm:prSet presAssocID="{2D228A49-C16A-4AF2-ACA5-FE3DBA2A23EB}" presName="vSp1" presStyleCnt="0"/>
      <dgm:spPr/>
    </dgm:pt>
    <dgm:pt modelId="{27D9FF02-E134-40C5-BF68-81F34F599743}" type="pres">
      <dgm:prSet presAssocID="{2D228A49-C16A-4AF2-ACA5-FE3DBA2A23EB}" presName="simulatedConn" presStyleLbl="solidFgAcc1" presStyleIdx="1" presStyleCnt="2"/>
      <dgm:spPr/>
    </dgm:pt>
    <dgm:pt modelId="{E58462C3-76F6-431A-9F91-F4AE0EA00F59}" type="pres">
      <dgm:prSet presAssocID="{2D228A49-C16A-4AF2-ACA5-FE3DBA2A23EB}" presName="vSp2" presStyleCnt="0"/>
      <dgm:spPr/>
    </dgm:pt>
    <dgm:pt modelId="{723CEF81-C87D-4D87-9FBF-D23056EC6CD0}" type="pres">
      <dgm:prSet presAssocID="{2D228A49-C16A-4AF2-ACA5-FE3DBA2A23EB}" presName="sibTrans" presStyleCnt="0"/>
      <dgm:spPr/>
    </dgm:pt>
    <dgm:pt modelId="{F7E6D458-218B-4721-9544-CE4D151BEBC7}" type="pres">
      <dgm:prSet presAssocID="{909DFFD0-0AA3-42DD-B226-15C2D24BB210}" presName="compositeNode" presStyleCnt="0">
        <dgm:presLayoutVars>
          <dgm:bulletEnabled val="1"/>
        </dgm:presLayoutVars>
      </dgm:prSet>
      <dgm:spPr/>
    </dgm:pt>
    <dgm:pt modelId="{21F2413B-FA96-44A8-8DB7-D6D50EBBC17F}" type="pres">
      <dgm:prSet presAssocID="{909DFFD0-0AA3-42DD-B226-15C2D24BB210}" presName="bgRect" presStyleLbl="node1" presStyleIdx="2" presStyleCnt="3"/>
      <dgm:spPr/>
    </dgm:pt>
    <dgm:pt modelId="{A207C16C-95EA-4F82-A903-4DC1A39155A2}" type="pres">
      <dgm:prSet presAssocID="{909DFFD0-0AA3-42DD-B226-15C2D24BB210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EBC6F4AD-F92E-4E34-88D5-A9000F809521}" type="pres">
      <dgm:prSet presAssocID="{909DFFD0-0AA3-42DD-B226-15C2D24BB210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0E037022-16D4-484E-94CB-AA3C7A074795}" type="presOf" srcId="{AC76926F-C9F6-4670-901E-FF0EA5DE1FE5}" destId="{7FE6557A-44F2-432D-A706-D0A9322458E4}" srcOrd="0" destOrd="0" presId="urn:microsoft.com/office/officeart/2005/8/layout/hProcess7"/>
    <dgm:cxn modelId="{46557D5A-A0DA-4A21-9074-2DF40A176CD2}" srcId="{AC76926F-C9F6-4670-901E-FF0EA5DE1FE5}" destId="{8392FC04-0D9F-49EC-A950-9B1D52F3DBC8}" srcOrd="0" destOrd="0" parTransId="{833968AB-670E-495C-91E0-736431102356}" sibTransId="{9E2E93FE-6CB8-481D-97CD-5D76569CDCCF}"/>
    <dgm:cxn modelId="{3E27BC7F-FD9A-4FE7-B8F0-1AFBAA639584}" srcId="{AC76926F-C9F6-4670-901E-FF0EA5DE1FE5}" destId="{8D319203-BCC2-4A6F-AB7F-77235F9CC8C0}" srcOrd="1" destOrd="0" parTransId="{A964B94F-C4E4-4007-9459-4D4CC87F8BDA}" sibTransId="{2D228A49-C16A-4AF2-ACA5-FE3DBA2A23EB}"/>
    <dgm:cxn modelId="{47759691-6B01-4063-AC97-07B3C65ED689}" type="presOf" srcId="{909DFFD0-0AA3-42DD-B226-15C2D24BB210}" destId="{21F2413B-FA96-44A8-8DB7-D6D50EBBC17F}" srcOrd="0" destOrd="0" presId="urn:microsoft.com/office/officeart/2005/8/layout/hProcess7"/>
    <dgm:cxn modelId="{AF8ECC91-027D-4F80-94B5-4C481CC19CC7}" srcId="{8392FC04-0D9F-49EC-A950-9B1D52F3DBC8}" destId="{9E3EB430-5A1C-4010-95FA-ACE0F05B1E3C}" srcOrd="0" destOrd="0" parTransId="{BE6AB294-88DA-4025-845F-A747400ED890}" sibTransId="{E67B725C-7853-4238-B9D7-687F8B62F4B9}"/>
    <dgm:cxn modelId="{8592829A-5DCB-4C9B-8E0B-5DCFB449C0CD}" type="presOf" srcId="{8392FC04-0D9F-49EC-A950-9B1D52F3DBC8}" destId="{08BA650E-7EC3-451A-86A7-D30D23E86C54}" srcOrd="0" destOrd="0" presId="urn:microsoft.com/office/officeart/2005/8/layout/hProcess7"/>
    <dgm:cxn modelId="{58B601A2-A263-4747-9C7E-ED51816941FA}" type="presOf" srcId="{8D319203-BCC2-4A6F-AB7F-77235F9CC8C0}" destId="{CDA2E126-F0A5-4BB6-8638-3735B9AEF291}" srcOrd="0" destOrd="0" presId="urn:microsoft.com/office/officeart/2005/8/layout/hProcess7"/>
    <dgm:cxn modelId="{844275A7-9DFB-454A-BA81-E29B75E8C140}" srcId="{AC76926F-C9F6-4670-901E-FF0EA5DE1FE5}" destId="{909DFFD0-0AA3-42DD-B226-15C2D24BB210}" srcOrd="2" destOrd="0" parTransId="{EAC433A5-AACA-4C82-B1A1-ADEA82B8658C}" sibTransId="{2BC0AA46-361C-4EE0-8AE0-DA5C73B5F419}"/>
    <dgm:cxn modelId="{43EE0AAA-0A4C-4402-A61C-025A2344A8D7}" type="presOf" srcId="{9E3EB430-5A1C-4010-95FA-ACE0F05B1E3C}" destId="{FA98EA8D-C5CE-4DD6-98E3-82F1F5B952B9}" srcOrd="0" destOrd="0" presId="urn:microsoft.com/office/officeart/2005/8/layout/hProcess7"/>
    <dgm:cxn modelId="{BBC315AF-C41F-428D-A95D-2501C28F70DE}" type="presOf" srcId="{909DFFD0-0AA3-42DD-B226-15C2D24BB210}" destId="{A207C16C-95EA-4F82-A903-4DC1A39155A2}" srcOrd="1" destOrd="0" presId="urn:microsoft.com/office/officeart/2005/8/layout/hProcess7"/>
    <dgm:cxn modelId="{786DFEB3-CD28-4077-B0CB-F3B3CD890D3E}" type="presOf" srcId="{8392FC04-0D9F-49EC-A950-9B1D52F3DBC8}" destId="{28574E93-3AF8-4713-8AF8-920BEB0CBE31}" srcOrd="1" destOrd="0" presId="urn:microsoft.com/office/officeart/2005/8/layout/hProcess7"/>
    <dgm:cxn modelId="{6F9A94CE-DBC9-483D-BEE1-36937363678F}" type="presOf" srcId="{1D78D70D-0A04-4659-AC05-BCCA1FE007EF}" destId="{EBC6F4AD-F92E-4E34-88D5-A9000F809521}" srcOrd="0" destOrd="0" presId="urn:microsoft.com/office/officeart/2005/8/layout/hProcess7"/>
    <dgm:cxn modelId="{C79725CF-0969-499D-92A4-92A9A25918BB}" srcId="{8D319203-BCC2-4A6F-AB7F-77235F9CC8C0}" destId="{D837AEBE-9469-43AB-A2C8-24914E6841BD}" srcOrd="0" destOrd="0" parTransId="{1977116A-CF77-48DE-BAC4-7B6DF46AC177}" sibTransId="{77DB63EC-3EE1-400D-80F1-82DF21518992}"/>
    <dgm:cxn modelId="{3B31C9D0-9B8A-42D7-9B20-40515EDD008F}" type="presOf" srcId="{D837AEBE-9469-43AB-A2C8-24914E6841BD}" destId="{66B38283-AEA5-41F7-812C-FFF3B2DEB625}" srcOrd="0" destOrd="0" presId="urn:microsoft.com/office/officeart/2005/8/layout/hProcess7"/>
    <dgm:cxn modelId="{3A5503EB-D6B3-4062-9EED-1B9494D012C7}" srcId="{909DFFD0-0AA3-42DD-B226-15C2D24BB210}" destId="{1D78D70D-0A04-4659-AC05-BCCA1FE007EF}" srcOrd="0" destOrd="0" parTransId="{06FEF676-AFAC-41A7-B2C4-158AE88E0F26}" sibTransId="{D67C2E49-8499-4F6E-A605-0B4D50B73197}"/>
    <dgm:cxn modelId="{6EDB3DF0-F8E7-436B-BE7E-B066533CBB16}" type="presOf" srcId="{8D319203-BCC2-4A6F-AB7F-77235F9CC8C0}" destId="{4F92FE6C-7CBA-4B79-9258-EF2E0DE96CE0}" srcOrd="1" destOrd="0" presId="urn:microsoft.com/office/officeart/2005/8/layout/hProcess7"/>
    <dgm:cxn modelId="{F934DE31-5A48-4FB7-AF6E-D8F3A3332F24}" type="presParOf" srcId="{7FE6557A-44F2-432D-A706-D0A9322458E4}" destId="{7476069C-6FC4-4711-AD3A-E24704F5B6F6}" srcOrd="0" destOrd="0" presId="urn:microsoft.com/office/officeart/2005/8/layout/hProcess7"/>
    <dgm:cxn modelId="{6239975D-CD5F-4EC4-9699-FB5580758706}" type="presParOf" srcId="{7476069C-6FC4-4711-AD3A-E24704F5B6F6}" destId="{08BA650E-7EC3-451A-86A7-D30D23E86C54}" srcOrd="0" destOrd="0" presId="urn:microsoft.com/office/officeart/2005/8/layout/hProcess7"/>
    <dgm:cxn modelId="{FD784E2A-8B40-40B5-9E08-2621B4FF8006}" type="presParOf" srcId="{7476069C-6FC4-4711-AD3A-E24704F5B6F6}" destId="{28574E93-3AF8-4713-8AF8-920BEB0CBE31}" srcOrd="1" destOrd="0" presId="urn:microsoft.com/office/officeart/2005/8/layout/hProcess7"/>
    <dgm:cxn modelId="{A1E0B8A7-10AD-4EC5-9F4D-F83D8802A4E1}" type="presParOf" srcId="{7476069C-6FC4-4711-AD3A-E24704F5B6F6}" destId="{FA98EA8D-C5CE-4DD6-98E3-82F1F5B952B9}" srcOrd="2" destOrd="0" presId="urn:microsoft.com/office/officeart/2005/8/layout/hProcess7"/>
    <dgm:cxn modelId="{0C872FBA-0F16-4059-BBE4-6370A3662CDD}" type="presParOf" srcId="{7FE6557A-44F2-432D-A706-D0A9322458E4}" destId="{A5D5C633-892A-4FDF-B587-E1AECD9921E5}" srcOrd="1" destOrd="0" presId="urn:microsoft.com/office/officeart/2005/8/layout/hProcess7"/>
    <dgm:cxn modelId="{E1744BD3-4BA7-4F9C-AABE-54C36D132FFF}" type="presParOf" srcId="{7FE6557A-44F2-432D-A706-D0A9322458E4}" destId="{F41275FA-23D2-4B1C-A2CA-0CCEDABCA4F8}" srcOrd="2" destOrd="0" presId="urn:microsoft.com/office/officeart/2005/8/layout/hProcess7"/>
    <dgm:cxn modelId="{6F33C4EE-8FDB-46E9-9367-411D1C921C43}" type="presParOf" srcId="{F41275FA-23D2-4B1C-A2CA-0CCEDABCA4F8}" destId="{E646B213-BE87-4435-A39D-32DB60ACD343}" srcOrd="0" destOrd="0" presId="urn:microsoft.com/office/officeart/2005/8/layout/hProcess7"/>
    <dgm:cxn modelId="{585CEECD-7B94-432C-9DB7-5C010203AD9E}" type="presParOf" srcId="{F41275FA-23D2-4B1C-A2CA-0CCEDABCA4F8}" destId="{CB200755-7384-44CF-9D36-B58930DF09F7}" srcOrd="1" destOrd="0" presId="urn:microsoft.com/office/officeart/2005/8/layout/hProcess7"/>
    <dgm:cxn modelId="{4F0865FB-91C1-4C34-B423-01111C0F6371}" type="presParOf" srcId="{F41275FA-23D2-4B1C-A2CA-0CCEDABCA4F8}" destId="{62EA2247-09F9-4AA6-A5CA-B689F8614735}" srcOrd="2" destOrd="0" presId="urn:microsoft.com/office/officeart/2005/8/layout/hProcess7"/>
    <dgm:cxn modelId="{02756D1D-CB03-47D4-9B60-EE73EEA9EE6E}" type="presParOf" srcId="{7FE6557A-44F2-432D-A706-D0A9322458E4}" destId="{5B66F77E-AAA2-4839-8C0F-2655A9C9D400}" srcOrd="3" destOrd="0" presId="urn:microsoft.com/office/officeart/2005/8/layout/hProcess7"/>
    <dgm:cxn modelId="{3C153435-FD27-4737-A317-574BA2C84EA3}" type="presParOf" srcId="{7FE6557A-44F2-432D-A706-D0A9322458E4}" destId="{9E21E7A7-3940-40D4-BE1E-18AC827A2F08}" srcOrd="4" destOrd="0" presId="urn:microsoft.com/office/officeart/2005/8/layout/hProcess7"/>
    <dgm:cxn modelId="{9EF89620-D6F9-476E-A9E0-12225A0E5B9D}" type="presParOf" srcId="{9E21E7A7-3940-40D4-BE1E-18AC827A2F08}" destId="{CDA2E126-F0A5-4BB6-8638-3735B9AEF291}" srcOrd="0" destOrd="0" presId="urn:microsoft.com/office/officeart/2005/8/layout/hProcess7"/>
    <dgm:cxn modelId="{4F046E0F-1ABF-4877-8DDC-7CB025DEFD44}" type="presParOf" srcId="{9E21E7A7-3940-40D4-BE1E-18AC827A2F08}" destId="{4F92FE6C-7CBA-4B79-9258-EF2E0DE96CE0}" srcOrd="1" destOrd="0" presId="urn:microsoft.com/office/officeart/2005/8/layout/hProcess7"/>
    <dgm:cxn modelId="{67F8E7ED-54B9-416B-9256-0F4E15ABAA52}" type="presParOf" srcId="{9E21E7A7-3940-40D4-BE1E-18AC827A2F08}" destId="{66B38283-AEA5-41F7-812C-FFF3B2DEB625}" srcOrd="2" destOrd="0" presId="urn:microsoft.com/office/officeart/2005/8/layout/hProcess7"/>
    <dgm:cxn modelId="{7A4D6589-21D6-45E9-8349-080BFB9294A6}" type="presParOf" srcId="{7FE6557A-44F2-432D-A706-D0A9322458E4}" destId="{F5B42B0B-9D0D-4022-93E0-200F5329B346}" srcOrd="5" destOrd="0" presId="urn:microsoft.com/office/officeart/2005/8/layout/hProcess7"/>
    <dgm:cxn modelId="{F2B7B769-852C-4C6A-983B-A60287C2EEBD}" type="presParOf" srcId="{7FE6557A-44F2-432D-A706-D0A9322458E4}" destId="{A9BEA886-8601-48E3-9868-9406A9BBE63C}" srcOrd="6" destOrd="0" presId="urn:microsoft.com/office/officeart/2005/8/layout/hProcess7"/>
    <dgm:cxn modelId="{D3804A70-2393-49E9-A9F8-5E5EF1760864}" type="presParOf" srcId="{A9BEA886-8601-48E3-9868-9406A9BBE63C}" destId="{E68A52B2-35D0-470D-BA1B-B74E6982A2C1}" srcOrd="0" destOrd="0" presId="urn:microsoft.com/office/officeart/2005/8/layout/hProcess7"/>
    <dgm:cxn modelId="{0FDBEA54-C60C-4736-B6AB-1EDA8F08BF9C}" type="presParOf" srcId="{A9BEA886-8601-48E3-9868-9406A9BBE63C}" destId="{27D9FF02-E134-40C5-BF68-81F34F599743}" srcOrd="1" destOrd="0" presId="urn:microsoft.com/office/officeart/2005/8/layout/hProcess7"/>
    <dgm:cxn modelId="{6E4C04AB-29EB-40A0-819B-6FD6D9721A9C}" type="presParOf" srcId="{A9BEA886-8601-48E3-9868-9406A9BBE63C}" destId="{E58462C3-76F6-431A-9F91-F4AE0EA00F59}" srcOrd="2" destOrd="0" presId="urn:microsoft.com/office/officeart/2005/8/layout/hProcess7"/>
    <dgm:cxn modelId="{32FA5178-09C8-4F5C-9B3A-CA2A9026C5B5}" type="presParOf" srcId="{7FE6557A-44F2-432D-A706-D0A9322458E4}" destId="{723CEF81-C87D-4D87-9FBF-D23056EC6CD0}" srcOrd="7" destOrd="0" presId="urn:microsoft.com/office/officeart/2005/8/layout/hProcess7"/>
    <dgm:cxn modelId="{37A9E971-176A-42FE-AABA-E3D4D9FE0527}" type="presParOf" srcId="{7FE6557A-44F2-432D-A706-D0A9322458E4}" destId="{F7E6D458-218B-4721-9544-CE4D151BEBC7}" srcOrd="8" destOrd="0" presId="urn:microsoft.com/office/officeart/2005/8/layout/hProcess7"/>
    <dgm:cxn modelId="{3A45C654-D0F0-46B7-9BF3-2F4FBFC47289}" type="presParOf" srcId="{F7E6D458-218B-4721-9544-CE4D151BEBC7}" destId="{21F2413B-FA96-44A8-8DB7-D6D50EBBC17F}" srcOrd="0" destOrd="0" presId="urn:microsoft.com/office/officeart/2005/8/layout/hProcess7"/>
    <dgm:cxn modelId="{951BF557-55DF-4F19-AB6D-573CFB451851}" type="presParOf" srcId="{F7E6D458-218B-4721-9544-CE4D151BEBC7}" destId="{A207C16C-95EA-4F82-A903-4DC1A39155A2}" srcOrd="1" destOrd="0" presId="urn:microsoft.com/office/officeart/2005/8/layout/hProcess7"/>
    <dgm:cxn modelId="{84C5223A-0EBB-4971-9C91-6B364520BC50}" type="presParOf" srcId="{F7E6D458-218B-4721-9544-CE4D151BEBC7}" destId="{EBC6F4AD-F92E-4E34-88D5-A9000F809521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A0B4B6-07DA-4E91-9268-62EB74E53210}" type="doc">
      <dgm:prSet loTypeId="urn:microsoft.com/office/officeart/2005/8/layout/vList3" loCatId="picture" qsTypeId="urn:microsoft.com/office/officeart/2005/8/quickstyle/simple1" qsCatId="simple" csTypeId="urn:microsoft.com/office/officeart/2005/8/colors/accent1_2" csCatId="accent1" phldr="1"/>
      <dgm:spPr/>
    </dgm:pt>
    <dgm:pt modelId="{50CD74FC-418B-486A-8225-B312A0A4D196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Primary Platform: 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Microsoft Power BI Desktop – core environment for building full analytical pipeline — from data modeling and DAX calculations to crafting interactive dashboards.</a:t>
          </a:r>
          <a:endParaRPr lang="en-IN" dirty="0"/>
        </a:p>
      </dgm:t>
    </dgm:pt>
    <dgm:pt modelId="{4B5AAC74-826F-470D-9916-9BF5E23339D8}" type="parTrans" cxnId="{A4167CCA-CD84-458E-9636-D1500D015247}">
      <dgm:prSet/>
      <dgm:spPr/>
      <dgm:t>
        <a:bodyPr/>
        <a:lstStyle/>
        <a:p>
          <a:endParaRPr lang="en-IN"/>
        </a:p>
      </dgm:t>
    </dgm:pt>
    <dgm:pt modelId="{87B59BD1-1BC4-4DA4-941C-DA866657B897}" type="sibTrans" cxnId="{A4167CCA-CD84-458E-9636-D1500D015247}">
      <dgm:prSet/>
      <dgm:spPr/>
      <dgm:t>
        <a:bodyPr/>
        <a:lstStyle/>
        <a:p>
          <a:endParaRPr lang="en-IN"/>
        </a:p>
      </dgm:t>
    </dgm:pt>
    <dgm:pt modelId="{6941DA37-B500-4374-BFBD-2F2637B5A2CD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 Engine: 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Power Query (M Language) – Leveraged for the ETL process: cleaning raw US Election datasets, handling missing values, and normalizing state/county naming conventions.</a:t>
          </a:r>
          <a:endParaRPr lang="en-IN" dirty="0"/>
        </a:p>
      </dgm:t>
    </dgm:pt>
    <dgm:pt modelId="{7DB56DE7-DE25-46A8-9441-DA978E3B5B83}" type="parTrans" cxnId="{BF001C6E-1658-4A22-9ADF-EBAB2692E9C3}">
      <dgm:prSet/>
      <dgm:spPr/>
      <dgm:t>
        <a:bodyPr/>
        <a:lstStyle/>
        <a:p>
          <a:endParaRPr lang="en-IN"/>
        </a:p>
      </dgm:t>
    </dgm:pt>
    <dgm:pt modelId="{CD317654-616C-4DD1-8284-44293A48D4FF}" type="sibTrans" cxnId="{BF001C6E-1658-4A22-9ADF-EBAB2692E9C3}">
      <dgm:prSet/>
      <dgm:spPr/>
      <dgm:t>
        <a:bodyPr/>
        <a:lstStyle/>
        <a:p>
          <a:endParaRPr lang="en-IN"/>
        </a:p>
      </dgm:t>
    </dgm:pt>
    <dgm:pt modelId="{4E5657C3-F7CA-4067-AA52-195D66BCDED1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Analytical Logic: </a:t>
          </a: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DAX (Data Analysis Expressions) – Created custom measures to calculate complex metrics like Weighted Vote Share %, Electoral Thresholds, and Year-over-Year Participation Trends</a:t>
          </a:r>
          <a:endParaRPr lang="en-IN" dirty="0"/>
        </a:p>
      </dgm:t>
    </dgm:pt>
    <dgm:pt modelId="{EC8CE576-4D3D-4A39-9AD6-EFBC3AE4432B}" type="parTrans" cxnId="{888B3A7D-B64D-4A41-9D87-673BB734812F}">
      <dgm:prSet/>
      <dgm:spPr/>
      <dgm:t>
        <a:bodyPr/>
        <a:lstStyle/>
        <a:p>
          <a:endParaRPr lang="en-IN"/>
        </a:p>
      </dgm:t>
    </dgm:pt>
    <dgm:pt modelId="{54B9D9F1-820C-439A-AB4D-EE4CE61784FD}" type="sibTrans" cxnId="{888B3A7D-B64D-4A41-9D87-673BB734812F}">
      <dgm:prSet/>
      <dgm:spPr/>
      <dgm:t>
        <a:bodyPr/>
        <a:lstStyle/>
        <a:p>
          <a:endParaRPr lang="en-IN"/>
        </a:p>
      </dgm:t>
    </dgm:pt>
    <dgm:pt modelId="{E608093B-F6AC-4F2D-AD4B-3E0B3B8984BC}" type="pres">
      <dgm:prSet presAssocID="{A8A0B4B6-07DA-4E91-9268-62EB74E53210}" presName="linearFlow" presStyleCnt="0">
        <dgm:presLayoutVars>
          <dgm:dir/>
          <dgm:resizeHandles val="exact"/>
        </dgm:presLayoutVars>
      </dgm:prSet>
      <dgm:spPr/>
    </dgm:pt>
    <dgm:pt modelId="{594AB194-E563-431D-A282-02A61464B4FA}" type="pres">
      <dgm:prSet presAssocID="{50CD74FC-418B-486A-8225-B312A0A4D196}" presName="composite" presStyleCnt="0"/>
      <dgm:spPr/>
    </dgm:pt>
    <dgm:pt modelId="{800E1778-902A-4E87-8EE2-B408E59F95B4}" type="pres">
      <dgm:prSet presAssocID="{50CD74FC-418B-486A-8225-B312A0A4D196}" presName="imgShp" presStyleLbl="fgImgPlace1" presStyleIdx="0" presStyleCnt="3"/>
      <dgm:spPr/>
    </dgm:pt>
    <dgm:pt modelId="{EF877A29-685E-45D7-8F5C-AD8C89ABB58D}" type="pres">
      <dgm:prSet presAssocID="{50CD74FC-418B-486A-8225-B312A0A4D196}" presName="txShp" presStyleLbl="node1" presStyleIdx="0" presStyleCnt="3">
        <dgm:presLayoutVars>
          <dgm:bulletEnabled val="1"/>
        </dgm:presLayoutVars>
      </dgm:prSet>
      <dgm:spPr/>
    </dgm:pt>
    <dgm:pt modelId="{5AE8DE25-4560-46AA-9A7B-441D3ABCBF01}" type="pres">
      <dgm:prSet presAssocID="{87B59BD1-1BC4-4DA4-941C-DA866657B897}" presName="spacing" presStyleCnt="0"/>
      <dgm:spPr/>
    </dgm:pt>
    <dgm:pt modelId="{BD58AF93-8FC6-472B-ABB3-CE94095BD33E}" type="pres">
      <dgm:prSet presAssocID="{6941DA37-B500-4374-BFBD-2F2637B5A2CD}" presName="composite" presStyleCnt="0"/>
      <dgm:spPr/>
    </dgm:pt>
    <dgm:pt modelId="{4C39D869-8575-464B-8D5A-F0809DEFDA84}" type="pres">
      <dgm:prSet presAssocID="{6941DA37-B500-4374-BFBD-2F2637B5A2CD}" presName="imgShp" presStyleLbl="fgImgPlace1" presStyleIdx="1" presStyleCnt="3"/>
      <dgm:spPr/>
    </dgm:pt>
    <dgm:pt modelId="{4EF888B6-E288-4399-93C0-A35989B9D5E4}" type="pres">
      <dgm:prSet presAssocID="{6941DA37-B500-4374-BFBD-2F2637B5A2CD}" presName="txShp" presStyleLbl="node1" presStyleIdx="1" presStyleCnt="3">
        <dgm:presLayoutVars>
          <dgm:bulletEnabled val="1"/>
        </dgm:presLayoutVars>
      </dgm:prSet>
      <dgm:spPr/>
    </dgm:pt>
    <dgm:pt modelId="{5EC28CDF-840A-4C4A-987E-406F2145E45C}" type="pres">
      <dgm:prSet presAssocID="{CD317654-616C-4DD1-8284-44293A48D4FF}" presName="spacing" presStyleCnt="0"/>
      <dgm:spPr/>
    </dgm:pt>
    <dgm:pt modelId="{3D98BA07-346F-4D86-919B-A5F2475BB642}" type="pres">
      <dgm:prSet presAssocID="{4E5657C3-F7CA-4067-AA52-195D66BCDED1}" presName="composite" presStyleCnt="0"/>
      <dgm:spPr/>
    </dgm:pt>
    <dgm:pt modelId="{3A611752-55EE-4722-8A32-463BB7EE40C7}" type="pres">
      <dgm:prSet presAssocID="{4E5657C3-F7CA-4067-AA52-195D66BCDED1}" presName="imgShp" presStyleLbl="fgImgPlace1" presStyleIdx="2" presStyleCnt="3"/>
      <dgm:spPr/>
    </dgm:pt>
    <dgm:pt modelId="{21FFA8D4-1FB3-44C5-AB5E-25A90C230347}" type="pres">
      <dgm:prSet presAssocID="{4E5657C3-F7CA-4067-AA52-195D66BCDED1}" presName="txShp" presStyleLbl="node1" presStyleIdx="2" presStyleCnt="3">
        <dgm:presLayoutVars>
          <dgm:bulletEnabled val="1"/>
        </dgm:presLayoutVars>
      </dgm:prSet>
      <dgm:spPr/>
    </dgm:pt>
  </dgm:ptLst>
  <dgm:cxnLst>
    <dgm:cxn modelId="{BF001C6E-1658-4A22-9ADF-EBAB2692E9C3}" srcId="{A8A0B4B6-07DA-4E91-9268-62EB74E53210}" destId="{6941DA37-B500-4374-BFBD-2F2637B5A2CD}" srcOrd="1" destOrd="0" parTransId="{7DB56DE7-DE25-46A8-9441-DA978E3B5B83}" sibTransId="{CD317654-616C-4DD1-8284-44293A48D4FF}"/>
    <dgm:cxn modelId="{D56BE077-5D73-46FB-A171-AE8C0FF717B9}" type="presOf" srcId="{6941DA37-B500-4374-BFBD-2F2637B5A2CD}" destId="{4EF888B6-E288-4399-93C0-A35989B9D5E4}" srcOrd="0" destOrd="0" presId="urn:microsoft.com/office/officeart/2005/8/layout/vList3"/>
    <dgm:cxn modelId="{888B3A7D-B64D-4A41-9D87-673BB734812F}" srcId="{A8A0B4B6-07DA-4E91-9268-62EB74E53210}" destId="{4E5657C3-F7CA-4067-AA52-195D66BCDED1}" srcOrd="2" destOrd="0" parTransId="{EC8CE576-4D3D-4A39-9AD6-EFBC3AE4432B}" sibTransId="{54B9D9F1-820C-439A-AB4D-EE4CE61784FD}"/>
    <dgm:cxn modelId="{3B1DABAE-F847-49DC-8770-5E63C7E55DF3}" type="presOf" srcId="{50CD74FC-418B-486A-8225-B312A0A4D196}" destId="{EF877A29-685E-45D7-8F5C-AD8C89ABB58D}" srcOrd="0" destOrd="0" presId="urn:microsoft.com/office/officeart/2005/8/layout/vList3"/>
    <dgm:cxn modelId="{A2D1EAB6-AE21-45A9-AF44-323E7983A4A7}" type="presOf" srcId="{4E5657C3-F7CA-4067-AA52-195D66BCDED1}" destId="{21FFA8D4-1FB3-44C5-AB5E-25A90C230347}" srcOrd="0" destOrd="0" presId="urn:microsoft.com/office/officeart/2005/8/layout/vList3"/>
    <dgm:cxn modelId="{A4167CCA-CD84-458E-9636-D1500D015247}" srcId="{A8A0B4B6-07DA-4E91-9268-62EB74E53210}" destId="{50CD74FC-418B-486A-8225-B312A0A4D196}" srcOrd="0" destOrd="0" parTransId="{4B5AAC74-826F-470D-9916-9BF5E23339D8}" sibTransId="{87B59BD1-1BC4-4DA4-941C-DA866657B897}"/>
    <dgm:cxn modelId="{445647F8-7B27-4601-8421-667135E7F090}" type="presOf" srcId="{A8A0B4B6-07DA-4E91-9268-62EB74E53210}" destId="{E608093B-F6AC-4F2D-AD4B-3E0B3B8984BC}" srcOrd="0" destOrd="0" presId="urn:microsoft.com/office/officeart/2005/8/layout/vList3"/>
    <dgm:cxn modelId="{718CCA9C-2928-4754-BB59-573DF2CCEE3D}" type="presParOf" srcId="{E608093B-F6AC-4F2D-AD4B-3E0B3B8984BC}" destId="{594AB194-E563-431D-A282-02A61464B4FA}" srcOrd="0" destOrd="0" presId="urn:microsoft.com/office/officeart/2005/8/layout/vList3"/>
    <dgm:cxn modelId="{452BA666-99F5-4015-909C-67E395EE9467}" type="presParOf" srcId="{594AB194-E563-431D-A282-02A61464B4FA}" destId="{800E1778-902A-4E87-8EE2-B408E59F95B4}" srcOrd="0" destOrd="0" presId="urn:microsoft.com/office/officeart/2005/8/layout/vList3"/>
    <dgm:cxn modelId="{3CE52D54-6548-4B6B-98A8-B78F1347F642}" type="presParOf" srcId="{594AB194-E563-431D-A282-02A61464B4FA}" destId="{EF877A29-685E-45D7-8F5C-AD8C89ABB58D}" srcOrd="1" destOrd="0" presId="urn:microsoft.com/office/officeart/2005/8/layout/vList3"/>
    <dgm:cxn modelId="{3358A358-DAD2-4381-AB1B-FB7870BF4A69}" type="presParOf" srcId="{E608093B-F6AC-4F2D-AD4B-3E0B3B8984BC}" destId="{5AE8DE25-4560-46AA-9A7B-441D3ABCBF01}" srcOrd="1" destOrd="0" presId="urn:microsoft.com/office/officeart/2005/8/layout/vList3"/>
    <dgm:cxn modelId="{07271CF5-FEDD-4B65-A2A0-A26A59F8A565}" type="presParOf" srcId="{E608093B-F6AC-4F2D-AD4B-3E0B3B8984BC}" destId="{BD58AF93-8FC6-472B-ABB3-CE94095BD33E}" srcOrd="2" destOrd="0" presId="urn:microsoft.com/office/officeart/2005/8/layout/vList3"/>
    <dgm:cxn modelId="{22CEB680-A5FA-48D3-81BE-D32D0AF2C6A1}" type="presParOf" srcId="{BD58AF93-8FC6-472B-ABB3-CE94095BD33E}" destId="{4C39D869-8575-464B-8D5A-F0809DEFDA84}" srcOrd="0" destOrd="0" presId="urn:microsoft.com/office/officeart/2005/8/layout/vList3"/>
    <dgm:cxn modelId="{BA1707B1-404A-42D2-B1D7-008009282162}" type="presParOf" srcId="{BD58AF93-8FC6-472B-ABB3-CE94095BD33E}" destId="{4EF888B6-E288-4399-93C0-A35989B9D5E4}" srcOrd="1" destOrd="0" presId="urn:microsoft.com/office/officeart/2005/8/layout/vList3"/>
    <dgm:cxn modelId="{B37BA239-DA48-45CC-9977-D252641687A0}" type="presParOf" srcId="{E608093B-F6AC-4F2D-AD4B-3E0B3B8984BC}" destId="{5EC28CDF-840A-4C4A-987E-406F2145E45C}" srcOrd="3" destOrd="0" presId="urn:microsoft.com/office/officeart/2005/8/layout/vList3"/>
    <dgm:cxn modelId="{8AA0DB57-95BB-480F-B8D5-DF95A0285A19}" type="presParOf" srcId="{E608093B-F6AC-4F2D-AD4B-3E0B3B8984BC}" destId="{3D98BA07-346F-4D86-919B-A5F2475BB642}" srcOrd="4" destOrd="0" presId="urn:microsoft.com/office/officeart/2005/8/layout/vList3"/>
    <dgm:cxn modelId="{06188AAF-B425-4D7B-9680-6EF7940FCA35}" type="presParOf" srcId="{3D98BA07-346F-4D86-919B-A5F2475BB642}" destId="{3A611752-55EE-4722-8A32-463BB7EE40C7}" srcOrd="0" destOrd="0" presId="urn:microsoft.com/office/officeart/2005/8/layout/vList3"/>
    <dgm:cxn modelId="{1D52A6CF-C141-4587-A812-3FB0B2125D88}" type="presParOf" srcId="{3D98BA07-346F-4D86-919B-A5F2475BB642}" destId="{21FFA8D4-1FB3-44C5-AB5E-25A90C23034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BA650E-7EC3-451A-86A7-D30D23E86C54}">
      <dsp:nvSpPr>
        <dsp:cNvPr id="0" name=""/>
        <dsp:cNvSpPr/>
      </dsp:nvSpPr>
      <dsp:spPr>
        <a:xfrm>
          <a:off x="416" y="0"/>
          <a:ext cx="1793234" cy="2115474"/>
        </a:xfrm>
        <a:prstGeom prst="roundRect">
          <a:avLst>
            <a:gd name="adj" fmla="val 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88900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 dirty="0"/>
        </a:p>
      </dsp:txBody>
      <dsp:txXfrm rot="16200000">
        <a:off x="-687604" y="688020"/>
        <a:ext cx="1734688" cy="358646"/>
      </dsp:txXfrm>
    </dsp:sp>
    <dsp:sp modelId="{FA98EA8D-C5CE-4DD6-98E3-82F1F5B952B9}">
      <dsp:nvSpPr>
        <dsp:cNvPr id="0" name=""/>
        <dsp:cNvSpPr/>
      </dsp:nvSpPr>
      <dsp:spPr>
        <a:xfrm>
          <a:off x="359063" y="0"/>
          <a:ext cx="1335959" cy="2115474"/>
        </a:xfrm>
        <a:prstGeom prst="rect">
          <a:avLst/>
        </a:prstGeom>
        <a:noFill/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800" kern="1200" dirty="0"/>
            <a:t>Data Collection</a:t>
          </a:r>
        </a:p>
      </dsp:txBody>
      <dsp:txXfrm>
        <a:off x="359063" y="0"/>
        <a:ext cx="1335959" cy="2115474"/>
      </dsp:txXfrm>
    </dsp:sp>
    <dsp:sp modelId="{CDA2E126-F0A5-4BB6-8638-3735B9AEF291}">
      <dsp:nvSpPr>
        <dsp:cNvPr id="0" name=""/>
        <dsp:cNvSpPr/>
      </dsp:nvSpPr>
      <dsp:spPr>
        <a:xfrm>
          <a:off x="1856414" y="0"/>
          <a:ext cx="1793234" cy="2115474"/>
        </a:xfrm>
        <a:prstGeom prst="roundRect">
          <a:avLst>
            <a:gd name="adj" fmla="val 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88900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 dirty="0"/>
        </a:p>
      </dsp:txBody>
      <dsp:txXfrm rot="16200000">
        <a:off x="1168393" y="688020"/>
        <a:ext cx="1734688" cy="358646"/>
      </dsp:txXfrm>
    </dsp:sp>
    <dsp:sp modelId="{CB200755-7384-44CF-9D36-B58930DF09F7}">
      <dsp:nvSpPr>
        <dsp:cNvPr id="0" name=""/>
        <dsp:cNvSpPr/>
      </dsp:nvSpPr>
      <dsp:spPr>
        <a:xfrm rot="5400000">
          <a:off x="1709917" y="1679241"/>
          <a:ext cx="310925" cy="268985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6B38283-AEA5-41F7-812C-FFF3B2DEB625}">
      <dsp:nvSpPr>
        <dsp:cNvPr id="0" name=""/>
        <dsp:cNvSpPr/>
      </dsp:nvSpPr>
      <dsp:spPr>
        <a:xfrm>
          <a:off x="2215061" y="0"/>
          <a:ext cx="1335959" cy="2115474"/>
        </a:xfrm>
        <a:prstGeom prst="rect">
          <a:avLst/>
        </a:prstGeom>
        <a:noFill/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Data Preprocessing</a:t>
          </a:r>
        </a:p>
      </dsp:txBody>
      <dsp:txXfrm>
        <a:off x="2215061" y="0"/>
        <a:ext cx="1335959" cy="2115474"/>
      </dsp:txXfrm>
    </dsp:sp>
    <dsp:sp modelId="{21F2413B-FA96-44A8-8DB7-D6D50EBBC17F}">
      <dsp:nvSpPr>
        <dsp:cNvPr id="0" name=""/>
        <dsp:cNvSpPr/>
      </dsp:nvSpPr>
      <dsp:spPr>
        <a:xfrm>
          <a:off x="3712412" y="0"/>
          <a:ext cx="1793234" cy="2115474"/>
        </a:xfrm>
        <a:prstGeom prst="roundRect">
          <a:avLst>
            <a:gd name="adj" fmla="val 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88900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 dirty="0"/>
        </a:p>
      </dsp:txBody>
      <dsp:txXfrm rot="16200000">
        <a:off x="3024391" y="688020"/>
        <a:ext cx="1734688" cy="358646"/>
      </dsp:txXfrm>
    </dsp:sp>
    <dsp:sp modelId="{27D9FF02-E134-40C5-BF68-81F34F599743}">
      <dsp:nvSpPr>
        <dsp:cNvPr id="0" name=""/>
        <dsp:cNvSpPr/>
      </dsp:nvSpPr>
      <dsp:spPr>
        <a:xfrm rot="5400000">
          <a:off x="3565915" y="1679241"/>
          <a:ext cx="310925" cy="268985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BC6F4AD-F92E-4E34-88D5-A9000F809521}">
      <dsp:nvSpPr>
        <dsp:cNvPr id="0" name=""/>
        <dsp:cNvSpPr/>
      </dsp:nvSpPr>
      <dsp:spPr>
        <a:xfrm>
          <a:off x="4071059" y="0"/>
          <a:ext cx="1335959" cy="2115474"/>
        </a:xfrm>
        <a:prstGeom prst="rect">
          <a:avLst/>
        </a:prstGeom>
        <a:noFill/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Data </a:t>
          </a:r>
          <a:r>
            <a:rPr lang="en-IN" sz="1800" kern="1200" dirty="0" err="1"/>
            <a:t>Modeling</a:t>
          </a:r>
          <a:endParaRPr lang="en-IN" sz="1800" kern="1200" dirty="0"/>
        </a:p>
      </dsp:txBody>
      <dsp:txXfrm>
        <a:off x="4071059" y="0"/>
        <a:ext cx="1335959" cy="21154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877A29-685E-45D7-8F5C-AD8C89ABB58D}">
      <dsp:nvSpPr>
        <dsp:cNvPr id="0" name=""/>
        <dsp:cNvSpPr/>
      </dsp:nvSpPr>
      <dsp:spPr>
        <a:xfrm rot="10800000">
          <a:off x="1820993" y="1343"/>
          <a:ext cx="5996862" cy="124202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769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Primary Platform: </a:t>
          </a:r>
          <a:r>
            <a:rPr lang="en-US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Microsoft Power BI Desktop – core environment for building full analytical pipeline — from data modeling and DAX calculations to crafting interactive dashboards.</a:t>
          </a:r>
          <a:endParaRPr lang="en-IN" sz="1800" kern="1200" dirty="0"/>
        </a:p>
      </dsp:txBody>
      <dsp:txXfrm rot="10800000">
        <a:off x="2131498" y="1343"/>
        <a:ext cx="5686357" cy="1242022"/>
      </dsp:txXfrm>
    </dsp:sp>
    <dsp:sp modelId="{800E1778-902A-4E87-8EE2-B408E59F95B4}">
      <dsp:nvSpPr>
        <dsp:cNvPr id="0" name=""/>
        <dsp:cNvSpPr/>
      </dsp:nvSpPr>
      <dsp:spPr>
        <a:xfrm>
          <a:off x="1199982" y="1343"/>
          <a:ext cx="1242022" cy="124202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F888B6-E288-4399-93C0-A35989B9D5E4}">
      <dsp:nvSpPr>
        <dsp:cNvPr id="0" name=""/>
        <dsp:cNvSpPr/>
      </dsp:nvSpPr>
      <dsp:spPr>
        <a:xfrm rot="10800000">
          <a:off x="1820993" y="1614118"/>
          <a:ext cx="5996862" cy="124202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769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 Engine: </a:t>
          </a:r>
          <a:r>
            <a:rPr lang="en-US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Power Query (M Language) – Leveraged for the ETL process: cleaning raw US Election datasets, handling missing values, and normalizing state/county naming conventions.</a:t>
          </a:r>
          <a:endParaRPr lang="en-IN" sz="1800" kern="1200" dirty="0"/>
        </a:p>
      </dsp:txBody>
      <dsp:txXfrm rot="10800000">
        <a:off x="2131498" y="1614118"/>
        <a:ext cx="5686357" cy="1242022"/>
      </dsp:txXfrm>
    </dsp:sp>
    <dsp:sp modelId="{4C39D869-8575-464B-8D5A-F0809DEFDA84}">
      <dsp:nvSpPr>
        <dsp:cNvPr id="0" name=""/>
        <dsp:cNvSpPr/>
      </dsp:nvSpPr>
      <dsp:spPr>
        <a:xfrm>
          <a:off x="1199982" y="1614118"/>
          <a:ext cx="1242022" cy="124202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FFA8D4-1FB3-44C5-AB5E-25A90C230347}">
      <dsp:nvSpPr>
        <dsp:cNvPr id="0" name=""/>
        <dsp:cNvSpPr/>
      </dsp:nvSpPr>
      <dsp:spPr>
        <a:xfrm rot="10800000">
          <a:off x="1820993" y="3226894"/>
          <a:ext cx="5996862" cy="124202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7697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Analytical Logic: </a:t>
          </a:r>
          <a:r>
            <a:rPr lang="en-US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DAX (Data Analysis Expressions) – Created custom measures to calculate complex metrics like Weighted Vote Share %, Electoral Thresholds, and Year-over-Year Participation Trends</a:t>
          </a:r>
          <a:endParaRPr lang="en-IN" sz="1800" kern="1200" dirty="0"/>
        </a:p>
      </dsp:txBody>
      <dsp:txXfrm rot="10800000">
        <a:off x="2131498" y="3226894"/>
        <a:ext cx="5686357" cy="1242022"/>
      </dsp:txXfrm>
    </dsp:sp>
    <dsp:sp modelId="{3A611752-55EE-4722-8A32-463BB7EE40C7}">
      <dsp:nvSpPr>
        <dsp:cNvPr id="0" name=""/>
        <dsp:cNvSpPr/>
      </dsp:nvSpPr>
      <dsp:spPr>
        <a:xfrm>
          <a:off x="1199982" y="3226894"/>
          <a:ext cx="1242022" cy="124202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02E46-9277-4B14-9B15-9E643255CC8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CADC6-660E-49E4-9D90-33FC758CE3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85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1CADC6-660E-49E4-9D90-33FC758CE39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898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EC283-39EA-4997-90FD-E6CDBA984E5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044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41FF-CBB5-42C7-AA66-4487F1966E2E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F273E-8C5D-46B3-8CA9-17E50A0F69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367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41FF-CBB5-42C7-AA66-4487F1966E2E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F273E-8C5D-46B3-8CA9-17E50A0F69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450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41FF-CBB5-42C7-AA66-4487F1966E2E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F273E-8C5D-46B3-8CA9-17E50A0F69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45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41FF-CBB5-42C7-AA66-4487F1966E2E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F273E-8C5D-46B3-8CA9-17E50A0F69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139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41FF-CBB5-42C7-AA66-4487F1966E2E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F273E-8C5D-46B3-8CA9-17E50A0F69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297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41FF-CBB5-42C7-AA66-4487F1966E2E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F273E-8C5D-46B3-8CA9-17E50A0F69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960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41FF-CBB5-42C7-AA66-4487F1966E2E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F273E-8C5D-46B3-8CA9-17E50A0F69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467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41FF-CBB5-42C7-AA66-4487F1966E2E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F273E-8C5D-46B3-8CA9-17E50A0F69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813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41FF-CBB5-42C7-AA66-4487F1966E2E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F273E-8C5D-46B3-8CA9-17E50A0F69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36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41FF-CBB5-42C7-AA66-4487F1966E2E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F273E-8C5D-46B3-8CA9-17E50A0F69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925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41FF-CBB5-42C7-AA66-4487F1966E2E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F273E-8C5D-46B3-8CA9-17E50A0F69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039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B7141FF-CBB5-42C7-AA66-4487F1966E2E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A4BF273E-8C5D-46B3-8CA9-17E50A0F69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838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8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A3D2B-976A-6805-0AB4-D5D9E2EE6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4373076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b="1" dirty="0" err="1">
                <a:latin typeface="Verdana" panose="020B0604030504040204" pitchFamily="34" charset="0"/>
                <a:ea typeface="Verdana" panose="020B0604030504040204" pitchFamily="34" charset="0"/>
              </a:rPr>
              <a:t>ElectViz</a:t>
            </a:r>
            <a: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: Election Data Visualization for Media</a:t>
            </a:r>
            <a:b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Batch-11</a:t>
            </a:r>
            <a:endParaRPr lang="en-IN" sz="1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531828F-2798-8BE8-56E0-23C8257DB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65333" y="1978239"/>
            <a:ext cx="2926667" cy="3013494"/>
          </a:xfrm>
        </p:spPr>
        <p:txBody>
          <a:bodyPr anchor="ctr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en-IN" sz="1800" dirty="0">
                <a:solidFill>
                  <a:schemeClr val="tx1"/>
                </a:solidFill>
              </a:rPr>
              <a:t>Mentor : Mrs. Nithyasri S J</a:t>
            </a:r>
          </a:p>
          <a:p>
            <a:pPr algn="ctr">
              <a:spcBef>
                <a:spcPts val="600"/>
              </a:spcBef>
            </a:pPr>
            <a:endParaRPr lang="en-IN" sz="18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en-IN" sz="1800" dirty="0">
                <a:solidFill>
                  <a:schemeClr val="tx1"/>
                </a:solidFill>
              </a:rPr>
              <a:t>Interns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Neelapu Herambudu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Francis Daniel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Swathika Murugan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Shaik Shabeena Praveen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Gopi Krishna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Tanmay </a:t>
            </a:r>
            <a:r>
              <a:rPr lang="en-IN" sz="1800" dirty="0" err="1">
                <a:solidFill>
                  <a:schemeClr val="tx1"/>
                </a:solidFill>
              </a:rPr>
              <a:t>Parulkar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1686FA-AF0C-EA9B-7DD1-A0235DCF5DFF}"/>
              </a:ext>
            </a:extLst>
          </p:cNvPr>
          <p:cNvSpPr txBox="1"/>
          <p:nvPr/>
        </p:nvSpPr>
        <p:spPr>
          <a:xfrm>
            <a:off x="1179870" y="4760900"/>
            <a:ext cx="7205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Presented by Tanmay Parulkar</a:t>
            </a:r>
            <a:endParaRPr lang="en-I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385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7EF5E-1360-ACD8-7139-838981D70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90452" cy="4601183"/>
          </a:xfrm>
        </p:spPr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Introduction</a:t>
            </a:r>
            <a:b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(Project Overview)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E02B563-4D87-4D75-FC5E-1DDB182406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62260" y="608483"/>
            <a:ext cx="7841482" cy="5859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Mission: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create an election analytics dashboard that does more than show numbers — it reveals the story behind the results, highlighting trends, shifts, and patterns hidden within the data.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Information Gap: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 Elections are uniquely complex, the public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needs a clear guide to navigate the "Red Mirages" and shifting data of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election night.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 Value: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Specialized for newsrooms to transform high-volume data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(like AP feeds) into broadcast-ready stories instantly.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Human Connection: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bridge the gap between cold statistics and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the real-world concerns of voters, making the democratic process  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accessible to everyone.</a:t>
            </a:r>
          </a:p>
        </p:txBody>
      </p:sp>
    </p:spTree>
    <p:extLst>
      <p:ext uri="{BB962C8B-B14F-4D97-AF65-F5344CB8AC3E}">
        <p14:creationId xmlns:p14="http://schemas.microsoft.com/office/powerpoint/2010/main" val="1897350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76093E3-7F5F-7C0E-28E5-23D7629AAD53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946193653"/>
              </p:ext>
            </p:extLst>
          </p:nvPr>
        </p:nvGraphicFramePr>
        <p:xfrm>
          <a:off x="383459" y="962025"/>
          <a:ext cx="5506064" cy="21154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8" name="Arrow: Bent-Up 47">
            <a:extLst>
              <a:ext uri="{FF2B5EF4-FFF2-40B4-BE49-F238E27FC236}">
                <a16:creationId xmlns:a16="http://schemas.microsoft.com/office/drawing/2014/main" id="{3218EE4B-749C-FF27-EE27-17BF6DFBB0E6}"/>
              </a:ext>
            </a:extLst>
          </p:cNvPr>
          <p:cNvSpPr/>
          <p:nvPr/>
        </p:nvSpPr>
        <p:spPr>
          <a:xfrm rot="5400000">
            <a:off x="4435577" y="3285205"/>
            <a:ext cx="1696063" cy="1624780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86C7AF3-9451-CA4C-D6E7-A63E4E153A96}"/>
              </a:ext>
            </a:extLst>
          </p:cNvPr>
          <p:cNvSpPr txBox="1"/>
          <p:nvPr/>
        </p:nvSpPr>
        <p:spPr>
          <a:xfrm>
            <a:off x="383459" y="1568246"/>
            <a:ext cx="18976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Gathered dataset from Kaggle covering 25 year span of data from US Elections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E809687-8061-0A63-23EE-2F22FB986CEC}"/>
              </a:ext>
            </a:extLst>
          </p:cNvPr>
          <p:cNvSpPr txBox="1"/>
          <p:nvPr/>
        </p:nvSpPr>
        <p:spPr>
          <a:xfrm>
            <a:off x="2403987" y="1568246"/>
            <a:ext cx="16813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Removed,</a:t>
            </a:r>
          </a:p>
          <a:p>
            <a:r>
              <a:rPr lang="en-IN" sz="1600" dirty="0">
                <a:solidFill>
                  <a:schemeClr val="bg1"/>
                </a:solidFill>
              </a:rPr>
              <a:t>Cleaned &amp; </a:t>
            </a:r>
            <a:r>
              <a:rPr lang="en-IN" sz="1600" dirty="0" err="1">
                <a:solidFill>
                  <a:schemeClr val="bg1"/>
                </a:solidFill>
              </a:rPr>
              <a:t>Imputated</a:t>
            </a:r>
            <a:r>
              <a:rPr lang="en-IN" sz="1600" dirty="0">
                <a:solidFill>
                  <a:schemeClr val="bg1"/>
                </a:solidFill>
              </a:rPr>
              <a:t> Values for uniformity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7787962-FACA-2FAE-3B54-D107B6CC822F}"/>
              </a:ext>
            </a:extLst>
          </p:cNvPr>
          <p:cNvSpPr txBox="1"/>
          <p:nvPr/>
        </p:nvSpPr>
        <p:spPr>
          <a:xfrm>
            <a:off x="4144297" y="1546431"/>
            <a:ext cx="18976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Created relations between </a:t>
            </a:r>
            <a:r>
              <a:rPr lang="en-IN" sz="1600" dirty="0" err="1">
                <a:solidFill>
                  <a:schemeClr val="bg1"/>
                </a:solidFill>
              </a:rPr>
              <a:t>candidates,parties</a:t>
            </a:r>
            <a:r>
              <a:rPr lang="en-IN" sz="1600" dirty="0">
                <a:solidFill>
                  <a:schemeClr val="bg1"/>
                </a:solidFill>
              </a:rPr>
              <a:t>,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states,election</a:t>
            </a:r>
            <a:r>
              <a:rPr lang="en-IN" sz="1600" dirty="0">
                <a:solidFill>
                  <a:schemeClr val="bg1"/>
                </a:solidFill>
              </a:rPr>
              <a:t> year for analysis</a:t>
            </a: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8AB028E1-B2F5-6ADC-6D0D-E079437D1EA9}"/>
              </a:ext>
            </a:extLst>
          </p:cNvPr>
          <p:cNvGrpSpPr/>
          <p:nvPr/>
        </p:nvGrpSpPr>
        <p:grpSpPr>
          <a:xfrm>
            <a:off x="6342224" y="3688786"/>
            <a:ext cx="1793234" cy="2115475"/>
            <a:chOff x="416" y="-1"/>
            <a:chExt cx="1793234" cy="2115475"/>
          </a:xfrm>
        </p:grpSpPr>
        <p:sp>
          <p:nvSpPr>
            <p:cNvPr id="169" name="Rectangle: Rounded Corners 168">
              <a:extLst>
                <a:ext uri="{FF2B5EF4-FFF2-40B4-BE49-F238E27FC236}">
                  <a16:creationId xmlns:a16="http://schemas.microsoft.com/office/drawing/2014/main" id="{95AC4FD7-48D2-8732-C3F8-821594EF362B}"/>
                </a:ext>
              </a:extLst>
            </p:cNvPr>
            <p:cNvSpPr/>
            <p:nvPr/>
          </p:nvSpPr>
          <p:spPr>
            <a:xfrm>
              <a:off x="416" y="0"/>
              <a:ext cx="1793234" cy="2115474"/>
            </a:xfrm>
            <a:prstGeom prst="roundRect">
              <a:avLst>
                <a:gd name="adj" fmla="val 5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3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0" name="Rectangle: Rounded Corners 4">
              <a:extLst>
                <a:ext uri="{FF2B5EF4-FFF2-40B4-BE49-F238E27FC236}">
                  <a16:creationId xmlns:a16="http://schemas.microsoft.com/office/drawing/2014/main" id="{095DEAE7-1A69-E980-0FE1-47374619BB29}"/>
                </a:ext>
              </a:extLst>
            </p:cNvPr>
            <p:cNvSpPr txBox="1"/>
            <p:nvPr/>
          </p:nvSpPr>
          <p:spPr>
            <a:xfrm rot="16200000">
              <a:off x="-687604" y="688020"/>
              <a:ext cx="1734688" cy="3586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68580" rIns="88900" bIns="0" numCol="1" spcCol="1270" anchor="t" anchorCtr="0">
              <a:noAutofit/>
            </a:bodyPr>
            <a:lstStyle/>
            <a:p>
              <a:pPr marL="0" lvl="0" indent="0" algn="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000" kern="1200" dirty="0"/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BD8FED3E-5139-7156-2D7F-253E8C9A50F0}"/>
              </a:ext>
            </a:extLst>
          </p:cNvPr>
          <p:cNvGrpSpPr/>
          <p:nvPr/>
        </p:nvGrpSpPr>
        <p:grpSpPr>
          <a:xfrm>
            <a:off x="8198222" y="3688786"/>
            <a:ext cx="1793234" cy="2115475"/>
            <a:chOff x="1856414" y="-1"/>
            <a:chExt cx="1793234" cy="2115475"/>
          </a:xfrm>
        </p:grpSpPr>
        <p:sp>
          <p:nvSpPr>
            <p:cNvPr id="167" name="Rectangle: Rounded Corners 166">
              <a:extLst>
                <a:ext uri="{FF2B5EF4-FFF2-40B4-BE49-F238E27FC236}">
                  <a16:creationId xmlns:a16="http://schemas.microsoft.com/office/drawing/2014/main" id="{3B5126F1-2D97-A271-BD2A-2E3743A227E3}"/>
                </a:ext>
              </a:extLst>
            </p:cNvPr>
            <p:cNvSpPr/>
            <p:nvPr/>
          </p:nvSpPr>
          <p:spPr>
            <a:xfrm>
              <a:off x="1856414" y="0"/>
              <a:ext cx="1793234" cy="2115474"/>
            </a:xfrm>
            <a:prstGeom prst="roundRect">
              <a:avLst>
                <a:gd name="adj" fmla="val 5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3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8" name="Rectangle: Rounded Corners 6">
              <a:extLst>
                <a:ext uri="{FF2B5EF4-FFF2-40B4-BE49-F238E27FC236}">
                  <a16:creationId xmlns:a16="http://schemas.microsoft.com/office/drawing/2014/main" id="{508152DF-E972-0E00-3D90-C1D198A504B3}"/>
                </a:ext>
              </a:extLst>
            </p:cNvPr>
            <p:cNvSpPr txBox="1"/>
            <p:nvPr/>
          </p:nvSpPr>
          <p:spPr>
            <a:xfrm rot="16200000">
              <a:off x="1168393" y="688020"/>
              <a:ext cx="1734688" cy="3586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68580" rIns="88900" bIns="0" numCol="1" spcCol="1270" anchor="t" anchorCtr="0">
              <a:noAutofit/>
            </a:bodyPr>
            <a:lstStyle/>
            <a:p>
              <a:pPr marL="0" lvl="0" indent="0" algn="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000" kern="1200" dirty="0"/>
            </a:p>
          </p:txBody>
        </p:sp>
      </p:grpSp>
      <p:sp>
        <p:nvSpPr>
          <p:cNvPr id="162" name="Flowchart: Extract 161">
            <a:extLst>
              <a:ext uri="{FF2B5EF4-FFF2-40B4-BE49-F238E27FC236}">
                <a16:creationId xmlns:a16="http://schemas.microsoft.com/office/drawing/2014/main" id="{887CAB6A-D886-75E6-B88F-5781614047B1}"/>
              </a:ext>
            </a:extLst>
          </p:cNvPr>
          <p:cNvSpPr/>
          <p:nvPr/>
        </p:nvSpPr>
        <p:spPr>
          <a:xfrm rot="5400000">
            <a:off x="8051725" y="5368028"/>
            <a:ext cx="310925" cy="268985"/>
          </a:xfrm>
          <a:prstGeom prst="flowChartExtract">
            <a:avLst/>
          </a:prstGeom>
        </p:spPr>
        <p:style>
          <a:lnRef idx="1">
            <a:schemeClr val="accent5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BD6B2E0B-68D5-C1D2-46F2-440E5B5A7393}"/>
              </a:ext>
            </a:extLst>
          </p:cNvPr>
          <p:cNvGrpSpPr/>
          <p:nvPr/>
        </p:nvGrpSpPr>
        <p:grpSpPr>
          <a:xfrm>
            <a:off x="10054220" y="3688786"/>
            <a:ext cx="1793234" cy="2115475"/>
            <a:chOff x="3712412" y="-1"/>
            <a:chExt cx="1793234" cy="2115475"/>
          </a:xfrm>
        </p:grpSpPr>
        <p:sp>
          <p:nvSpPr>
            <p:cNvPr id="165" name="Rectangle: Rounded Corners 164">
              <a:extLst>
                <a:ext uri="{FF2B5EF4-FFF2-40B4-BE49-F238E27FC236}">
                  <a16:creationId xmlns:a16="http://schemas.microsoft.com/office/drawing/2014/main" id="{E600C5CB-2A5F-D2F5-71D3-8946D408784F}"/>
                </a:ext>
              </a:extLst>
            </p:cNvPr>
            <p:cNvSpPr/>
            <p:nvPr/>
          </p:nvSpPr>
          <p:spPr>
            <a:xfrm>
              <a:off x="3712412" y="0"/>
              <a:ext cx="1793234" cy="2115474"/>
            </a:xfrm>
            <a:prstGeom prst="roundRect">
              <a:avLst>
                <a:gd name="adj" fmla="val 5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3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6" name="Rectangle: Rounded Corners 9">
              <a:extLst>
                <a:ext uri="{FF2B5EF4-FFF2-40B4-BE49-F238E27FC236}">
                  <a16:creationId xmlns:a16="http://schemas.microsoft.com/office/drawing/2014/main" id="{4073E5BF-9B37-90C5-AF2D-BF30061E2B71}"/>
                </a:ext>
              </a:extLst>
            </p:cNvPr>
            <p:cNvSpPr txBox="1"/>
            <p:nvPr/>
          </p:nvSpPr>
          <p:spPr>
            <a:xfrm rot="16200000">
              <a:off x="3024391" y="688020"/>
              <a:ext cx="1734688" cy="3586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68580" rIns="88900" bIns="0" numCol="1" spcCol="1270" anchor="t" anchorCtr="0">
              <a:noAutofit/>
            </a:bodyPr>
            <a:lstStyle/>
            <a:p>
              <a:pPr marL="0" lvl="0" indent="0" algn="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000" kern="1200" dirty="0"/>
            </a:p>
          </p:txBody>
        </p:sp>
      </p:grpSp>
      <p:sp>
        <p:nvSpPr>
          <p:cNvPr id="164" name="Flowchart: Extract 163">
            <a:extLst>
              <a:ext uri="{FF2B5EF4-FFF2-40B4-BE49-F238E27FC236}">
                <a16:creationId xmlns:a16="http://schemas.microsoft.com/office/drawing/2014/main" id="{891DA407-5D8C-76C8-D7FC-FE6CCDFC5726}"/>
              </a:ext>
            </a:extLst>
          </p:cNvPr>
          <p:cNvSpPr/>
          <p:nvPr/>
        </p:nvSpPr>
        <p:spPr>
          <a:xfrm rot="5400000">
            <a:off x="9907723" y="5368028"/>
            <a:ext cx="310925" cy="268985"/>
          </a:xfrm>
          <a:prstGeom prst="flowChartExtract">
            <a:avLst/>
          </a:prstGeom>
        </p:spPr>
        <p:style>
          <a:lnRef idx="1">
            <a:schemeClr val="accent5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ECE3F1BA-B40A-8CE6-147C-E8374A776274}"/>
              </a:ext>
            </a:extLst>
          </p:cNvPr>
          <p:cNvGrpSpPr/>
          <p:nvPr/>
        </p:nvGrpSpPr>
        <p:grpSpPr>
          <a:xfrm>
            <a:off x="6693800" y="3757613"/>
            <a:ext cx="1335959" cy="2115474"/>
            <a:chOff x="359063" y="0"/>
            <a:chExt cx="1335959" cy="2115474"/>
          </a:xfrm>
        </p:grpSpPr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9BD0457C-2E15-8454-5B69-7510B2543616}"/>
                </a:ext>
              </a:extLst>
            </p:cNvPr>
            <p:cNvSpPr/>
            <p:nvPr/>
          </p:nvSpPr>
          <p:spPr>
            <a:xfrm>
              <a:off x="359063" y="0"/>
              <a:ext cx="1335959" cy="2115474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0">
              <a:scrgbClr r="0" g="0" b="0"/>
            </a:lnRef>
            <a:fillRef idx="3">
              <a:scrgbClr r="0" g="0" b="0"/>
            </a:fillRef>
            <a:effectRef idx="3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02D99836-4C6D-C981-EEA7-52B3C61FA559}"/>
                </a:ext>
              </a:extLst>
            </p:cNvPr>
            <p:cNvSpPr txBox="1"/>
            <p:nvPr/>
          </p:nvSpPr>
          <p:spPr>
            <a:xfrm>
              <a:off x="359063" y="0"/>
              <a:ext cx="1335959" cy="211547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61722" rIns="0" bIns="0" numCol="1" spcCol="1270" anchor="t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IN" sz="1800" kern="1200" dirty="0"/>
                <a:t>Dashboard Creation</a:t>
              </a: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010EE217-1DB0-BAED-A93E-A2B92FAEB98B}"/>
              </a:ext>
            </a:extLst>
          </p:cNvPr>
          <p:cNvGrpSpPr/>
          <p:nvPr/>
        </p:nvGrpSpPr>
        <p:grpSpPr>
          <a:xfrm>
            <a:off x="8549798" y="3757613"/>
            <a:ext cx="1335959" cy="2115474"/>
            <a:chOff x="2215061" y="0"/>
            <a:chExt cx="1335959" cy="2115474"/>
          </a:xfrm>
        </p:grpSpPr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696E70E5-DD9A-265F-06D5-3D5DC341C9FA}"/>
                </a:ext>
              </a:extLst>
            </p:cNvPr>
            <p:cNvSpPr/>
            <p:nvPr/>
          </p:nvSpPr>
          <p:spPr>
            <a:xfrm>
              <a:off x="2215061" y="0"/>
              <a:ext cx="1335959" cy="2115474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0">
              <a:scrgbClr r="0" g="0" b="0"/>
            </a:lnRef>
            <a:fillRef idx="3">
              <a:scrgbClr r="0" g="0" b="0"/>
            </a:fillRef>
            <a:effectRef idx="3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737FBB85-A905-B23F-5DD1-E770C8C12418}"/>
                </a:ext>
              </a:extLst>
            </p:cNvPr>
            <p:cNvSpPr txBox="1"/>
            <p:nvPr/>
          </p:nvSpPr>
          <p:spPr>
            <a:xfrm>
              <a:off x="2215061" y="0"/>
              <a:ext cx="1335959" cy="211547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61722" rIns="0" bIns="0" numCol="1" spcCol="1270" anchor="t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800" kern="1200" dirty="0"/>
                <a:t>Insight Generation</a:t>
              </a: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18E84A25-DCA3-A65C-891D-1BE1CEED2202}"/>
              </a:ext>
            </a:extLst>
          </p:cNvPr>
          <p:cNvGrpSpPr/>
          <p:nvPr/>
        </p:nvGrpSpPr>
        <p:grpSpPr>
          <a:xfrm>
            <a:off x="10405796" y="3757613"/>
            <a:ext cx="1335959" cy="2115474"/>
            <a:chOff x="4071059" y="0"/>
            <a:chExt cx="1335959" cy="2115474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31DCC599-DF30-EAF8-930E-AF668FB6197E}"/>
                </a:ext>
              </a:extLst>
            </p:cNvPr>
            <p:cNvSpPr/>
            <p:nvPr/>
          </p:nvSpPr>
          <p:spPr>
            <a:xfrm>
              <a:off x="4071059" y="0"/>
              <a:ext cx="1335959" cy="2115474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0">
              <a:scrgbClr r="0" g="0" b="0"/>
            </a:lnRef>
            <a:fillRef idx="3">
              <a:scrgbClr r="0" g="0" b="0"/>
            </a:fillRef>
            <a:effectRef idx="3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8B853B3E-27E9-0F32-F798-A38633CBD12A}"/>
                </a:ext>
              </a:extLst>
            </p:cNvPr>
            <p:cNvSpPr txBox="1"/>
            <p:nvPr/>
          </p:nvSpPr>
          <p:spPr>
            <a:xfrm>
              <a:off x="4071059" y="0"/>
              <a:ext cx="1335959" cy="211547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61722" rIns="0" bIns="0" numCol="1" spcCol="1270" anchor="t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800" kern="1200" dirty="0"/>
                <a:t>Testing &amp;</a:t>
              </a:r>
            </a:p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dirty="0"/>
                <a:t> Presentation</a:t>
              </a:r>
              <a:endParaRPr lang="en-IN" sz="1800" kern="1200" dirty="0"/>
            </a:p>
          </p:txBody>
        </p: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4F683A41-78B9-5BEE-FEF7-18FD0851ABB8}"/>
              </a:ext>
            </a:extLst>
          </p:cNvPr>
          <p:cNvSpPr txBox="1"/>
          <p:nvPr/>
        </p:nvSpPr>
        <p:spPr>
          <a:xfrm>
            <a:off x="6393793" y="4407018"/>
            <a:ext cx="16813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Designed interactive visuals with slicers and filters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87F53B03-3210-F22E-7F25-68714A829879}"/>
              </a:ext>
            </a:extLst>
          </p:cNvPr>
          <p:cNvSpPr txBox="1"/>
          <p:nvPr/>
        </p:nvSpPr>
        <p:spPr>
          <a:xfrm>
            <a:off x="8353076" y="4380669"/>
            <a:ext cx="16813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Identified major trend and patterns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BF47C45-135C-0F16-C88B-D51FBBF7B33E}"/>
              </a:ext>
            </a:extLst>
          </p:cNvPr>
          <p:cNvSpPr txBox="1"/>
          <p:nvPr/>
        </p:nvSpPr>
        <p:spPr>
          <a:xfrm>
            <a:off x="10228902" y="4463511"/>
            <a:ext cx="16813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Tested each test case for final accuracy and dashboard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F2E2555F-05BA-D090-1D39-7302EC60B92D}"/>
              </a:ext>
            </a:extLst>
          </p:cNvPr>
          <p:cNvSpPr txBox="1"/>
          <p:nvPr/>
        </p:nvSpPr>
        <p:spPr>
          <a:xfrm>
            <a:off x="3343385" y="204296"/>
            <a:ext cx="5997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Workflow(Project Milestones </a:t>
            </a:r>
          </a:p>
        </p:txBody>
      </p:sp>
    </p:spTree>
    <p:extLst>
      <p:ext uri="{BB962C8B-B14F-4D97-AF65-F5344CB8AC3E}">
        <p14:creationId xmlns:p14="http://schemas.microsoft.com/office/powerpoint/2010/main" val="2380461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61D8FB3-2F91-8DE8-2284-AC1E6DD51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616" y="1128408"/>
            <a:ext cx="3084198" cy="4601183"/>
          </a:xfrm>
        </p:spPr>
        <p:txBody>
          <a:bodyPr/>
          <a:lstStyle/>
          <a:p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System Design</a:t>
            </a:r>
            <a:b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(Project Files)</a:t>
            </a:r>
          </a:p>
        </p:txBody>
      </p:sp>
      <p:pic>
        <p:nvPicPr>
          <p:cNvPr id="1026" name="Picture 2" descr="Power BI Icon Set for Business Analytics and Data Visualization">
            <a:extLst>
              <a:ext uri="{FF2B5EF4-FFF2-40B4-BE49-F238E27FC236}">
                <a16:creationId xmlns:a16="http://schemas.microsoft.com/office/drawing/2014/main" id="{D17B1229-D3F1-5490-CB1E-02562E59D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546" y="140611"/>
            <a:ext cx="1966452" cy="1966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1AD0A5-30F2-C101-8A5D-589A60B581DB}"/>
              </a:ext>
            </a:extLst>
          </p:cNvPr>
          <p:cNvSpPr txBox="1"/>
          <p:nvPr/>
        </p:nvSpPr>
        <p:spPr>
          <a:xfrm>
            <a:off x="3589485" y="2003798"/>
            <a:ext cx="38542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Extended File (.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pbix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central Power BI project file that contains the entire data model, visual reports, and interactive dashboard layout.</a:t>
            </a:r>
          </a:p>
          <a:p>
            <a:endParaRPr lang="en-IN" dirty="0"/>
          </a:p>
        </p:txBody>
      </p:sp>
      <p:pic>
        <p:nvPicPr>
          <p:cNvPr id="1028" name="Picture 4" descr="Csv file - Free ui icons">
            <a:extLst>
              <a:ext uri="{FF2B5EF4-FFF2-40B4-BE49-F238E27FC236}">
                <a16:creationId xmlns:a16="http://schemas.microsoft.com/office/drawing/2014/main" id="{C18406F2-09C5-710A-EEDB-BB3DE6B2C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2792" y="261798"/>
            <a:ext cx="1936055" cy="1635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82E184-4813-C489-FB40-F343FC862A97}"/>
              </a:ext>
            </a:extLst>
          </p:cNvPr>
          <p:cNvSpPr txBox="1"/>
          <p:nvPr/>
        </p:nvSpPr>
        <p:spPr>
          <a:xfrm>
            <a:off x="7803687" y="2003798"/>
            <a:ext cx="41169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Source Dataset (.csv / .xlsx):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"source of truth" containing historical US Election records (1976–2022) after the data cleaning process was completed.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7E4C96-7357-BF13-D025-7C41EC31F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521" y="3714819"/>
            <a:ext cx="2090502" cy="15678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11A8834-2504-A541-D018-C82B5A878363}"/>
              </a:ext>
            </a:extLst>
          </p:cNvPr>
          <p:cNvSpPr txBox="1"/>
          <p:nvPr/>
        </p:nvSpPr>
        <p:spPr>
          <a:xfrm>
            <a:off x="3703836" y="5376466"/>
            <a:ext cx="38542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 Logic (M Language):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internal transformation scripts used to clean, filter, and format the raw election data before it entered the dashboard.</a:t>
            </a:r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7BBD36-55B0-C300-C4F7-93AF258D19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630" y="3891538"/>
            <a:ext cx="2805113" cy="12144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2D3F022-EE80-483F-EFF4-88DE1896D12C}"/>
              </a:ext>
            </a:extLst>
          </p:cNvPr>
          <p:cNvSpPr txBox="1"/>
          <p:nvPr/>
        </p:nvSpPr>
        <p:spPr>
          <a:xfrm>
            <a:off x="7924800" y="5093650"/>
            <a:ext cx="40142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 Repository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collection of custom formulas created within the file to calculate complex metrics like "Weighted Vote Share %" and "Seats Won by Party".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4890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E0A9AC58-C086-0EBC-25AA-E0C2C7A2B960}"/>
              </a:ext>
            </a:extLst>
          </p:cNvPr>
          <p:cNvGrpSpPr/>
          <p:nvPr/>
        </p:nvGrpSpPr>
        <p:grpSpPr>
          <a:xfrm>
            <a:off x="3055544" y="387481"/>
            <a:ext cx="9017838" cy="6073894"/>
            <a:chOff x="1587081" y="313404"/>
            <a:chExt cx="9017838" cy="6073894"/>
          </a:xfrm>
        </p:grpSpPr>
        <p:graphicFrame>
          <p:nvGraphicFramePr>
            <p:cNvPr id="5" name="Diagram 4">
              <a:extLst>
                <a:ext uri="{FF2B5EF4-FFF2-40B4-BE49-F238E27FC236}">
                  <a16:creationId xmlns:a16="http://schemas.microsoft.com/office/drawing/2014/main" id="{10E0319C-9836-B93B-C961-E0C6FA184BC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149926289"/>
                </p:ext>
              </p:extLst>
            </p:nvPr>
          </p:nvGraphicFramePr>
          <p:xfrm>
            <a:off x="1587081" y="313404"/>
            <a:ext cx="9017838" cy="447026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BA4C77D-E154-343D-1068-6E1E5C6049F6}"/>
                </a:ext>
              </a:extLst>
            </p:cNvPr>
            <p:cNvGrpSpPr/>
            <p:nvPr/>
          </p:nvGrpSpPr>
          <p:grpSpPr>
            <a:xfrm>
              <a:off x="3434915" y="5145276"/>
              <a:ext cx="5996862" cy="1242022"/>
              <a:chOff x="1820993" y="3226894"/>
              <a:chExt cx="5996862" cy="1242022"/>
            </a:xfrm>
          </p:grpSpPr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8470333E-E7F2-BCFB-D389-D655C4D19BD6}"/>
                  </a:ext>
                </a:extLst>
              </p:cNvPr>
              <p:cNvSpPr/>
              <p:nvPr/>
            </p:nvSpPr>
            <p:spPr>
              <a:xfrm rot="10800000">
                <a:off x="1820993" y="3226894"/>
                <a:ext cx="5996862" cy="1242022"/>
              </a:xfrm>
              <a:prstGeom prst="homePlate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0" name="Arrow: Pentagon 4">
                <a:extLst>
                  <a:ext uri="{FF2B5EF4-FFF2-40B4-BE49-F238E27FC236}">
                    <a16:creationId xmlns:a16="http://schemas.microsoft.com/office/drawing/2014/main" id="{4914402E-3B8B-D2FE-5CEB-00AC594DE257}"/>
                  </a:ext>
                </a:extLst>
              </p:cNvPr>
              <p:cNvSpPr txBox="1"/>
              <p:nvPr/>
            </p:nvSpPr>
            <p:spPr>
              <a:xfrm>
                <a:off x="1921594" y="3545792"/>
                <a:ext cx="5795660" cy="65240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47697" tIns="68580" rIns="128016" bIns="68580" numCol="1" spcCol="1270" anchor="ctr" anchorCtr="0">
                <a:noAutofit/>
              </a:bodyPr>
              <a:lstStyle/>
              <a:p>
                <a:pPr marL="0" lvl="0" indent="0" algn="ctr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600" b="1" kern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Visualization Suite:</a:t>
                </a:r>
              </a:p>
              <a:p>
                <a:pPr marL="0" lvl="0" indent="0" algn="ctr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Native AI Visuals: Used for identifying key influencers &amp; performance trends.</a:t>
                </a:r>
              </a:p>
              <a:p>
                <a:pPr marL="0" lvl="0" indent="0" algn="ctr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600" kern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Geospatial Mapping: Integrated Bing Maps for state-wise votes and dominance </a:t>
                </a:r>
                <a:endParaRPr lang="en-IN" sz="1600" kern="1200" dirty="0"/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16024F9-DE84-80DB-6053-65366CDC2BC0}"/>
                </a:ext>
              </a:extLst>
            </p:cNvPr>
            <p:cNvSpPr/>
            <p:nvPr/>
          </p:nvSpPr>
          <p:spPr>
            <a:xfrm>
              <a:off x="2813904" y="5145276"/>
              <a:ext cx="1242022" cy="124202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3A27EA7-A334-9CC8-3F9C-A5FA6FCF27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42126" y="563383"/>
              <a:ext cx="949630" cy="77173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9E3ED75-F2AD-51EF-9299-6F312EF3C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901073" y="2266572"/>
              <a:ext cx="1067684" cy="59990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B042CF8-F8C6-E925-98DA-810F7C1CC73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887670" y="3912868"/>
              <a:ext cx="1030969" cy="52366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8C9BFF1-4A94-2768-72C3-B7245F5CA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028591" y="5433041"/>
              <a:ext cx="863165" cy="608283"/>
            </a:xfrm>
            <a:prstGeom prst="rect">
              <a:avLst/>
            </a:prstGeom>
          </p:spPr>
        </p:pic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A57AD7D1-6CC3-69D5-DF12-4633DE8F4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8" y="1123837"/>
            <a:ext cx="3052989" cy="4601183"/>
          </a:xfrm>
        </p:spPr>
        <p:txBody>
          <a:bodyPr/>
          <a:lstStyle/>
          <a:p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Tools and</a:t>
            </a:r>
            <a:b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Technology</a:t>
            </a:r>
          </a:p>
        </p:txBody>
      </p:sp>
    </p:spTree>
    <p:extLst>
      <p:ext uri="{BB962C8B-B14F-4D97-AF65-F5344CB8AC3E}">
        <p14:creationId xmlns:p14="http://schemas.microsoft.com/office/powerpoint/2010/main" val="4287812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2F250-86EB-3003-C015-87AB7DDD3A6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44933" y="-322190"/>
            <a:ext cx="4040940" cy="1413387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Milestones</a:t>
            </a:r>
            <a:endParaRPr lang="en-IN" sz="36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7EA6BC06-5566-65E4-DD78-2C155655F1C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96" y="2928620"/>
            <a:ext cx="3155560" cy="17982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5CD757-2026-B809-1541-72D55257A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87" y="1274681"/>
            <a:ext cx="3155560" cy="14851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307CC7-2FC6-824F-99EB-2EBBDAAB56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82" y="4895714"/>
            <a:ext cx="3226351" cy="17276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09C656C-6AD9-B4B0-BBA9-C4F861B9B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801" y="1274681"/>
            <a:ext cx="3866839" cy="21211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64E53A-6015-6C22-B6D2-B1F361903B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5459" y="3805112"/>
            <a:ext cx="4040940" cy="20301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CD62F1-A39B-1FD0-4D69-4671112D81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3039" y="1274681"/>
            <a:ext cx="4025630" cy="23585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B60E12-A889-7ECD-A7E6-82399E67C236}"/>
              </a:ext>
            </a:extLst>
          </p:cNvPr>
          <p:cNvSpPr txBox="1"/>
          <p:nvPr/>
        </p:nvSpPr>
        <p:spPr>
          <a:xfrm>
            <a:off x="492118" y="691087"/>
            <a:ext cx="2507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Milestone 1: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45F68C-D795-D35F-6503-C10BC8B2BA17}"/>
              </a:ext>
            </a:extLst>
          </p:cNvPr>
          <p:cNvSpPr txBox="1"/>
          <p:nvPr/>
        </p:nvSpPr>
        <p:spPr>
          <a:xfrm>
            <a:off x="4293430" y="799426"/>
            <a:ext cx="2507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Milestone 2:</a:t>
            </a:r>
            <a:endParaRPr lang="en-IN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A07820-F789-7D2D-AAC7-01D6C1C03E61}"/>
              </a:ext>
            </a:extLst>
          </p:cNvPr>
          <p:cNvSpPr txBox="1"/>
          <p:nvPr/>
        </p:nvSpPr>
        <p:spPr>
          <a:xfrm>
            <a:off x="8447559" y="874571"/>
            <a:ext cx="2507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Milestone 2:</a:t>
            </a:r>
            <a:endParaRPr lang="en-IN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1DCD30-DB34-9CD1-E0B7-CF74C8288D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5848" y="3805112"/>
            <a:ext cx="3989984" cy="2350646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F69518-9590-36AF-609F-AA6009B09318}"/>
              </a:ext>
            </a:extLst>
          </p:cNvPr>
          <p:cNvCxnSpPr>
            <a:cxnSpLocks/>
          </p:cNvCxnSpPr>
          <p:nvPr/>
        </p:nvCxnSpPr>
        <p:spPr>
          <a:xfrm>
            <a:off x="3572443" y="778845"/>
            <a:ext cx="29808" cy="571044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31133FF-4E73-A3DF-1C2A-5119D0A01C5B}"/>
              </a:ext>
            </a:extLst>
          </p:cNvPr>
          <p:cNvCxnSpPr>
            <a:cxnSpLocks/>
          </p:cNvCxnSpPr>
          <p:nvPr/>
        </p:nvCxnSpPr>
        <p:spPr>
          <a:xfrm>
            <a:off x="7788848" y="501445"/>
            <a:ext cx="13792" cy="635655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666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15CA-BF5B-0F8E-7C0E-0689BD30308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00689" y="33519"/>
            <a:ext cx="3959724" cy="1004836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Future Enhancements</a:t>
            </a:r>
          </a:p>
        </p:txBody>
      </p:sp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497E85F0-5D58-5C31-7037-C93AD1532CFA}"/>
              </a:ext>
            </a:extLst>
          </p:cNvPr>
          <p:cNvSpPr/>
          <p:nvPr/>
        </p:nvSpPr>
        <p:spPr>
          <a:xfrm>
            <a:off x="500826" y="1258746"/>
            <a:ext cx="2143432" cy="2303206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0C1E47-FC77-9D9F-36CB-90D284A9B53E}"/>
              </a:ext>
            </a:extLst>
          </p:cNvPr>
          <p:cNvSpPr txBox="1"/>
          <p:nvPr/>
        </p:nvSpPr>
        <p:spPr>
          <a:xfrm>
            <a:off x="814901" y="1574259"/>
            <a:ext cx="1681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Predictive Forecasting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E02EA8-B4A7-665C-9F85-1708981C85AE}"/>
              </a:ext>
            </a:extLst>
          </p:cNvPr>
          <p:cNvCxnSpPr>
            <a:cxnSpLocks/>
          </p:cNvCxnSpPr>
          <p:nvPr/>
        </p:nvCxnSpPr>
        <p:spPr>
          <a:xfrm>
            <a:off x="687639" y="2310658"/>
            <a:ext cx="15534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3CA900-6427-F026-5F36-DC57C3BCFA8E}"/>
              </a:ext>
            </a:extLst>
          </p:cNvPr>
          <p:cNvSpPr txBox="1"/>
          <p:nvPr/>
        </p:nvSpPr>
        <p:spPr>
          <a:xfrm>
            <a:off x="392671" y="3741528"/>
            <a:ext cx="22515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apply machine learning models to decades of election data (1976–2022) to forecast probable winners, turnout shifts, and party performance based on early trends or past patterns.</a:t>
            </a:r>
          </a:p>
        </p:txBody>
      </p:sp>
      <p:sp>
        <p:nvSpPr>
          <p:cNvPr id="13" name="Flowchart: Document 12">
            <a:extLst>
              <a:ext uri="{FF2B5EF4-FFF2-40B4-BE49-F238E27FC236}">
                <a16:creationId xmlns:a16="http://schemas.microsoft.com/office/drawing/2014/main" id="{D796A95A-C7A8-BE06-42EF-67D4C3CEA577}"/>
              </a:ext>
            </a:extLst>
          </p:cNvPr>
          <p:cNvSpPr/>
          <p:nvPr/>
        </p:nvSpPr>
        <p:spPr>
          <a:xfrm>
            <a:off x="3224363" y="1258746"/>
            <a:ext cx="2143432" cy="2303206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6B6044-58BF-6396-22A1-B023932A2969}"/>
              </a:ext>
            </a:extLst>
          </p:cNvPr>
          <p:cNvSpPr txBox="1"/>
          <p:nvPr/>
        </p:nvSpPr>
        <p:spPr>
          <a:xfrm>
            <a:off x="3224363" y="3699147"/>
            <a:ext cx="22515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Enabling a "The Needle" feature (similar to major news networks) to estimate final outcomes as soon as key precincts report.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A7C511-0695-23CD-7BB0-07538F493CF6}"/>
              </a:ext>
            </a:extLst>
          </p:cNvPr>
          <p:cNvSpPr txBox="1"/>
          <p:nvPr/>
        </p:nvSpPr>
        <p:spPr>
          <a:xfrm>
            <a:off x="3435016" y="1524330"/>
            <a:ext cx="1722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"What-If" Modeling</a:t>
            </a:r>
            <a:endParaRPr lang="en-IN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06647E-1609-0CF8-7BC5-8C2F0F2AB21C}"/>
              </a:ext>
            </a:extLst>
          </p:cNvPr>
          <p:cNvCxnSpPr>
            <a:cxnSpLocks/>
          </p:cNvCxnSpPr>
          <p:nvPr/>
        </p:nvCxnSpPr>
        <p:spPr>
          <a:xfrm>
            <a:off x="3288271" y="2331844"/>
            <a:ext cx="15534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Flowchart: Document 20">
            <a:extLst>
              <a:ext uri="{FF2B5EF4-FFF2-40B4-BE49-F238E27FC236}">
                <a16:creationId xmlns:a16="http://schemas.microsoft.com/office/drawing/2014/main" id="{A0055BEC-8306-7BF7-0FED-5D12BE7CFDE3}"/>
              </a:ext>
            </a:extLst>
          </p:cNvPr>
          <p:cNvSpPr/>
          <p:nvPr/>
        </p:nvSpPr>
        <p:spPr>
          <a:xfrm>
            <a:off x="6008005" y="1258746"/>
            <a:ext cx="2143432" cy="2303206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121858-D3A8-2DAF-8E44-979780DE4FB4}"/>
              </a:ext>
            </a:extLst>
          </p:cNvPr>
          <p:cNvSpPr txBox="1"/>
          <p:nvPr/>
        </p:nvSpPr>
        <p:spPr>
          <a:xfrm>
            <a:off x="6303405" y="1524329"/>
            <a:ext cx="1681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Demographic Overlay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8B184F-3FD9-01E9-F114-372D61A7062A}"/>
              </a:ext>
            </a:extLst>
          </p:cNvPr>
          <p:cNvSpPr txBox="1"/>
          <p:nvPr/>
        </p:nvSpPr>
        <p:spPr>
          <a:xfrm>
            <a:off x="5899850" y="3598642"/>
            <a:ext cx="22515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dataset lacks key demographic fields like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Gender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Education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Age group the voting shifts seen in your current charts</a:t>
            </a:r>
          </a:p>
          <a:p>
            <a:r>
              <a:rPr lang="en-US" dirty="0"/>
              <a:t>Future versions can integrate the same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66CD03B-EC02-8E7C-972A-D7D6BDD0D9BC}"/>
              </a:ext>
            </a:extLst>
          </p:cNvPr>
          <p:cNvCxnSpPr>
            <a:cxnSpLocks/>
          </p:cNvCxnSpPr>
          <p:nvPr/>
        </p:nvCxnSpPr>
        <p:spPr>
          <a:xfrm>
            <a:off x="6263645" y="2301279"/>
            <a:ext cx="15534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Document 24">
            <a:extLst>
              <a:ext uri="{FF2B5EF4-FFF2-40B4-BE49-F238E27FC236}">
                <a16:creationId xmlns:a16="http://schemas.microsoft.com/office/drawing/2014/main" id="{9E14CA32-7F47-0A30-E878-5C7919CC44F5}"/>
              </a:ext>
            </a:extLst>
          </p:cNvPr>
          <p:cNvSpPr/>
          <p:nvPr/>
        </p:nvSpPr>
        <p:spPr>
          <a:xfrm>
            <a:off x="8944049" y="1258746"/>
            <a:ext cx="2143432" cy="2303206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4B319A-1F94-98A8-4EBD-FA8E337AF1E9}"/>
              </a:ext>
            </a:extLst>
          </p:cNvPr>
          <p:cNvSpPr txBox="1"/>
          <p:nvPr/>
        </p:nvSpPr>
        <p:spPr>
          <a:xfrm>
            <a:off x="8944049" y="3359178"/>
            <a:ext cx="22515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Live API Connectivity: Transitioning from static datasets to live Web API feeds (such as the Associated Press) for automated updates during election nights.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086333-831C-0F8E-DF73-096ED2220C0A}"/>
              </a:ext>
            </a:extLst>
          </p:cNvPr>
          <p:cNvSpPr txBox="1"/>
          <p:nvPr/>
        </p:nvSpPr>
        <p:spPr>
          <a:xfrm>
            <a:off x="9208777" y="1530997"/>
            <a:ext cx="1722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API Connectivity</a:t>
            </a:r>
            <a:endParaRPr lang="en-IN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8106D04-7A48-EEF6-7BD2-044798FFCBF2}"/>
              </a:ext>
            </a:extLst>
          </p:cNvPr>
          <p:cNvCxnSpPr>
            <a:cxnSpLocks/>
          </p:cNvCxnSpPr>
          <p:nvPr/>
        </p:nvCxnSpPr>
        <p:spPr>
          <a:xfrm>
            <a:off x="9293094" y="2281139"/>
            <a:ext cx="15534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835BFF46-AAD4-C5F6-1811-CF77E7839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50" y="2490795"/>
            <a:ext cx="676901" cy="60409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793E29D-1332-D95D-13E3-7E2C58BC1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276" y="2331844"/>
            <a:ext cx="1055609" cy="9914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9F0B73-C58F-A48C-88E1-1CD3BD62B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650" y="2416517"/>
            <a:ext cx="735039" cy="7350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D14EA7-DA3D-B791-E153-9BFFBCD605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5100" y="2416517"/>
            <a:ext cx="767597" cy="73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604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1F4F-1C8F-D27A-2DC6-0A1FB4455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AE01-E631-9183-8E86-8FD9989DA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Vote, Every Dataset, A Story: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Throughout this project, we learned that elections aren’t just numbers.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ElectViz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makes the American democratic experiment visible to everyone.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Clarity in Chaos: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provide the "Eye of the Storm" for journalists during the most chaotic nights in media.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Quote: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“In democracy, transparency isn’t optional.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ElectViz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makes it visual, simple, and accessible.”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176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29312F2-5D89-362D-FE1E-7AB5EC304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8400" y="429375"/>
            <a:ext cx="7315200" cy="3255264"/>
          </a:xfrm>
        </p:spPr>
        <p:txBody>
          <a:bodyPr/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Thank You</a:t>
            </a: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165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A69E8-95B1-1A6E-5BCB-630C683C9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License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03721-BC39-AE41-FC7A-DDE5B8C62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Access (MIT):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believe the math behind American democracy should be open.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Non-Partisan Commitment: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code is designed to be a "neutral mirror," reflecting data without algorithmic bias.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322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078E-8673-C945-E710-E2B883D36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84" y="1123837"/>
            <a:ext cx="3156155" cy="4601183"/>
          </a:xfrm>
        </p:spPr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Team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43157-13DF-39B4-1551-CAC82ABD1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403123"/>
            <a:ext cx="7315200" cy="558162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Empathy: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learned that cleaning a "US Election" dataset is an ethical duty; behind every row is a voter whose intent must be accurately represented.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Power of Clarity: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realized quickly that complicated structures like Fusion Ticket, Special Elections &amp; multiple vote columns can confuse users. Transforming them into simple visuals (like donut charts) made the insights much clearer.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Agility: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mastered DAX to handle "Weighted Vote Share" and Power Query to merge fragmented state records into a unified national narrative.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User-Centric Design: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testing our "Year Sliders," we learned how to design for a high-pressure newsroom where a journalist needs historical context in under three seconds.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Integrity over Aesthetics: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prioritized data validation over "flashy" visuals, ensuring that every seat count and percentage on the dashboard is bulletproof and auditable.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899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EE907-BDB0-EFF7-5F3E-5909320A129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428751"/>
            <a:ext cx="2947988" cy="4600575"/>
          </a:xfrm>
        </p:spPr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Key Features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8564C4-BFDD-5B07-461C-56167305AFA2}"/>
              </a:ext>
            </a:extLst>
          </p:cNvPr>
          <p:cNvSpPr/>
          <p:nvPr/>
        </p:nvSpPr>
        <p:spPr>
          <a:xfrm>
            <a:off x="1" y="2564384"/>
            <a:ext cx="12192000" cy="14602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AE3AFED-862B-8955-331A-11CB215FCBA2}"/>
              </a:ext>
            </a:extLst>
          </p:cNvPr>
          <p:cNvSpPr/>
          <p:nvPr/>
        </p:nvSpPr>
        <p:spPr>
          <a:xfrm>
            <a:off x="84057" y="990370"/>
            <a:ext cx="2364390" cy="236578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7F962B-E8AE-213F-CE61-183A4741C105}"/>
              </a:ext>
            </a:extLst>
          </p:cNvPr>
          <p:cNvSpPr txBox="1"/>
          <p:nvPr/>
        </p:nvSpPr>
        <p:spPr>
          <a:xfrm>
            <a:off x="265112" y="1419786"/>
            <a:ext cx="21833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Trend Analysis: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line and area charts that visualize voting patterns and seat distributions from 1976 to 2022.</a:t>
            </a:r>
          </a:p>
          <a:p>
            <a:endParaRPr lang="en-IN" sz="16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272F640-7D92-86E2-B188-D0370A930598}"/>
              </a:ext>
            </a:extLst>
          </p:cNvPr>
          <p:cNvSpPr/>
          <p:nvPr/>
        </p:nvSpPr>
        <p:spPr>
          <a:xfrm>
            <a:off x="3757302" y="933064"/>
            <a:ext cx="2632668" cy="2403778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AB6056-2797-828B-4265-3656BD188381}"/>
              </a:ext>
            </a:extLst>
          </p:cNvPr>
          <p:cNvSpPr txBox="1"/>
          <p:nvPr/>
        </p:nvSpPr>
        <p:spPr>
          <a:xfrm>
            <a:off x="4013272" y="1320682"/>
            <a:ext cx="22610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Geographic</a:t>
            </a:r>
          </a:p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state-wise breakdown of candidate performance and participation, allowing for hyper-local reporting</a:t>
            </a:r>
            <a:endParaRPr lang="en-IN" sz="16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84C0EE4-0357-71AD-A67F-CE8501EF5832}"/>
              </a:ext>
            </a:extLst>
          </p:cNvPr>
          <p:cNvSpPr/>
          <p:nvPr/>
        </p:nvSpPr>
        <p:spPr>
          <a:xfrm>
            <a:off x="7846535" y="1050430"/>
            <a:ext cx="2517936" cy="2403778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790E71-A9C8-FE3A-4B82-13BD85F84405}"/>
              </a:ext>
            </a:extLst>
          </p:cNvPr>
          <p:cNvSpPr txBox="1"/>
          <p:nvPr/>
        </p:nvSpPr>
        <p:spPr>
          <a:xfrm>
            <a:off x="8143599" y="1406304"/>
            <a:ext cx="22610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to Victory Tracker: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calculation of “Seats won” and “Vote Share %” to help media houses identify 270 threshold</a:t>
            </a:r>
            <a:endParaRPr lang="en-IN" sz="16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748F6B6-6DA9-F536-2323-25C5FA46953F}"/>
              </a:ext>
            </a:extLst>
          </p:cNvPr>
          <p:cNvSpPr/>
          <p:nvPr/>
        </p:nvSpPr>
        <p:spPr>
          <a:xfrm>
            <a:off x="1587243" y="3610708"/>
            <a:ext cx="2739800" cy="24281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331D6D-60EC-9530-5125-C3586D919D4A}"/>
              </a:ext>
            </a:extLst>
          </p:cNvPr>
          <p:cNvSpPr txBox="1"/>
          <p:nvPr/>
        </p:nvSpPr>
        <p:spPr>
          <a:xfrm>
            <a:off x="1979129" y="3904658"/>
            <a:ext cx="208000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and Party Benchmarking: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Top 10 candidates and party-wise dominance to identify political shifts.</a:t>
            </a:r>
          </a:p>
          <a:p>
            <a:endParaRPr lang="en-IN" sz="16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C80CDAA-1521-B08D-C5E6-C26EAB50E3C0}"/>
              </a:ext>
            </a:extLst>
          </p:cNvPr>
          <p:cNvSpPr/>
          <p:nvPr/>
        </p:nvSpPr>
        <p:spPr>
          <a:xfrm>
            <a:off x="5753924" y="3601183"/>
            <a:ext cx="2739800" cy="24281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FBA276-6EB3-647C-F397-780B8943CB08}"/>
              </a:ext>
            </a:extLst>
          </p:cNvPr>
          <p:cNvSpPr txBox="1"/>
          <p:nvPr/>
        </p:nvSpPr>
        <p:spPr>
          <a:xfrm>
            <a:off x="6096000" y="3964643"/>
            <a:ext cx="24350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Dive Filtering: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Synchronized "Year," "State," and "Party" slicers that allow journalists to isolate specific election stories instantly.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6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B00CED4-053F-C078-ABBA-43D6963504C5}"/>
              </a:ext>
            </a:extLst>
          </p:cNvPr>
          <p:cNvSpPr/>
          <p:nvPr/>
        </p:nvSpPr>
        <p:spPr>
          <a:xfrm>
            <a:off x="9395210" y="3732237"/>
            <a:ext cx="2739800" cy="24281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977E72-BDCD-F2D0-45DC-E9FF52764002}"/>
              </a:ext>
            </a:extLst>
          </p:cNvPr>
          <p:cNvSpPr txBox="1"/>
          <p:nvPr/>
        </p:nvSpPr>
        <p:spPr>
          <a:xfrm>
            <a:off x="9679296" y="4111597"/>
            <a:ext cx="24350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Election Analytics: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tracking of Fusion Tickets and Special Elections to provide context beyond standard general races.</a:t>
            </a:r>
          </a:p>
          <a:p>
            <a:endParaRPr lang="en-IN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053EF8-61D8-D4BB-8230-823B78BD6E37}"/>
              </a:ext>
            </a:extLst>
          </p:cNvPr>
          <p:cNvSpPr txBox="1"/>
          <p:nvPr/>
        </p:nvSpPr>
        <p:spPr>
          <a:xfrm>
            <a:off x="3275497" y="126107"/>
            <a:ext cx="5997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Key Features</a:t>
            </a:r>
          </a:p>
        </p:txBody>
      </p:sp>
    </p:spTree>
    <p:extLst>
      <p:ext uri="{BB962C8B-B14F-4D97-AF65-F5344CB8AC3E}">
        <p14:creationId xmlns:p14="http://schemas.microsoft.com/office/powerpoint/2010/main" val="1838607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BE038-97DE-A01D-5A00-92D0EF14A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9000" cy="4601183"/>
          </a:xfrm>
        </p:spPr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Contributors </a:t>
            </a:r>
            <a:b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&amp;</a:t>
            </a:r>
            <a:b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6FD7B-9018-F742-0999-00C4E6D1D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Neelapu Herambudu, Francis Daniel, Swathika Murugan, Shaik Shabeena Praveen, Gopi Krishna, Tanmay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Parulkar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 Note: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dataset includes historical US Census data to provide deeper context into "The American Voter."</a:t>
            </a:r>
          </a:p>
          <a:p>
            <a:pPr algn="just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“Anxiety-Free” UI: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Election nightmare chaotic and stressful. We deliberately chose a “Calm UI” to give journalists a sense of stability when reporting live.</a:t>
            </a:r>
          </a:p>
          <a:p>
            <a:pPr algn="just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Three-Second Rule: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fast-placed newsroom, clarity is king. We designed our visualizations so that a viewer can understand the state of a race in under three seconds.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with a Pulse: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 didn't just build a dashboard; we built a storyteller. Our "Trend Arrows" and "Swing Analysis" explain the movement of the American people, not just the final score.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93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15CA-BF5B-0F8E-7C0E-0689BD303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5725" y="1123837"/>
            <a:ext cx="3560445" cy="460118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Verdana" panose="020B0604030504040204" pitchFamily="34" charset="0"/>
                <a:ea typeface="Verdana" panose="020B0604030504040204" pitchFamily="34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A303-491A-D077-1842-A873397FC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4124" y="768431"/>
            <a:ext cx="7968771" cy="5566189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Forecasting using historical data: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apply machine learning models to decades of election data (1976–2022) to forecast probable winners, turnout shifts, and party performance based on early trends or past patterns.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“What-If” Simulations: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dynamic scenario engine could allow users to simulate: Changes in vote share, Swing state behavior, Effects of third-party performance, Similar to newsroom “Needle” models, this would estimate likely outcomes even before full results are available. 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 Overlay: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Integrating US Census data to visualize how factors like income, education, and age influenced the voting shifts seen in your current charts.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Layering: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dataset lacks key demographic fields. Future versions can integrate: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Groups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Income levels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API Connectivity: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Transitioning from static datasets to live Web API feeds (such as the Associated Press) for automated updates during election nights.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353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19249-9780-6DF5-2FDA-2AA68D7D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1142999"/>
            <a:ext cx="2834640" cy="4608871"/>
          </a:xfrm>
        </p:spPr>
        <p:txBody>
          <a:bodyPr anchor="ctr">
            <a:normAutofit/>
          </a:bodyPr>
          <a:lstStyle/>
          <a:p>
            <a:pPr algn="ctr"/>
            <a:r>
              <a:rPr lang="en-IN" sz="3600" b="1" dirty="0">
                <a:latin typeface="Verdana" panose="020B0604030504040204" pitchFamily="34" charset="0"/>
                <a:ea typeface="Verdana" panose="020B0604030504040204" pitchFamily="34" charset="0"/>
              </a:rPr>
              <a:t>Outcomes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1A7EB-9F15-56F2-3DAC-E1E2DBF07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018" y="5397910"/>
            <a:ext cx="2834640" cy="930918"/>
          </a:xfrm>
        </p:spPr>
        <p:txBody>
          <a:bodyPr>
            <a:normAutofit/>
          </a:bodyPr>
          <a:lstStyle/>
          <a:p>
            <a:r>
              <a:rPr lang="en-IN" dirty="0"/>
              <a:t>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8212B04-5E39-5F9D-104C-77536BCA9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408" y="3530485"/>
            <a:ext cx="4219098" cy="23921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24BD778-4695-25E8-715A-418677138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256" y="3530485"/>
            <a:ext cx="4189438" cy="23921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0598462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2119</TotalTime>
  <Words>1338</Words>
  <Application>Microsoft Office PowerPoint</Application>
  <PresentationFormat>Widescreen</PresentationFormat>
  <Paragraphs>113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Corbel</vt:lpstr>
      <vt:lpstr>Times New Roman</vt:lpstr>
      <vt:lpstr>Verdana</vt:lpstr>
      <vt:lpstr>Wingdings</vt:lpstr>
      <vt:lpstr>Wingdings 2</vt:lpstr>
      <vt:lpstr>Frame</vt:lpstr>
      <vt:lpstr>ElectViz: Election Data Visualization for Media Batch-11</vt:lpstr>
      <vt:lpstr>Introduction (Project Overview)</vt:lpstr>
      <vt:lpstr>PowerPoint Presentation</vt:lpstr>
      <vt:lpstr>System Design (Project Files)</vt:lpstr>
      <vt:lpstr>Tools and Technology</vt:lpstr>
      <vt:lpstr>Milestones</vt:lpstr>
      <vt:lpstr>Future Enhancements</vt:lpstr>
      <vt:lpstr>Conclusion</vt:lpstr>
      <vt:lpstr>Thank You</vt:lpstr>
      <vt:lpstr>License</vt:lpstr>
      <vt:lpstr>Team Learning</vt:lpstr>
      <vt:lpstr>Key Features</vt:lpstr>
      <vt:lpstr>Contributors  &amp;  Notes</vt:lpstr>
      <vt:lpstr>Future Enhancements</vt:lpstr>
      <vt:lpstr>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Tanmay Parulkar</dc:creator>
  <cp:lastModifiedBy>Tanmay Parulkar</cp:lastModifiedBy>
  <cp:revision>11</cp:revision>
  <dcterms:created xsi:type="dcterms:W3CDTF">2026-02-07T12:12:44Z</dcterms:created>
  <dcterms:modified xsi:type="dcterms:W3CDTF">2026-02-10T18:32:15Z</dcterms:modified>
</cp:coreProperties>
</file>