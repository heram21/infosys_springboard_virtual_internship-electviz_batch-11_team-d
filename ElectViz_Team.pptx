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9" r:id="rId4"/>
    <p:sldId id="260" r:id="rId5"/>
    <p:sldId id="268" r:id="rId6"/>
    <p:sldId id="270" r:id="rId7"/>
    <p:sldId id="264" r:id="rId8"/>
    <p:sldId id="263" r:id="rId9"/>
    <p:sldId id="265" r:id="rId10"/>
    <p:sldId id="266" r:id="rId11"/>
    <p:sldId id="267" r:id="rId12"/>
    <p:sldId id="27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539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835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521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745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721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95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454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231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225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875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364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E87F0A9-1185-430C-AD9F-4A6A23A39DEB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706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A3D2B-976A-6805-0AB4-D5D9E2EE6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122" y="1298448"/>
            <a:ext cx="9002598" cy="4373076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  <a:t>INFOSYS VIRTUAL INTERNSHIP 6.0</a:t>
            </a:r>
            <a:b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3600" b="1" dirty="0" err="1">
                <a:latin typeface="Verdana" panose="020B0604030504040204" pitchFamily="34" charset="0"/>
                <a:ea typeface="Verdana" panose="020B0604030504040204" pitchFamily="34" charset="0"/>
              </a:rPr>
              <a:t>ElectViz</a:t>
            </a:r>
            <a: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  <a:t>: Election Data Visualization for Media</a:t>
            </a:r>
            <a:b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  <a:t>Batch-11</a:t>
            </a:r>
            <a:endParaRPr lang="en-IN" sz="1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531828F-2798-8BE8-56E0-23C8257DB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65333" y="3287598"/>
            <a:ext cx="3065253" cy="3013494"/>
          </a:xfrm>
        </p:spPr>
        <p:txBody>
          <a:bodyPr anchor="ctr">
            <a:normAutofit/>
          </a:bodyPr>
          <a:lstStyle/>
          <a:p>
            <a:pPr>
              <a:spcBef>
                <a:spcPts val="600"/>
              </a:spcBef>
            </a:pPr>
            <a:r>
              <a:rPr lang="en-IN" sz="1800" b="1" dirty="0">
                <a:solidFill>
                  <a:schemeClr val="tx1"/>
                </a:solidFill>
              </a:rPr>
              <a:t>Mentor : Mrs Nithyasri S J </a:t>
            </a:r>
            <a:r>
              <a:rPr lang="en-IN" sz="1800" dirty="0">
                <a:solidFill>
                  <a:schemeClr val="tx1"/>
                </a:solidFill>
              </a:rPr>
              <a:t>	</a:t>
            </a:r>
          </a:p>
          <a:p>
            <a:pPr>
              <a:spcBef>
                <a:spcPts val="600"/>
              </a:spcBef>
            </a:pPr>
            <a:r>
              <a:rPr lang="en-IN" sz="1800" b="1" dirty="0">
                <a:solidFill>
                  <a:schemeClr val="tx1"/>
                </a:solidFill>
              </a:rPr>
              <a:t>Group    : D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Neelapu Herambudu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Francis Daniel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Swathika Murugan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Shaik Shabeena Praveen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Gopi Krishna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Tanmay </a:t>
            </a:r>
            <a:r>
              <a:rPr lang="en-IN" sz="1800" dirty="0" err="1">
                <a:solidFill>
                  <a:schemeClr val="tx1"/>
                </a:solidFill>
              </a:rPr>
              <a:t>Parulkar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C04BD2-18E9-4426-11A3-C654D55995CE}"/>
              </a:ext>
            </a:extLst>
          </p:cNvPr>
          <p:cNvSpPr/>
          <p:nvPr/>
        </p:nvSpPr>
        <p:spPr>
          <a:xfrm>
            <a:off x="0" y="-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351171-D266-7B39-59DE-811E0098D8EE}"/>
              </a:ext>
            </a:extLst>
          </p:cNvPr>
          <p:cNvSpPr/>
          <p:nvPr/>
        </p:nvSpPr>
        <p:spPr>
          <a:xfrm>
            <a:off x="0" y="647150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385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7EF5E-1360-ACD8-7139-838981D70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IN" sz="3200" b="1" dirty="0">
                <a:latin typeface="Verdana" panose="020B0604030504040204" pitchFamily="34" charset="0"/>
                <a:ea typeface="Verdana" panose="020B0604030504040204" pitchFamily="34" charset="0"/>
              </a:rPr>
              <a:t>PROJECT OVERVIEW 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1C305FC-0EF7-1E45-C5C3-D40DEAD7AC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82186" y="1362135"/>
            <a:ext cx="8081177" cy="412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Project Name: ElectViz – Election Data Analytics Dashboard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Domain: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Data Analytics &amp; Visualization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Tool Used: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Microsoft Power BI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Dataset: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U.S. House of Representatives Elections (1976–2022)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Objective:</a:t>
            </a:r>
          </a:p>
          <a:p>
            <a:pPr marL="84582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Analyze long-term election trends</a:t>
            </a:r>
          </a:p>
          <a:p>
            <a:pPr marL="84582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Understand party dominance and power shifts</a:t>
            </a:r>
          </a:p>
          <a:p>
            <a:pPr marL="84582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Compare state-wise and candidate-wise performance</a:t>
            </a:r>
          </a:p>
          <a:p>
            <a:pPr marL="50292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Outcome: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      An interactive dashboard enabling data-driven exploration of election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4F21B9-9917-0C9C-4365-EE3DCDB82766}"/>
              </a:ext>
            </a:extLst>
          </p:cNvPr>
          <p:cNvSpPr/>
          <p:nvPr/>
        </p:nvSpPr>
        <p:spPr>
          <a:xfrm>
            <a:off x="0" y="-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B3B8D1-DAFD-3A82-3DE2-B4ACFE3F65B6}"/>
              </a:ext>
            </a:extLst>
          </p:cNvPr>
          <p:cNvSpPr/>
          <p:nvPr/>
        </p:nvSpPr>
        <p:spPr>
          <a:xfrm>
            <a:off x="0" y="647150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350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EE907-BDB0-EFF7-5F3E-5909320A1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Verdana" panose="020B0604030504040204" pitchFamily="34" charset="0"/>
                <a:ea typeface="Verdana" panose="020B0604030504040204" pitchFamily="34" charset="0"/>
              </a:rPr>
              <a:t>KEY FEATURES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814DF1-4CE3-A35D-08BA-3C8CAF015670}"/>
              </a:ext>
            </a:extLst>
          </p:cNvPr>
          <p:cNvSpPr/>
          <p:nvPr/>
        </p:nvSpPr>
        <p:spPr>
          <a:xfrm>
            <a:off x="0" y="-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FF9610-DA26-79A2-FA07-E167360D2531}"/>
              </a:ext>
            </a:extLst>
          </p:cNvPr>
          <p:cNvSpPr/>
          <p:nvPr/>
        </p:nvSpPr>
        <p:spPr>
          <a:xfrm>
            <a:off x="0" y="6495353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70D00-D584-4661-21C2-D1C4D0815DBD}"/>
              </a:ext>
            </a:extLst>
          </p:cNvPr>
          <p:cNvSpPr txBox="1"/>
          <p:nvPr/>
        </p:nvSpPr>
        <p:spPr>
          <a:xfrm>
            <a:off x="3499430" y="575035"/>
            <a:ext cx="8284076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Interactive dashboards with multi-page navigation: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Enables seamless exploration of election insights across multiple analytical perspectives within a unified dashboard.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7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Dynamic filters (Year, State, Party, Election Type):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Allows users to instantly refine and customize analysis based on specific election scenarios.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7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KPI cards (Total Votes, Total Candidates, Average Vote Share):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Provides quick, high-level summary metrics for immediate insight into election outcomes.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8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State-wise and party-wise comparison: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Facilitates comparative analysis of electoral performance across regions and political parties.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8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Trend analysis across multiple election cycles: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Visualizes long-term changes in voting behavior, party dominance, and participation over time.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9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User-friendly and visually consistent design: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Ensures clarity, ease of use, and intuitive interpretation through a structured and cohesive visual layout.</a:t>
            </a:r>
          </a:p>
        </p:txBody>
      </p:sp>
    </p:spTree>
    <p:extLst>
      <p:ext uri="{BB962C8B-B14F-4D97-AF65-F5344CB8AC3E}">
        <p14:creationId xmlns:p14="http://schemas.microsoft.com/office/powerpoint/2010/main" val="1838607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94D18-2469-1425-ECD1-B8C231866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3094" y="1123837"/>
            <a:ext cx="3545512" cy="46011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IN" sz="2800" b="1" dirty="0">
                <a:latin typeface="Verdana" panose="020B0604030504040204" pitchFamily="34" charset="0"/>
                <a:ea typeface="Verdana" panose="020B0604030504040204" pitchFamily="34" charset="0"/>
              </a:rPr>
              <a:t>TOOLS</a:t>
            </a:r>
            <a:br>
              <a:rPr lang="en-IN" sz="28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IN" sz="2800" b="1" dirty="0">
                <a:latin typeface="Verdana" panose="020B0604030504040204" pitchFamily="34" charset="0"/>
                <a:ea typeface="Verdana" panose="020B0604030504040204" pitchFamily="34" charset="0"/>
              </a:rPr>
              <a:t>&amp;</a:t>
            </a:r>
            <a:br>
              <a:rPr lang="en-IN" sz="28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IN" sz="2800" b="1" dirty="0">
                <a:latin typeface="Verdana" panose="020B0604030504040204" pitchFamily="34" charset="0"/>
                <a:ea typeface="Verdana" panose="020B0604030504040204" pitchFamily="34" charset="0"/>
              </a:rPr>
              <a:t>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A4BAA-6E74-D138-8DD6-7ED4CBC13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0467" y="864108"/>
            <a:ext cx="8173038" cy="5120640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 Desktop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Data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dashboard development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Query (M Language)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ETL, data cleaning, and transformation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DAX (Data Analysis Expressions)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Advanced calculations and KPIs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Slicers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 Dynamic filtering by year, state, and party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B8A5E5-337A-8EB5-9954-1A70E5A54803}"/>
              </a:ext>
            </a:extLst>
          </p:cNvPr>
          <p:cNvSpPr/>
          <p:nvPr/>
        </p:nvSpPr>
        <p:spPr>
          <a:xfrm>
            <a:off x="0" y="-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1E4B52-6918-103C-63B7-664F523F5176}"/>
              </a:ext>
            </a:extLst>
          </p:cNvPr>
          <p:cNvSpPr/>
          <p:nvPr/>
        </p:nvSpPr>
        <p:spPr>
          <a:xfrm>
            <a:off x="0" y="6462358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812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32F14-CF6A-A58B-AF73-4CB76913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40784" cy="46011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IN" sz="2800" b="1" dirty="0">
                <a:latin typeface="Verdana" panose="020B0604030504040204" pitchFamily="34" charset="0"/>
                <a:ea typeface="Verdana" panose="020B0604030504040204" pitchFamily="34" charset="0"/>
              </a:rPr>
              <a:t>WORKFLOW</a:t>
            </a:r>
            <a:br>
              <a:rPr lang="en-IN" sz="28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IN" sz="2800" b="1" dirty="0">
                <a:latin typeface="Verdana" panose="020B0604030504040204" pitchFamily="34" charset="0"/>
                <a:ea typeface="Verdana" panose="020B0604030504040204" pitchFamily="34" charset="0"/>
              </a:rPr>
              <a:t>&amp;</a:t>
            </a:r>
            <a:br>
              <a:rPr lang="en-IN" sz="28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IN" sz="2800" b="1" dirty="0">
                <a:latin typeface="Verdana" panose="020B0604030504040204" pitchFamily="34" charset="0"/>
                <a:ea typeface="Verdana" panose="020B0604030504040204" pitchFamily="34" charset="0"/>
              </a:rPr>
              <a:t>SYSTEM DESIGN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FF948D-C772-D4D9-ADEE-CC02F7845F7F}"/>
              </a:ext>
            </a:extLst>
          </p:cNvPr>
          <p:cNvSpPr/>
          <p:nvPr/>
        </p:nvSpPr>
        <p:spPr>
          <a:xfrm>
            <a:off x="0" y="-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2B3794-9459-E1CF-E55D-8C64125EBB80}"/>
              </a:ext>
            </a:extLst>
          </p:cNvPr>
          <p:cNvSpPr/>
          <p:nvPr/>
        </p:nvSpPr>
        <p:spPr>
          <a:xfrm>
            <a:off x="0" y="647150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113460-EE4B-4837-68CD-60D0BB42693A}"/>
              </a:ext>
            </a:extLst>
          </p:cNvPr>
          <p:cNvSpPr/>
          <p:nvPr/>
        </p:nvSpPr>
        <p:spPr>
          <a:xfrm>
            <a:off x="4274481" y="544685"/>
            <a:ext cx="2139884" cy="857839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CSV Dataset        (Raw Election Data) 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04299DE-52D7-A16A-20B6-952C725ADDB8}"/>
              </a:ext>
            </a:extLst>
          </p:cNvPr>
          <p:cNvSpPr/>
          <p:nvPr/>
        </p:nvSpPr>
        <p:spPr>
          <a:xfrm>
            <a:off x="8210747" y="1092319"/>
            <a:ext cx="2865749" cy="1414021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Power Query (ETL Layer)  </a:t>
            </a:r>
          </a:p>
          <a:p>
            <a:r>
              <a:rPr lang="en-IN" dirty="0"/>
              <a:t>• Data Cleaning  </a:t>
            </a:r>
          </a:p>
          <a:p>
            <a:r>
              <a:rPr lang="en-IN" dirty="0"/>
              <a:t>• Data Transformation        • Normalization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4D416C-F9A0-C769-1B12-D27C8AF9616E}"/>
              </a:ext>
            </a:extLst>
          </p:cNvPr>
          <p:cNvSpPr/>
          <p:nvPr/>
        </p:nvSpPr>
        <p:spPr>
          <a:xfrm>
            <a:off x="3819232" y="2204684"/>
            <a:ext cx="3020784" cy="1199730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Power BI Data Model </a:t>
            </a:r>
          </a:p>
          <a:p>
            <a:pPr algn="ctr"/>
            <a:r>
              <a:rPr lang="en-US" dirty="0"/>
              <a:t>• </a:t>
            </a:r>
            <a:r>
              <a:rPr lang="en-IN" dirty="0"/>
              <a:t>Tables &amp; Relationships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FB17A6-06D3-96AE-2C14-B0415E3C2B61}"/>
              </a:ext>
            </a:extLst>
          </p:cNvPr>
          <p:cNvSpPr/>
          <p:nvPr/>
        </p:nvSpPr>
        <p:spPr>
          <a:xfrm>
            <a:off x="8210747" y="3097320"/>
            <a:ext cx="2865749" cy="1610750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DAX Measures &amp; KPIs</a:t>
            </a:r>
          </a:p>
          <a:p>
            <a:r>
              <a:rPr lang="en-IN" dirty="0"/>
              <a:t>• Vote Share Calculations</a:t>
            </a:r>
          </a:p>
          <a:p>
            <a:r>
              <a:rPr lang="en-IN" dirty="0"/>
              <a:t>• Seats Won Metrics</a:t>
            </a:r>
          </a:p>
          <a:p>
            <a:r>
              <a:rPr lang="en-IN" dirty="0"/>
              <a:t>• Aggregations &amp; Trends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C589A81-0643-C39C-6D54-BE114379CA75}"/>
              </a:ext>
            </a:extLst>
          </p:cNvPr>
          <p:cNvSpPr/>
          <p:nvPr/>
        </p:nvSpPr>
        <p:spPr>
          <a:xfrm>
            <a:off x="4139237" y="4469611"/>
            <a:ext cx="2565535" cy="1285697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Interactive Dashboard </a:t>
            </a:r>
          </a:p>
          <a:p>
            <a:r>
              <a:rPr lang="en-US" dirty="0"/>
              <a:t>• Charts &amp; Maps </a:t>
            </a:r>
          </a:p>
          <a:p>
            <a:r>
              <a:rPr lang="en-US" dirty="0"/>
              <a:t>• KPI Cards </a:t>
            </a:r>
          </a:p>
          <a:p>
            <a:r>
              <a:rPr lang="en-US" dirty="0"/>
              <a:t>• Filters &amp; Slicers </a:t>
            </a:r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0987304-2F06-1D81-F4CE-D8E71099C582}"/>
              </a:ext>
            </a:extLst>
          </p:cNvPr>
          <p:cNvSpPr/>
          <p:nvPr/>
        </p:nvSpPr>
        <p:spPr>
          <a:xfrm>
            <a:off x="8360853" y="5299050"/>
            <a:ext cx="2565536" cy="976292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User Insights &amp; Analysis </a:t>
            </a:r>
          </a:p>
          <a:p>
            <a:r>
              <a:rPr lang="en-IN" dirty="0"/>
              <a:t>• Trends Identification </a:t>
            </a:r>
          </a:p>
          <a:p>
            <a:r>
              <a:rPr lang="en-IN" dirty="0"/>
              <a:t>• Comparative Analysis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2A413B-54D9-21D3-1470-D91423014053}"/>
              </a:ext>
            </a:extLst>
          </p:cNvPr>
          <p:cNvCxnSpPr/>
          <p:nvPr/>
        </p:nvCxnSpPr>
        <p:spPr>
          <a:xfrm>
            <a:off x="6617616" y="973604"/>
            <a:ext cx="1263192" cy="6289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3EC62BD-58BE-D547-482D-E245A3A3C090}"/>
              </a:ext>
            </a:extLst>
          </p:cNvPr>
          <p:cNvCxnSpPr>
            <a:cxnSpLocks/>
          </p:cNvCxnSpPr>
          <p:nvPr/>
        </p:nvCxnSpPr>
        <p:spPr>
          <a:xfrm>
            <a:off x="6952878" y="2670935"/>
            <a:ext cx="1097613" cy="733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39A641-6DE6-EE3B-FDAD-7EE9E771B49D}"/>
              </a:ext>
            </a:extLst>
          </p:cNvPr>
          <p:cNvCxnSpPr>
            <a:cxnSpLocks/>
          </p:cNvCxnSpPr>
          <p:nvPr/>
        </p:nvCxnSpPr>
        <p:spPr>
          <a:xfrm>
            <a:off x="6814793" y="4916191"/>
            <a:ext cx="1395954" cy="808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6EA605B-F62B-505D-12D2-7816EE01FBA9}"/>
              </a:ext>
            </a:extLst>
          </p:cNvPr>
          <p:cNvCxnSpPr/>
          <p:nvPr/>
        </p:nvCxnSpPr>
        <p:spPr>
          <a:xfrm flipH="1">
            <a:off x="6952878" y="1799329"/>
            <a:ext cx="927930" cy="707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FFB3B69-0739-D062-A89C-CE14928687A9}"/>
              </a:ext>
            </a:extLst>
          </p:cNvPr>
          <p:cNvCxnSpPr>
            <a:cxnSpLocks/>
          </p:cNvCxnSpPr>
          <p:nvPr/>
        </p:nvCxnSpPr>
        <p:spPr>
          <a:xfrm flipH="1">
            <a:off x="6914803" y="4012408"/>
            <a:ext cx="1135688" cy="778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635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42F92-A148-BCA5-C2CC-55818E6DC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MILESTONES</a:t>
            </a:r>
            <a:r>
              <a:rPr lang="en-IN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4AF014-DCC7-FD09-0699-171F8207FA71}"/>
              </a:ext>
            </a:extLst>
          </p:cNvPr>
          <p:cNvSpPr/>
          <p:nvPr/>
        </p:nvSpPr>
        <p:spPr>
          <a:xfrm>
            <a:off x="0" y="-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01F6BD-1C0A-FB5C-1819-6AB4A3F7ABC4}"/>
              </a:ext>
            </a:extLst>
          </p:cNvPr>
          <p:cNvSpPr/>
          <p:nvPr/>
        </p:nvSpPr>
        <p:spPr>
          <a:xfrm>
            <a:off x="0" y="647150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AE5CD55-5DB3-79F4-42EF-F0ED0B964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0" y="593889"/>
            <a:ext cx="8012784" cy="5986021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1: 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phase focused on understanding project objectives and preparing the election dataset for analysis.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preprocessing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were performed to ensure accuracy, consistency, and reliability across all election years and states.</a:t>
            </a:r>
          </a:p>
          <a:p>
            <a:pPr marL="0" indent="0">
              <a:buNone/>
            </a:pPr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2: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milestone involved building the first set of dashboard pages, including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Election Overview, Special Elections and Fusion Ticket Analysis, and State-wise Candidate Vote Distribution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These pages provide high-level trends and regional insights into voting patterns and electoral behavior.</a:t>
            </a:r>
          </a:p>
          <a:p>
            <a:pPr marL="0" indent="0" algn="just">
              <a:buNone/>
            </a:pPr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3: 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phase, advanced analytical pages were developed to evaluate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party dominance, candidate performance, and seat distribution across states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visuals enable deeper insights into political control and shifts in power over time.</a:t>
            </a:r>
          </a:p>
          <a:p>
            <a:pPr marL="0" indent="0">
              <a:buNone/>
            </a:pPr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4: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final milestone completed the dashboard with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voter participation analysis and a consolidated results overview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This phase focused on summarizing insights and enhancing storytelling for quick interpretation and presentation.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602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51CA6A6-CF08-D3DE-095B-656EEA426DFD}"/>
              </a:ext>
            </a:extLst>
          </p:cNvPr>
          <p:cNvSpPr txBox="1">
            <a:spLocks/>
          </p:cNvSpPr>
          <p:nvPr/>
        </p:nvSpPr>
        <p:spPr>
          <a:xfrm>
            <a:off x="256032" y="1142999"/>
            <a:ext cx="2834640" cy="46088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OUTCOMES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029787-E94C-E8F9-5127-46114EACCFE2}"/>
              </a:ext>
            </a:extLst>
          </p:cNvPr>
          <p:cNvSpPr/>
          <p:nvPr/>
        </p:nvSpPr>
        <p:spPr>
          <a:xfrm>
            <a:off x="0" y="-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333239-878A-50A2-7896-CFAB7F5A83EE}"/>
              </a:ext>
            </a:extLst>
          </p:cNvPr>
          <p:cNvSpPr/>
          <p:nvPr/>
        </p:nvSpPr>
        <p:spPr>
          <a:xfrm>
            <a:off x="0" y="6470444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9EE11F7-80B8-8410-8A27-FE11997432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842" y="845285"/>
            <a:ext cx="4152004" cy="24528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3450BEF-C975-4591-AE00-82A8100633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690" y="845284"/>
            <a:ext cx="4214005" cy="24528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72750FA-AAE2-995F-FA1A-4893421368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841" y="3559834"/>
            <a:ext cx="4152003" cy="24528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D3C1106-DAE3-DEA6-3EC6-2619573EF4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690" y="3559834"/>
            <a:ext cx="4214005" cy="24765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6666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19249-9780-6DF5-2FDA-2AA68D7D8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1142999"/>
            <a:ext cx="2834640" cy="4608871"/>
          </a:xfrm>
        </p:spPr>
        <p:txBody>
          <a:bodyPr anchor="ctr">
            <a:normAutofit/>
          </a:bodyPr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OUTCOMES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1A7EB-9F15-56F2-3DAC-E1E2DBF07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018" y="5397910"/>
            <a:ext cx="2834640" cy="930918"/>
          </a:xfrm>
        </p:spPr>
        <p:txBody>
          <a:bodyPr>
            <a:normAutofit/>
          </a:bodyPr>
          <a:lstStyle/>
          <a:p>
            <a:r>
              <a:rPr lang="en-IN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30104B-5D8E-CE2F-650D-0449F4378C7F}"/>
              </a:ext>
            </a:extLst>
          </p:cNvPr>
          <p:cNvSpPr/>
          <p:nvPr/>
        </p:nvSpPr>
        <p:spPr>
          <a:xfrm>
            <a:off x="0" y="-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9172D3-5162-E32D-E9A3-F7AC8D10747F}"/>
              </a:ext>
            </a:extLst>
          </p:cNvPr>
          <p:cNvSpPr/>
          <p:nvPr/>
        </p:nvSpPr>
        <p:spPr>
          <a:xfrm>
            <a:off x="0" y="647150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24EC97-0FC3-AE8F-6103-B935EDC45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248" y="870550"/>
            <a:ext cx="4641624" cy="2558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B65DA88-3CAA-2C58-3ECB-EC2549309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319" y="3571673"/>
            <a:ext cx="4260703" cy="24783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4567BAF-37AA-932E-D4E6-FA131E4C30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683" y="3571673"/>
            <a:ext cx="4230751" cy="24783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0598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415CA-BF5B-0F8E-7C0E-0689BD303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5725" y="1123837"/>
            <a:ext cx="3560445" cy="460118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Verdana" panose="020B0604030504040204" pitchFamily="34" charset="0"/>
                <a:ea typeface="Verdana" panose="020B0604030504040204" pitchFamily="34" charset="0"/>
              </a:rPr>
              <a:t>FUTURE ENHANCEMENTS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6A303-491A-D077-1842-A873397FC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2133" y="862642"/>
            <a:ext cx="7315200" cy="5272937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6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AI Integration: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Incorporating machine learning models to project "Likely Winners" in real-time based on early partial returns.</a:t>
            </a:r>
          </a:p>
          <a:p>
            <a:pPr algn="just">
              <a:lnSpc>
                <a:spcPct val="16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"What-If" Modeling: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Enabling a feature (similar to major news networks) to estimate final outcomes as soon as key precincts report.</a:t>
            </a:r>
          </a:p>
          <a:p>
            <a:pPr algn="just">
              <a:lnSpc>
                <a:spcPct val="16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Demographic Overlay: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Integrating US Census data to visualize how factors like income, education, and age influenced the voting shifts seen in your current charts.</a:t>
            </a:r>
          </a:p>
          <a:p>
            <a:pPr algn="just">
              <a:lnSpc>
                <a:spcPct val="16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API Connectivity: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Transitioning from static datasets to live Web API feeds (such as the Associated Press) for automated updates during election nights.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F3CEDC-102A-87E1-28E1-9176CBD37547}"/>
              </a:ext>
            </a:extLst>
          </p:cNvPr>
          <p:cNvSpPr/>
          <p:nvPr/>
        </p:nvSpPr>
        <p:spPr>
          <a:xfrm>
            <a:off x="0" y="-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CFAF24-BB56-9163-4A74-45CD0880F520}"/>
              </a:ext>
            </a:extLst>
          </p:cNvPr>
          <p:cNvSpPr/>
          <p:nvPr/>
        </p:nvSpPr>
        <p:spPr>
          <a:xfrm>
            <a:off x="0" y="647150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353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61F4F-1C8F-D27A-2DC6-0A1FB4455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>
                <a:latin typeface="Verdana" panose="020B0604030504040204" pitchFamily="34" charset="0"/>
                <a:ea typeface="Verdana" panose="020B060403050404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AE01-E631-9183-8E86-8FD9989DA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9011" y="914445"/>
            <a:ext cx="7716274" cy="512064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1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transformed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and complex election datasets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into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structured, accurate, and visually intuitive insights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enabling users to quickly interpret large volumes of electoral information that would otherwise be difficult to analyze in tabular form.</a:t>
            </a:r>
          </a:p>
          <a:p>
            <a:pPr algn="just">
              <a:lnSpc>
                <a:spcPct val="11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leveraging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 data visualization techniques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project clearly demonstrated how interactive dashboards can enhance the understanding of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political trends, voting patterns, and long-term shifts in party dominance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multiple election cycles.</a:t>
            </a:r>
          </a:p>
          <a:p>
            <a:pPr algn="just">
              <a:lnSpc>
                <a:spcPct val="11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enabled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and multi-dimensional analysis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party performance, voter behavior, seat distribution, and regional influence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allowing users to explore data at national, state, and candidate levels through dynamic filtering and drill-down capabilities.</a:t>
            </a:r>
          </a:p>
          <a:p>
            <a:pPr algn="just">
              <a:lnSpc>
                <a:spcPct val="11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Finally, the project established a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and scalable foundation for advanced analytical work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making it well-suited for future enhancements such as real-time data integration, predictive analytics, demographic analysis, and more sophisticated decision-support systems.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47A02E-5277-9B85-BF98-7A37F098BDAE}"/>
              </a:ext>
            </a:extLst>
          </p:cNvPr>
          <p:cNvSpPr/>
          <p:nvPr/>
        </p:nvSpPr>
        <p:spPr>
          <a:xfrm>
            <a:off x="0" y="-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F61B9E-491F-5ABC-AB62-842B126A31CE}"/>
              </a:ext>
            </a:extLst>
          </p:cNvPr>
          <p:cNvSpPr/>
          <p:nvPr/>
        </p:nvSpPr>
        <p:spPr>
          <a:xfrm>
            <a:off x="0" y="6462359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176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BE038-97DE-A01D-5A00-92D0EF14A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9000" cy="4601183"/>
          </a:xfrm>
        </p:spPr>
        <p:txBody>
          <a:bodyPr>
            <a:normAutofit/>
          </a:bodyPr>
          <a:lstStyle/>
          <a:p>
            <a:pPr algn="ctr"/>
            <a:r>
              <a:rPr lang="en-IN" sz="20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ACKNOWLEDGEMENT</a:t>
            </a:r>
            <a:br>
              <a:rPr lang="en-IN" sz="20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br>
              <a:rPr lang="en-IN" sz="20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AND </a:t>
            </a:r>
            <a:br>
              <a:rPr lang="en-IN" sz="20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br>
              <a:rPr lang="en-IN" sz="20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REFERENCE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3682DF1-A310-E16D-B286-8E1001192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8738" y="863600"/>
            <a:ext cx="7315200" cy="512127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would like to express our heartfelt gratitude to:</a:t>
            </a:r>
          </a:p>
          <a:p>
            <a:pPr marL="0" indent="0" algn="just"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 Team – for organizing this valuable internship opportunity.</a:t>
            </a:r>
          </a:p>
          <a:p>
            <a:pPr marL="0" indent="0" algn="just"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Mentor – for her continuous support and feedback.</a:t>
            </a:r>
          </a:p>
          <a:p>
            <a:pPr marL="0" indent="0" algn="just"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Teammates – for collaboration, encouragement, and insights </a:t>
            </a:r>
          </a:p>
          <a:p>
            <a:pPr marL="0" indent="0" algn="just"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has been a significant step in our professional growth and technical journey.</a:t>
            </a:r>
          </a:p>
          <a:p>
            <a:pPr marL="0" indent="0" algn="just">
              <a:buNone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  <a:p>
            <a:pPr marL="0" indent="0" algn="just">
              <a:buNone/>
            </a:pP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US_Election_Data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(Kaggle source) </a:t>
            </a:r>
          </a:p>
          <a:p>
            <a:pPr marL="0" indent="0" algn="just"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 Documentation</a:t>
            </a:r>
          </a:p>
          <a:p>
            <a:pPr marL="0" indent="0" algn="just"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 Virtual Internship course materials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C66E49-7833-FA47-4EC0-BBFA3FF2C46A}"/>
              </a:ext>
            </a:extLst>
          </p:cNvPr>
          <p:cNvSpPr/>
          <p:nvPr/>
        </p:nvSpPr>
        <p:spPr>
          <a:xfrm>
            <a:off x="0" y="-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35B794-322F-B229-695F-B20C47EBA277}"/>
              </a:ext>
            </a:extLst>
          </p:cNvPr>
          <p:cNvSpPr/>
          <p:nvPr/>
        </p:nvSpPr>
        <p:spPr>
          <a:xfrm>
            <a:off x="0" y="647150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93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C8428D-2240-71C5-8ABE-B68E9D1AF229}"/>
              </a:ext>
            </a:extLst>
          </p:cNvPr>
          <p:cNvSpPr/>
          <p:nvPr/>
        </p:nvSpPr>
        <p:spPr>
          <a:xfrm>
            <a:off x="0" y="-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EE273F-9910-68ED-E0C3-0B9D197FD1D3}"/>
              </a:ext>
            </a:extLst>
          </p:cNvPr>
          <p:cNvSpPr/>
          <p:nvPr/>
        </p:nvSpPr>
        <p:spPr>
          <a:xfrm>
            <a:off x="0" y="6471501"/>
            <a:ext cx="12192000" cy="386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D65616-9BCE-FE2E-2680-0266BE29D256}"/>
              </a:ext>
            </a:extLst>
          </p:cNvPr>
          <p:cNvSpPr txBox="1"/>
          <p:nvPr/>
        </p:nvSpPr>
        <p:spPr>
          <a:xfrm>
            <a:off x="2426899" y="2967335"/>
            <a:ext cx="66768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dirty="0">
                <a:latin typeface="Forte" panose="03060902040502070203" pitchFamily="66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5320659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2925</TotalTime>
  <Words>882</Words>
  <Application>Microsoft Office PowerPoint</Application>
  <PresentationFormat>Widescreen</PresentationFormat>
  <Paragraphs>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Corbel</vt:lpstr>
      <vt:lpstr>Forte</vt:lpstr>
      <vt:lpstr>Times New Roman</vt:lpstr>
      <vt:lpstr>Verdana</vt:lpstr>
      <vt:lpstr>Wingdings 2</vt:lpstr>
      <vt:lpstr>Frame</vt:lpstr>
      <vt:lpstr>INFOSYS VIRTUAL INTERNSHIP 6.0  ElectViz: Election Data Visualization for Media  Batch-11</vt:lpstr>
      <vt:lpstr>PROJECT OVERVIEW </vt:lpstr>
      <vt:lpstr>KEY FEATURES</vt:lpstr>
      <vt:lpstr>TOOLS &amp; TECHNOLOGIES</vt:lpstr>
      <vt:lpstr>WORKFLOW &amp; SYSTEM DESIGN</vt:lpstr>
      <vt:lpstr>MILESTONES </vt:lpstr>
      <vt:lpstr>PowerPoint Presentation</vt:lpstr>
      <vt:lpstr>OUTCOMES </vt:lpstr>
      <vt:lpstr>FUTURE ENHANCEMENTS </vt:lpstr>
      <vt:lpstr>CONCLUSION</vt:lpstr>
      <vt:lpstr>ACKNOWLEDGEMENT   AND   REFERENCE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Herambudu neelapu</dc:creator>
  <cp:lastModifiedBy>Herambudu neelapu</cp:lastModifiedBy>
  <cp:revision>25</cp:revision>
  <dcterms:created xsi:type="dcterms:W3CDTF">2026-02-02T17:28:50Z</dcterms:created>
  <dcterms:modified xsi:type="dcterms:W3CDTF">2026-02-14T12:13:51Z</dcterms:modified>
</cp:coreProperties>
</file>