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notesMasterIdLst>
    <p:notesMasterId r:id="rId13"/>
  </p:notesMasterIdLst>
  <p:sldIdLst>
    <p:sldId id="256" r:id="rId2"/>
    <p:sldId id="257" r:id="rId3"/>
    <p:sldId id="272" r:id="rId4"/>
    <p:sldId id="269" r:id="rId5"/>
    <p:sldId id="273" r:id="rId6"/>
    <p:sldId id="264" r:id="rId7"/>
    <p:sldId id="263" r:id="rId8"/>
    <p:sldId id="265" r:id="rId9"/>
    <p:sldId id="266" r:id="rId10"/>
    <p:sldId id="267" r:id="rId11"/>
    <p:sldId id="270"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493419-86FD-4F2E-B2CA-0C13006EC23F}" v="4" dt="2026-02-16T12:07:43.7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p:cViewPr varScale="1">
        <p:scale>
          <a:sx n="78" d="100"/>
          <a:sy n="78" d="100"/>
        </p:scale>
        <p:origin x="83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5B0ECC-9474-4945-8746-148D35750DEB}" type="datetimeFigureOut">
              <a:rPr lang="en-IN" smtClean="0"/>
              <a:t>16-02-2026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5EC283-39EA-4997-90FD-E6CDBA984E5D}" type="slidenum">
              <a:rPr lang="en-IN" smtClean="0"/>
              <a:t>‹#›</a:t>
            </a:fld>
            <a:endParaRPr lang="en-IN"/>
          </a:p>
        </p:txBody>
      </p:sp>
    </p:spTree>
    <p:extLst>
      <p:ext uri="{BB962C8B-B14F-4D97-AF65-F5344CB8AC3E}">
        <p14:creationId xmlns:p14="http://schemas.microsoft.com/office/powerpoint/2010/main" val="1441557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85EC283-39EA-4997-90FD-E6CDBA984E5D}" type="slidenum">
              <a:rPr lang="en-IN" smtClean="0"/>
              <a:t>6</a:t>
            </a:fld>
            <a:endParaRPr lang="en-IN"/>
          </a:p>
        </p:txBody>
      </p:sp>
    </p:spTree>
    <p:extLst>
      <p:ext uri="{BB962C8B-B14F-4D97-AF65-F5344CB8AC3E}">
        <p14:creationId xmlns:p14="http://schemas.microsoft.com/office/powerpoint/2010/main" val="11340448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E87F0A9-1185-430C-AD9F-4A6A23A39DEB}" type="datetimeFigureOut">
              <a:rPr lang="en-IN" smtClean="0"/>
              <a:t>16-02-2026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8225720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1E87F0A9-1185-430C-AD9F-4A6A23A39DEB}" type="datetimeFigureOut">
              <a:rPr lang="en-IN" smtClean="0"/>
              <a:t>16-02-2026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6420765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87F0A9-1185-430C-AD9F-4A6A23A39DEB}" type="datetimeFigureOut">
              <a:rPr lang="en-IN" smtClean="0"/>
              <a:t>16-02-2026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970547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E87F0A9-1185-430C-AD9F-4A6A23A39DEB}" type="datetimeFigureOut">
              <a:rPr lang="en-IN" smtClean="0"/>
              <a:t>16-02-2026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34976237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E87F0A9-1185-430C-AD9F-4A6A23A39DEB}" type="datetimeFigureOut">
              <a:rPr lang="en-IN" smtClean="0"/>
              <a:t>16-02-2026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1047256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1E87F0A9-1185-430C-AD9F-4A6A23A39DEB}" type="datetimeFigureOut">
              <a:rPr lang="en-IN" smtClean="0"/>
              <a:t>16-02-2026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1909824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E87F0A9-1185-430C-AD9F-4A6A23A39DEB}" type="datetimeFigureOut">
              <a:rPr lang="en-IN" smtClean="0"/>
              <a:t>16-02-2026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40295530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1E87F0A9-1185-430C-AD9F-4A6A23A39DEB}" type="datetimeFigureOut">
              <a:rPr lang="en-IN" smtClean="0"/>
              <a:t>16-02-2026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25293561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87F0A9-1185-430C-AD9F-4A6A23A39DEB}" type="datetimeFigureOut">
              <a:rPr lang="en-IN" smtClean="0"/>
              <a:t>16-02-2026</a:t>
            </a:fld>
            <a:endParaRPr lang="en-IN"/>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7273763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87F0A9-1185-430C-AD9F-4A6A23A39DEB}" type="datetimeFigureOut">
              <a:rPr lang="en-IN" smtClean="0"/>
              <a:t>16-02-2026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17776511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E87F0A9-1185-430C-AD9F-4A6A23A39DEB}" type="datetimeFigureOut">
              <a:rPr lang="en-IN" smtClean="0"/>
              <a:t>16-02-2026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36544525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E87F0A9-1185-430C-AD9F-4A6A23A39DEB}" type="datetimeFigureOut">
              <a:rPr lang="en-IN" smtClean="0"/>
              <a:t>16-02-2026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8C2524-235E-4F0D-A46C-DC988CE1F8FC}"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160142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87F0A9-1185-430C-AD9F-4A6A23A39DEB}" type="datetimeFigureOut">
              <a:rPr lang="en-IN" smtClean="0"/>
              <a:t>16-02-2026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30925849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E87F0A9-1185-430C-AD9F-4A6A23A39DEB}" type="datetimeFigureOut">
              <a:rPr lang="en-IN" smtClean="0"/>
              <a:t>16-02-2026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30886002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E87F0A9-1185-430C-AD9F-4A6A23A39DEB}" type="datetimeFigureOut">
              <a:rPr lang="en-IN" smtClean="0"/>
              <a:t>16-02-2026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14967091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87F0A9-1185-430C-AD9F-4A6A23A39DEB}" type="datetimeFigureOut">
              <a:rPr lang="en-IN" smtClean="0"/>
              <a:t>16-02-2026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6038781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87F0A9-1185-430C-AD9F-4A6A23A39DEB}" type="datetimeFigureOut">
              <a:rPr lang="en-IN" smtClean="0"/>
              <a:t>16-02-2026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8C2524-235E-4F0D-A46C-DC988CE1F8FC}" type="slidenum">
              <a:rPr lang="en-IN" smtClean="0"/>
              <a:t>‹#›</a:t>
            </a:fld>
            <a:endParaRPr lang="en-IN"/>
          </a:p>
        </p:txBody>
      </p:sp>
    </p:spTree>
    <p:extLst>
      <p:ext uri="{BB962C8B-B14F-4D97-AF65-F5344CB8AC3E}">
        <p14:creationId xmlns:p14="http://schemas.microsoft.com/office/powerpoint/2010/main" val="3853907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1E87F0A9-1185-430C-AD9F-4A6A23A39DEB}" type="datetimeFigureOut">
              <a:rPr lang="en-IN" smtClean="0"/>
              <a:t>16-02-2026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1A8C2524-235E-4F0D-A46C-DC988CE1F8FC}" type="slidenum">
              <a:rPr lang="en-IN" smtClean="0"/>
              <a:t>‹#›</a:t>
            </a:fld>
            <a:endParaRPr lang="en-IN"/>
          </a:p>
        </p:txBody>
      </p:sp>
    </p:spTree>
    <p:extLst>
      <p:ext uri="{BB962C8B-B14F-4D97-AF65-F5344CB8AC3E}">
        <p14:creationId xmlns:p14="http://schemas.microsoft.com/office/powerpoint/2010/main" val="3886006172"/>
      </p:ext>
    </p:extLst>
  </p:cSld>
  <p:clrMap bg1="dk1" tx1="lt1" bg2="dk2" tx2="lt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9.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A3D2B-976A-6805-0AB4-D5D9E2EE6EEA}"/>
              </a:ext>
            </a:extLst>
          </p:cNvPr>
          <p:cNvSpPr>
            <a:spLocks noGrp="1"/>
          </p:cNvSpPr>
          <p:nvPr>
            <p:ph type="ctrTitle"/>
          </p:nvPr>
        </p:nvSpPr>
        <p:spPr>
          <a:xfrm>
            <a:off x="282805" y="1298448"/>
            <a:ext cx="8625525" cy="4373076"/>
          </a:xfrm>
        </p:spPr>
        <p:txBody>
          <a:bodyPr anchor="ctr">
            <a:normAutofit/>
          </a:bodyPr>
          <a:lstStyle/>
          <a:p>
            <a:r>
              <a:rPr lang="en-US" sz="3100" b="1" dirty="0">
                <a:latin typeface="Verdana" panose="020B0604030504040204" pitchFamily="34" charset="0"/>
                <a:ea typeface="Verdana" panose="020B0604030504040204" pitchFamily="34" charset="0"/>
              </a:rPr>
              <a:t>INFOSYS VIRTUAL INTERNSHIP 6.0</a:t>
            </a:r>
            <a:br>
              <a:rPr lang="en-US" sz="3600" b="1" dirty="0">
                <a:latin typeface="Verdana" panose="020B0604030504040204" pitchFamily="34" charset="0"/>
                <a:ea typeface="Verdana" panose="020B0604030504040204" pitchFamily="34" charset="0"/>
              </a:rPr>
            </a:br>
            <a:br>
              <a:rPr lang="en-US" sz="3600" b="1" dirty="0">
                <a:latin typeface="Verdana" panose="020B0604030504040204" pitchFamily="34" charset="0"/>
                <a:ea typeface="Verdana" panose="020B0604030504040204" pitchFamily="34" charset="0"/>
              </a:rPr>
            </a:br>
            <a:r>
              <a:rPr lang="en-US" sz="3600" b="1" dirty="0">
                <a:latin typeface="Verdana" panose="020B0604030504040204" pitchFamily="34" charset="0"/>
                <a:ea typeface="Verdana" panose="020B0604030504040204" pitchFamily="34" charset="0"/>
              </a:rPr>
              <a:t>Elect Viz -</a:t>
            </a:r>
            <a:r>
              <a:rPr lang="en-US" sz="2800" b="1" dirty="0">
                <a:latin typeface="Verdana" panose="020B0604030504040204" pitchFamily="34" charset="0"/>
                <a:ea typeface="Verdana" panose="020B0604030504040204" pitchFamily="34" charset="0"/>
              </a:rPr>
              <a:t>Election Data Visualization for Media Batch-11</a:t>
            </a:r>
            <a:endParaRPr lang="en-IN" sz="2800" b="1" dirty="0">
              <a:latin typeface="Verdana" panose="020B0604030504040204" pitchFamily="34" charset="0"/>
              <a:ea typeface="Verdana" panose="020B0604030504040204" pitchFamily="34" charset="0"/>
            </a:endParaRPr>
          </a:p>
        </p:txBody>
      </p:sp>
      <p:sp>
        <p:nvSpPr>
          <p:cNvPr id="4" name="Subtitle 3">
            <a:extLst>
              <a:ext uri="{FF2B5EF4-FFF2-40B4-BE49-F238E27FC236}">
                <a16:creationId xmlns:a16="http://schemas.microsoft.com/office/drawing/2014/main" id="{B531828F-2798-8BE8-56E0-23C8257DB879}"/>
              </a:ext>
            </a:extLst>
          </p:cNvPr>
          <p:cNvSpPr>
            <a:spLocks noGrp="1"/>
          </p:cNvSpPr>
          <p:nvPr>
            <p:ph type="subTitle" idx="1"/>
          </p:nvPr>
        </p:nvSpPr>
        <p:spPr>
          <a:xfrm>
            <a:off x="7895303" y="3919194"/>
            <a:ext cx="4013891" cy="2579929"/>
          </a:xfrm>
        </p:spPr>
        <p:txBody>
          <a:bodyPr anchor="ctr">
            <a:normAutofit/>
          </a:bodyPr>
          <a:lstStyle/>
          <a:p>
            <a:pPr algn="l">
              <a:spcBef>
                <a:spcPts val="600"/>
              </a:spcBef>
            </a:pPr>
            <a:r>
              <a:rPr lang="en-IN" sz="1800" b="1" dirty="0">
                <a:solidFill>
                  <a:schemeClr val="tx1"/>
                </a:solidFill>
              </a:rPr>
              <a:t>Mentor : Mrs Nithyasri S J    Made by: SHAIK SHABEENA </a:t>
            </a:r>
          </a:p>
        </p:txBody>
      </p:sp>
    </p:spTree>
    <p:extLst>
      <p:ext uri="{BB962C8B-B14F-4D97-AF65-F5344CB8AC3E}">
        <p14:creationId xmlns:p14="http://schemas.microsoft.com/office/powerpoint/2010/main" val="17393853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7EF5E-1360-ACD8-7139-838981D70A39}"/>
              </a:ext>
            </a:extLst>
          </p:cNvPr>
          <p:cNvSpPr>
            <a:spLocks noGrp="1"/>
          </p:cNvSpPr>
          <p:nvPr>
            <p:ph type="title"/>
          </p:nvPr>
        </p:nvSpPr>
        <p:spPr>
          <a:xfrm>
            <a:off x="791247" y="254524"/>
            <a:ext cx="10353761" cy="1326321"/>
          </a:xfrm>
        </p:spPr>
        <p:txBody>
          <a:bodyPr/>
          <a:lstStyle/>
          <a:p>
            <a:pPr algn="ctr"/>
            <a:r>
              <a:rPr lang="en-IN" b="1" dirty="0">
                <a:latin typeface="Verdana" panose="020B0604030504040204" pitchFamily="34" charset="0"/>
                <a:ea typeface="Verdana" panose="020B0604030504040204" pitchFamily="34" charset="0"/>
              </a:rPr>
              <a:t>Project Overview</a:t>
            </a:r>
          </a:p>
        </p:txBody>
      </p:sp>
      <p:sp>
        <p:nvSpPr>
          <p:cNvPr id="6" name="Rectangle 3">
            <a:extLst>
              <a:ext uri="{FF2B5EF4-FFF2-40B4-BE49-F238E27FC236}">
                <a16:creationId xmlns:a16="http://schemas.microsoft.com/office/drawing/2014/main" id="{9E02B563-4D87-4D75-FC5E-1DDB1824066A}"/>
              </a:ext>
            </a:extLst>
          </p:cNvPr>
          <p:cNvSpPr>
            <a:spLocks noGrp="1" noChangeArrowheads="1"/>
          </p:cNvSpPr>
          <p:nvPr>
            <p:ph idx="1"/>
          </p:nvPr>
        </p:nvSpPr>
        <p:spPr bwMode="auto">
          <a:xfrm>
            <a:off x="2112866" y="1728816"/>
            <a:ext cx="8502372" cy="4124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lnSpc>
                <a:spcPct val="100000"/>
              </a:lnSpc>
              <a:spcBef>
                <a:spcPct val="0"/>
              </a:spcBef>
              <a:spcAft>
                <a:spcPct val="0"/>
              </a:spcAft>
              <a:buClrTx/>
              <a:buFont typeface="+mj-lt"/>
              <a:buAutoNum type="arabicPeriod"/>
            </a:pPr>
            <a:r>
              <a:rPr lang="en-US" altLang="en-US" sz="1800" b="1" dirty="0">
                <a:solidFill>
                  <a:schemeClr val="tx1"/>
                </a:solidFill>
                <a:latin typeface="Arial" panose="020B0604020202020204" pitchFamily="34" charset="0"/>
              </a:rPr>
              <a:t>Project Name: ElectViz – Election Data Analytics Dashboard</a:t>
            </a:r>
          </a:p>
          <a:p>
            <a:pPr marL="342900" lvl="0" indent="-342900" eaLnBrk="0" fontAlgn="base" hangingPunct="0">
              <a:lnSpc>
                <a:spcPct val="100000"/>
              </a:lnSpc>
              <a:spcBef>
                <a:spcPct val="0"/>
              </a:spcBef>
              <a:spcAft>
                <a:spcPct val="0"/>
              </a:spcAft>
              <a:buClrTx/>
              <a:buFont typeface="+mj-lt"/>
              <a:buAutoNum type="arabicPeriod"/>
            </a:pPr>
            <a:endParaRPr lang="en-US" altLang="en-US" sz="1800" dirty="0">
              <a:solidFill>
                <a:schemeClr val="tx1"/>
              </a:solidFill>
              <a:latin typeface="Arial" panose="020B0604020202020204" pitchFamily="34" charset="0"/>
            </a:endParaRPr>
          </a:p>
          <a:p>
            <a:pPr marL="342900" lvl="0" indent="-342900" eaLnBrk="0" fontAlgn="base" hangingPunct="0">
              <a:lnSpc>
                <a:spcPct val="100000"/>
              </a:lnSpc>
              <a:spcBef>
                <a:spcPct val="0"/>
              </a:spcBef>
              <a:spcAft>
                <a:spcPct val="0"/>
              </a:spcAft>
              <a:buClrTx/>
              <a:buFont typeface="+mj-lt"/>
              <a:buAutoNum type="arabicPeriod"/>
            </a:pPr>
            <a:r>
              <a:rPr lang="en-US" altLang="en-US" sz="1800" b="1" dirty="0">
                <a:solidFill>
                  <a:schemeClr val="tx1"/>
                </a:solidFill>
                <a:latin typeface="Arial" panose="020B0604020202020204" pitchFamily="34" charset="0"/>
              </a:rPr>
              <a:t>Domain: </a:t>
            </a:r>
            <a:r>
              <a:rPr lang="en-US" altLang="en-US" sz="1800" dirty="0">
                <a:solidFill>
                  <a:schemeClr val="tx1"/>
                </a:solidFill>
                <a:latin typeface="Arial" panose="020B0604020202020204" pitchFamily="34" charset="0"/>
              </a:rPr>
              <a:t>Data Analytics &amp; Visualization</a:t>
            </a:r>
          </a:p>
          <a:p>
            <a:pPr marL="342900" lvl="0" indent="-342900" eaLnBrk="0" fontAlgn="base" hangingPunct="0">
              <a:lnSpc>
                <a:spcPct val="100000"/>
              </a:lnSpc>
              <a:spcBef>
                <a:spcPct val="0"/>
              </a:spcBef>
              <a:spcAft>
                <a:spcPct val="0"/>
              </a:spcAft>
              <a:buClrTx/>
              <a:buFont typeface="+mj-lt"/>
              <a:buAutoNum type="arabicPeriod"/>
            </a:pPr>
            <a:endParaRPr lang="en-US" altLang="en-US" sz="1800" dirty="0">
              <a:solidFill>
                <a:schemeClr val="tx1"/>
              </a:solidFill>
              <a:latin typeface="Arial" panose="020B0604020202020204" pitchFamily="34" charset="0"/>
            </a:endParaRPr>
          </a:p>
          <a:p>
            <a:pPr marL="342900" lvl="0" indent="-342900" eaLnBrk="0" fontAlgn="base" hangingPunct="0">
              <a:lnSpc>
                <a:spcPct val="100000"/>
              </a:lnSpc>
              <a:spcBef>
                <a:spcPct val="0"/>
              </a:spcBef>
              <a:spcAft>
                <a:spcPct val="0"/>
              </a:spcAft>
              <a:buClrTx/>
              <a:buFont typeface="+mj-lt"/>
              <a:buAutoNum type="arabicPeriod"/>
            </a:pPr>
            <a:r>
              <a:rPr lang="en-US" altLang="en-US" sz="1800" b="1" dirty="0">
                <a:solidFill>
                  <a:schemeClr val="tx1"/>
                </a:solidFill>
                <a:latin typeface="Arial" panose="020B0604020202020204" pitchFamily="34" charset="0"/>
              </a:rPr>
              <a:t>Tool Used: </a:t>
            </a:r>
            <a:r>
              <a:rPr lang="en-US" altLang="en-US" sz="1800" dirty="0">
                <a:solidFill>
                  <a:schemeClr val="tx1"/>
                </a:solidFill>
                <a:latin typeface="Arial" panose="020B0604020202020204" pitchFamily="34" charset="0"/>
              </a:rPr>
              <a:t>Microsoft Power BI</a:t>
            </a:r>
          </a:p>
          <a:p>
            <a:pPr marL="342900" lvl="0" indent="-342900" eaLnBrk="0" fontAlgn="base" hangingPunct="0">
              <a:lnSpc>
                <a:spcPct val="100000"/>
              </a:lnSpc>
              <a:spcBef>
                <a:spcPct val="0"/>
              </a:spcBef>
              <a:spcAft>
                <a:spcPct val="0"/>
              </a:spcAft>
              <a:buClrTx/>
              <a:buFont typeface="+mj-lt"/>
              <a:buAutoNum type="arabicPeriod"/>
            </a:pPr>
            <a:endParaRPr lang="en-US" altLang="en-US" sz="1800" dirty="0">
              <a:solidFill>
                <a:schemeClr val="tx1"/>
              </a:solidFill>
              <a:latin typeface="Arial" panose="020B0604020202020204" pitchFamily="34" charset="0"/>
            </a:endParaRPr>
          </a:p>
          <a:p>
            <a:pPr marL="342900" lvl="0" indent="-342900" eaLnBrk="0" fontAlgn="base" hangingPunct="0">
              <a:lnSpc>
                <a:spcPct val="100000"/>
              </a:lnSpc>
              <a:spcBef>
                <a:spcPct val="0"/>
              </a:spcBef>
              <a:spcAft>
                <a:spcPct val="0"/>
              </a:spcAft>
              <a:buClrTx/>
              <a:buFont typeface="+mj-lt"/>
              <a:buAutoNum type="arabicPeriod"/>
            </a:pPr>
            <a:r>
              <a:rPr lang="en-US" altLang="en-US" sz="1800" b="1" dirty="0">
                <a:solidFill>
                  <a:schemeClr val="tx1"/>
                </a:solidFill>
                <a:latin typeface="Arial" panose="020B0604020202020204" pitchFamily="34" charset="0"/>
              </a:rPr>
              <a:t>Dataset: </a:t>
            </a:r>
            <a:r>
              <a:rPr lang="en-US" altLang="en-US" sz="1800" dirty="0">
                <a:solidFill>
                  <a:schemeClr val="tx1"/>
                </a:solidFill>
                <a:latin typeface="Arial" panose="020B0604020202020204" pitchFamily="34" charset="0"/>
              </a:rPr>
              <a:t>U.S. House of Representatives Elections (1976–2022)</a:t>
            </a:r>
          </a:p>
          <a:p>
            <a:pPr marL="342900" lvl="0" indent="-342900" eaLnBrk="0" fontAlgn="base" hangingPunct="0">
              <a:lnSpc>
                <a:spcPct val="100000"/>
              </a:lnSpc>
              <a:spcBef>
                <a:spcPct val="0"/>
              </a:spcBef>
              <a:spcAft>
                <a:spcPct val="0"/>
              </a:spcAft>
              <a:buClrTx/>
              <a:buFont typeface="+mj-lt"/>
              <a:buAutoNum type="arabicPeriod"/>
            </a:pPr>
            <a:endParaRPr lang="en-US" altLang="en-US" sz="1800" dirty="0">
              <a:solidFill>
                <a:schemeClr val="tx1"/>
              </a:solidFill>
              <a:latin typeface="Arial" panose="020B0604020202020204" pitchFamily="34" charset="0"/>
            </a:endParaRPr>
          </a:p>
          <a:p>
            <a:pPr marL="342900" lvl="0" indent="-342900" eaLnBrk="0" fontAlgn="base" hangingPunct="0">
              <a:lnSpc>
                <a:spcPct val="100000"/>
              </a:lnSpc>
              <a:spcBef>
                <a:spcPct val="0"/>
              </a:spcBef>
              <a:spcAft>
                <a:spcPct val="0"/>
              </a:spcAft>
              <a:buClrTx/>
              <a:buFont typeface="+mj-lt"/>
              <a:buAutoNum type="arabicPeriod"/>
            </a:pPr>
            <a:r>
              <a:rPr lang="en-US" altLang="en-US" sz="1800" b="1" dirty="0">
                <a:solidFill>
                  <a:schemeClr val="tx1"/>
                </a:solidFill>
                <a:latin typeface="Arial" panose="020B0604020202020204" pitchFamily="34" charset="0"/>
              </a:rPr>
              <a:t>Objective:</a:t>
            </a:r>
          </a:p>
          <a:p>
            <a:pPr marL="845820" lvl="1" indent="-342900" eaLnBrk="0" fontAlgn="base" hangingPunct="0">
              <a:lnSpc>
                <a:spcPct val="100000"/>
              </a:lnSpc>
              <a:spcBef>
                <a:spcPct val="0"/>
              </a:spcBef>
              <a:spcAft>
                <a:spcPct val="0"/>
              </a:spcAft>
              <a:buClrTx/>
              <a:buFont typeface="+mj-lt"/>
              <a:buAutoNum type="arabicPeriod"/>
            </a:pPr>
            <a:r>
              <a:rPr lang="en-US" altLang="en-US" sz="1600" dirty="0">
                <a:solidFill>
                  <a:schemeClr val="tx1"/>
                </a:solidFill>
                <a:latin typeface="Arial" panose="020B0604020202020204" pitchFamily="34" charset="0"/>
              </a:rPr>
              <a:t>Analyze long-term election trends</a:t>
            </a:r>
          </a:p>
          <a:p>
            <a:pPr marL="845820" lvl="1" indent="-342900" eaLnBrk="0" fontAlgn="base" hangingPunct="0">
              <a:lnSpc>
                <a:spcPct val="100000"/>
              </a:lnSpc>
              <a:spcBef>
                <a:spcPct val="0"/>
              </a:spcBef>
              <a:spcAft>
                <a:spcPct val="0"/>
              </a:spcAft>
              <a:buClrTx/>
              <a:buFont typeface="+mj-lt"/>
              <a:buAutoNum type="arabicPeriod"/>
            </a:pPr>
            <a:r>
              <a:rPr lang="en-US" altLang="en-US" sz="1600" dirty="0">
                <a:solidFill>
                  <a:schemeClr val="tx1"/>
                </a:solidFill>
                <a:latin typeface="Arial" panose="020B0604020202020204" pitchFamily="34" charset="0"/>
              </a:rPr>
              <a:t>Understand party dominance and power shifts</a:t>
            </a:r>
          </a:p>
          <a:p>
            <a:pPr marL="845820" lvl="1" indent="-342900" eaLnBrk="0" fontAlgn="base" hangingPunct="0">
              <a:lnSpc>
                <a:spcPct val="100000"/>
              </a:lnSpc>
              <a:spcBef>
                <a:spcPct val="0"/>
              </a:spcBef>
              <a:spcAft>
                <a:spcPct val="0"/>
              </a:spcAft>
              <a:buClrTx/>
              <a:buFont typeface="+mj-lt"/>
              <a:buAutoNum type="arabicPeriod"/>
            </a:pPr>
            <a:r>
              <a:rPr lang="en-US" altLang="en-US" sz="1600" dirty="0">
                <a:solidFill>
                  <a:schemeClr val="tx1"/>
                </a:solidFill>
                <a:latin typeface="Arial" panose="020B0604020202020204" pitchFamily="34" charset="0"/>
              </a:rPr>
              <a:t>Compare state-wise and candidate-wise performance</a:t>
            </a:r>
          </a:p>
          <a:p>
            <a:pPr marL="502920" lvl="1" indent="0" eaLnBrk="0" fontAlgn="base" hangingPunct="0">
              <a:lnSpc>
                <a:spcPct val="100000"/>
              </a:lnSpc>
              <a:spcBef>
                <a:spcPct val="0"/>
              </a:spcBef>
              <a:spcAft>
                <a:spcPct val="0"/>
              </a:spcAft>
              <a:buClrTx/>
              <a:buNone/>
            </a:pPr>
            <a:endParaRPr lang="en-US" altLang="en-US" sz="1600" dirty="0">
              <a:solidFill>
                <a:schemeClr val="tx1"/>
              </a:solidFill>
              <a:latin typeface="Arial" panose="020B0604020202020204" pitchFamily="34" charset="0"/>
            </a:endParaRPr>
          </a:p>
          <a:p>
            <a:pPr marL="342900" lvl="0" indent="-342900" eaLnBrk="0" fontAlgn="base" hangingPunct="0">
              <a:lnSpc>
                <a:spcPct val="100000"/>
              </a:lnSpc>
              <a:spcBef>
                <a:spcPct val="0"/>
              </a:spcBef>
              <a:spcAft>
                <a:spcPct val="0"/>
              </a:spcAft>
              <a:buClrTx/>
              <a:buFont typeface="+mj-lt"/>
              <a:buAutoNum type="arabicPeriod"/>
            </a:pPr>
            <a:r>
              <a:rPr lang="en-US" altLang="en-US" sz="1800" b="1" dirty="0">
                <a:solidFill>
                  <a:schemeClr val="tx1"/>
                </a:solidFill>
                <a:latin typeface="Arial" panose="020B0604020202020204" pitchFamily="34" charset="0"/>
              </a:rPr>
              <a:t>Outcome:</a:t>
            </a:r>
          </a:p>
          <a:p>
            <a:pPr marL="0" lvl="0" indent="0" eaLnBrk="0" fontAlgn="base" hangingPunct="0">
              <a:lnSpc>
                <a:spcPct val="100000"/>
              </a:lnSpc>
              <a:spcBef>
                <a:spcPct val="0"/>
              </a:spcBef>
              <a:spcAft>
                <a:spcPct val="0"/>
              </a:spcAft>
              <a:buClrTx/>
              <a:buNone/>
            </a:pPr>
            <a:r>
              <a:rPr lang="en-US" altLang="en-US" sz="1800" dirty="0">
                <a:solidFill>
                  <a:schemeClr val="tx1"/>
                </a:solidFill>
                <a:latin typeface="Arial" panose="020B0604020202020204" pitchFamily="34" charset="0"/>
              </a:rPr>
              <a:t>       An interactive dashboard enabling data-driven exploration of election data</a:t>
            </a:r>
          </a:p>
        </p:txBody>
      </p:sp>
    </p:spTree>
    <p:extLst>
      <p:ext uri="{BB962C8B-B14F-4D97-AF65-F5344CB8AC3E}">
        <p14:creationId xmlns:p14="http://schemas.microsoft.com/office/powerpoint/2010/main" val="1897350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6BA58-E918-53C3-1A09-98087FFB902A}"/>
              </a:ext>
            </a:extLst>
          </p:cNvPr>
          <p:cNvSpPr>
            <a:spLocks noGrp="1"/>
          </p:cNvSpPr>
          <p:nvPr>
            <p:ph type="title"/>
          </p:nvPr>
        </p:nvSpPr>
        <p:spPr>
          <a:xfrm>
            <a:off x="646111" y="999178"/>
            <a:ext cx="9404723" cy="854069"/>
          </a:xfrm>
        </p:spPr>
        <p:txBody>
          <a:bodyPr/>
          <a:lstStyle/>
          <a:p>
            <a:r>
              <a:rPr lang="en-US" sz="2800" b="1" dirty="0"/>
              <a:t>Interactive dashboards with multi-page navigation</a:t>
            </a:r>
            <a:r>
              <a:rPr lang="en-US" dirty="0"/>
              <a:t>: </a:t>
            </a:r>
            <a:endParaRPr lang="en-IN" dirty="0"/>
          </a:p>
        </p:txBody>
      </p:sp>
      <p:sp>
        <p:nvSpPr>
          <p:cNvPr id="4" name="Rectangle 1">
            <a:extLst>
              <a:ext uri="{FF2B5EF4-FFF2-40B4-BE49-F238E27FC236}">
                <a16:creationId xmlns:a16="http://schemas.microsoft.com/office/drawing/2014/main" id="{420F9982-08B8-78B4-5002-DBDFD9B971CF}"/>
              </a:ext>
            </a:extLst>
          </p:cNvPr>
          <p:cNvSpPr>
            <a:spLocks noGrp="1" noChangeArrowheads="1"/>
          </p:cNvSpPr>
          <p:nvPr>
            <p:ph idx="1"/>
          </p:nvPr>
        </p:nvSpPr>
        <p:spPr bwMode="auto">
          <a:xfrm>
            <a:off x="1103312" y="2442501"/>
            <a:ext cx="9369873"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Interactive dashboards:</a:t>
            </a:r>
            <a:r>
              <a:rPr kumimoji="0" lang="en-US" altLang="en-US" sz="1800" b="0" i="0" u="none" strike="noStrike" cap="none" normalizeH="0" baseline="0" dirty="0">
                <a:ln>
                  <a:noFill/>
                </a:ln>
                <a:solidFill>
                  <a:schemeClr val="tx1"/>
                </a:solidFill>
                <a:effectLst/>
                <a:latin typeface="Arial" panose="020B0604020202020204" pitchFamily="34" charset="0"/>
              </a:rPr>
              <a:t> Easy navigation to explore election data across multiple pages.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Dynamic filters:</a:t>
            </a:r>
            <a:r>
              <a:rPr kumimoji="0" lang="en-US" altLang="en-US" sz="1800" b="0" i="0" u="none" strike="noStrike" cap="none" normalizeH="0" baseline="0" dirty="0">
                <a:ln>
                  <a:noFill/>
                </a:ln>
                <a:solidFill>
                  <a:schemeClr val="tx1"/>
                </a:solidFill>
                <a:effectLst/>
                <a:latin typeface="Arial" panose="020B0604020202020204" pitchFamily="34" charset="0"/>
              </a:rPr>
              <a:t> Quickly filter data by year, state, party, or election type.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KPI cards:</a:t>
            </a:r>
            <a:r>
              <a:rPr kumimoji="0" lang="en-US" altLang="en-US" sz="1800" b="0" i="0" u="none" strike="noStrike" cap="none" normalizeH="0" baseline="0" dirty="0">
                <a:ln>
                  <a:noFill/>
                </a:ln>
                <a:solidFill>
                  <a:schemeClr val="tx1"/>
                </a:solidFill>
                <a:effectLst/>
                <a:latin typeface="Arial" panose="020B0604020202020204" pitchFamily="34" charset="0"/>
              </a:rPr>
              <a:t> Show key metrics like total votes, candidates, and average vote share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State &amp; party comparison:</a:t>
            </a:r>
            <a:r>
              <a:rPr kumimoji="0" lang="en-US" altLang="en-US" sz="1800" b="0" i="0" u="none" strike="noStrike" cap="none" normalizeH="0" baseline="0" dirty="0">
                <a:ln>
                  <a:noFill/>
                </a:ln>
                <a:solidFill>
                  <a:schemeClr val="tx1"/>
                </a:solidFill>
                <a:effectLst/>
                <a:latin typeface="Arial" panose="020B0604020202020204" pitchFamily="34" charset="0"/>
              </a:rPr>
              <a:t> Compare performance across regions and parties.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Trend analysis:</a:t>
            </a:r>
            <a:r>
              <a:rPr kumimoji="0" lang="en-US" altLang="en-US" sz="1800" b="0" i="0" u="none" strike="noStrike" cap="none" normalizeH="0" baseline="0" dirty="0">
                <a:ln>
                  <a:noFill/>
                </a:ln>
                <a:solidFill>
                  <a:schemeClr val="tx1"/>
                </a:solidFill>
                <a:effectLst/>
                <a:latin typeface="Arial" panose="020B0604020202020204" pitchFamily="34" charset="0"/>
              </a:rPr>
              <a:t> Shows voting and party trends over different election years.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User-friendly design:</a:t>
            </a:r>
            <a:r>
              <a:rPr kumimoji="0" lang="en-US" altLang="en-US" sz="1800" b="0" i="0" u="none" strike="noStrike" cap="none" normalizeH="0" baseline="0" dirty="0">
                <a:ln>
                  <a:noFill/>
                </a:ln>
                <a:solidFill>
                  <a:schemeClr val="tx1"/>
                </a:solidFill>
                <a:effectLst/>
                <a:latin typeface="Arial" panose="020B0604020202020204" pitchFamily="34" charset="0"/>
              </a:rPr>
              <a:t> Simple, clear, and consistent dashboard layout.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345087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FEBDA-1349-A388-D208-F74F12752869}"/>
              </a:ext>
            </a:extLst>
          </p:cNvPr>
          <p:cNvSpPr>
            <a:spLocks noGrp="1"/>
          </p:cNvSpPr>
          <p:nvPr>
            <p:ph type="title"/>
          </p:nvPr>
        </p:nvSpPr>
        <p:spPr>
          <a:xfrm>
            <a:off x="3117256" y="295389"/>
            <a:ext cx="5809928" cy="750986"/>
          </a:xfrm>
        </p:spPr>
        <p:txBody>
          <a:bodyPr>
            <a:normAutofit fontScale="90000"/>
          </a:bodyPr>
          <a:lstStyle/>
          <a:p>
            <a:r>
              <a:rPr lang="en-IN" b="1" dirty="0"/>
              <a:t>WORKFLOW AND SYSTEM DESIGN</a:t>
            </a:r>
          </a:p>
        </p:txBody>
      </p:sp>
      <p:sp>
        <p:nvSpPr>
          <p:cNvPr id="5" name="Rectangle: Rounded Corners 4">
            <a:extLst>
              <a:ext uri="{FF2B5EF4-FFF2-40B4-BE49-F238E27FC236}">
                <a16:creationId xmlns:a16="http://schemas.microsoft.com/office/drawing/2014/main" id="{06E57C08-93A9-BAB6-DB61-E61B55634DC5}"/>
              </a:ext>
            </a:extLst>
          </p:cNvPr>
          <p:cNvSpPr/>
          <p:nvPr/>
        </p:nvSpPr>
        <p:spPr>
          <a:xfrm>
            <a:off x="358219" y="2113176"/>
            <a:ext cx="2139884" cy="857839"/>
          </a:xfrm>
          <a:prstGeom prst="roundRect">
            <a:avLst/>
          </a:prstGeom>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CSV Dataset        (Raw Election Data) </a:t>
            </a:r>
            <a:endParaRPr lang="en-IN" dirty="0"/>
          </a:p>
        </p:txBody>
      </p:sp>
      <p:sp>
        <p:nvSpPr>
          <p:cNvPr id="6" name="Rectangle: Rounded Corners 5">
            <a:extLst>
              <a:ext uri="{FF2B5EF4-FFF2-40B4-BE49-F238E27FC236}">
                <a16:creationId xmlns:a16="http://schemas.microsoft.com/office/drawing/2014/main" id="{12A8610E-A933-1233-F5E0-21801ADA6771}"/>
              </a:ext>
            </a:extLst>
          </p:cNvPr>
          <p:cNvSpPr/>
          <p:nvPr/>
        </p:nvSpPr>
        <p:spPr>
          <a:xfrm>
            <a:off x="5561815" y="4192107"/>
            <a:ext cx="2717528" cy="1610750"/>
          </a:xfrm>
          <a:prstGeom prst="roundRect">
            <a:avLst/>
          </a:prstGeom>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DAX Measures &amp; KPIs</a:t>
            </a:r>
          </a:p>
          <a:p>
            <a:r>
              <a:rPr lang="en-IN" dirty="0"/>
              <a:t>• Vote Share Calculations</a:t>
            </a:r>
          </a:p>
          <a:p>
            <a:r>
              <a:rPr lang="en-IN" dirty="0"/>
              <a:t>• Seats Won Metrics</a:t>
            </a:r>
          </a:p>
          <a:p>
            <a:r>
              <a:rPr lang="en-IN" dirty="0"/>
              <a:t>• Aggregations &amp; Trends</a:t>
            </a:r>
          </a:p>
        </p:txBody>
      </p:sp>
      <p:sp>
        <p:nvSpPr>
          <p:cNvPr id="7" name="Rectangle: Rounded Corners 6">
            <a:extLst>
              <a:ext uri="{FF2B5EF4-FFF2-40B4-BE49-F238E27FC236}">
                <a16:creationId xmlns:a16="http://schemas.microsoft.com/office/drawing/2014/main" id="{FD9EB397-4D6E-0D06-2B39-74F0BC47EBDB}"/>
              </a:ext>
            </a:extLst>
          </p:cNvPr>
          <p:cNvSpPr/>
          <p:nvPr/>
        </p:nvSpPr>
        <p:spPr>
          <a:xfrm>
            <a:off x="1517715" y="4270342"/>
            <a:ext cx="2865749" cy="1414021"/>
          </a:xfrm>
          <a:prstGeom prst="roundRect">
            <a:avLst/>
          </a:prstGeom>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Power Query (ETL Layer)  </a:t>
            </a:r>
          </a:p>
          <a:p>
            <a:r>
              <a:rPr lang="en-IN" dirty="0"/>
              <a:t>• Data Cleaning  </a:t>
            </a:r>
          </a:p>
          <a:p>
            <a:r>
              <a:rPr lang="en-IN" dirty="0"/>
              <a:t>• Data Transformation        • Normalization </a:t>
            </a:r>
          </a:p>
        </p:txBody>
      </p:sp>
      <p:sp>
        <p:nvSpPr>
          <p:cNvPr id="8" name="Rectangle: Rounded Corners 7">
            <a:extLst>
              <a:ext uri="{FF2B5EF4-FFF2-40B4-BE49-F238E27FC236}">
                <a16:creationId xmlns:a16="http://schemas.microsoft.com/office/drawing/2014/main" id="{889D8E5B-D53D-EC6A-08E2-F88166241217}"/>
              </a:ext>
            </a:extLst>
          </p:cNvPr>
          <p:cNvSpPr/>
          <p:nvPr/>
        </p:nvSpPr>
        <p:spPr>
          <a:xfrm>
            <a:off x="3395026" y="1942230"/>
            <a:ext cx="3020784" cy="1199730"/>
          </a:xfrm>
          <a:prstGeom prst="roundRect">
            <a:avLst/>
          </a:prstGeom>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Power BI Data Model </a:t>
            </a:r>
          </a:p>
          <a:p>
            <a:pPr algn="ctr"/>
            <a:r>
              <a:rPr lang="en-US" dirty="0"/>
              <a:t>• </a:t>
            </a:r>
            <a:r>
              <a:rPr lang="en-IN" dirty="0"/>
              <a:t>Tables &amp; Relationships</a:t>
            </a:r>
          </a:p>
        </p:txBody>
      </p:sp>
      <p:sp>
        <p:nvSpPr>
          <p:cNvPr id="9" name="Rectangle: Rounded Corners 8">
            <a:extLst>
              <a:ext uri="{FF2B5EF4-FFF2-40B4-BE49-F238E27FC236}">
                <a16:creationId xmlns:a16="http://schemas.microsoft.com/office/drawing/2014/main" id="{4E9D6572-DE4C-8CEC-B756-5F5783969AEF}"/>
              </a:ext>
            </a:extLst>
          </p:cNvPr>
          <p:cNvSpPr/>
          <p:nvPr/>
        </p:nvSpPr>
        <p:spPr>
          <a:xfrm>
            <a:off x="9191134" y="4270341"/>
            <a:ext cx="2565536" cy="1414021"/>
          </a:xfrm>
          <a:prstGeom prst="roundRect">
            <a:avLst/>
          </a:prstGeom>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r>
              <a:rPr lang="en-IN" dirty="0"/>
              <a:t>User Insights &amp; Analysis </a:t>
            </a:r>
          </a:p>
          <a:p>
            <a:r>
              <a:rPr lang="en-IN" dirty="0"/>
              <a:t>• Trends Identification </a:t>
            </a:r>
          </a:p>
          <a:p>
            <a:r>
              <a:rPr lang="en-IN" dirty="0"/>
              <a:t>• Comparative Analysis </a:t>
            </a:r>
          </a:p>
        </p:txBody>
      </p:sp>
      <p:sp>
        <p:nvSpPr>
          <p:cNvPr id="10" name="Rectangle: Rounded Corners 9">
            <a:extLst>
              <a:ext uri="{FF2B5EF4-FFF2-40B4-BE49-F238E27FC236}">
                <a16:creationId xmlns:a16="http://schemas.microsoft.com/office/drawing/2014/main" id="{6A2424B3-87E9-B835-56D6-4CCEE8A0AB94}"/>
              </a:ext>
            </a:extLst>
          </p:cNvPr>
          <p:cNvSpPr/>
          <p:nvPr/>
        </p:nvSpPr>
        <p:spPr>
          <a:xfrm>
            <a:off x="8005966" y="1893284"/>
            <a:ext cx="2565535" cy="1285697"/>
          </a:xfrm>
          <a:prstGeom prst="roundRect">
            <a:avLst/>
          </a:prstGeom>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r>
              <a:rPr lang="en-US" dirty="0"/>
              <a:t>Interactive Dashboard </a:t>
            </a:r>
          </a:p>
          <a:p>
            <a:r>
              <a:rPr lang="en-US" dirty="0"/>
              <a:t>• Charts &amp; Maps </a:t>
            </a:r>
          </a:p>
          <a:p>
            <a:r>
              <a:rPr lang="en-US" dirty="0"/>
              <a:t>• KPI Cards </a:t>
            </a:r>
          </a:p>
          <a:p>
            <a:r>
              <a:rPr lang="en-US" dirty="0"/>
              <a:t>• Filters &amp; Slicers </a:t>
            </a:r>
            <a:endParaRPr lang="en-IN" dirty="0"/>
          </a:p>
        </p:txBody>
      </p:sp>
      <p:cxnSp>
        <p:nvCxnSpPr>
          <p:cNvPr id="16" name="Straight Arrow Connector 15">
            <a:extLst>
              <a:ext uri="{FF2B5EF4-FFF2-40B4-BE49-F238E27FC236}">
                <a16:creationId xmlns:a16="http://schemas.microsoft.com/office/drawing/2014/main" id="{5EAA0949-13FE-8657-E91A-8753B55E5B64}"/>
              </a:ext>
            </a:extLst>
          </p:cNvPr>
          <p:cNvCxnSpPr/>
          <p:nvPr/>
        </p:nvCxnSpPr>
        <p:spPr>
          <a:xfrm>
            <a:off x="1715678" y="3237764"/>
            <a:ext cx="782425" cy="9342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535D475-1367-92DE-B5DF-6AB1BF4999D2}"/>
              </a:ext>
            </a:extLst>
          </p:cNvPr>
          <p:cNvCxnSpPr>
            <a:cxnSpLocks/>
          </p:cNvCxnSpPr>
          <p:nvPr/>
        </p:nvCxnSpPr>
        <p:spPr>
          <a:xfrm flipV="1">
            <a:off x="2950589" y="3331896"/>
            <a:ext cx="726903" cy="8323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2A78447F-2A5D-2E8F-6548-320C05DF1A6F}"/>
              </a:ext>
            </a:extLst>
          </p:cNvPr>
          <p:cNvCxnSpPr>
            <a:cxnSpLocks/>
          </p:cNvCxnSpPr>
          <p:nvPr/>
        </p:nvCxnSpPr>
        <p:spPr>
          <a:xfrm>
            <a:off x="5997537" y="3274770"/>
            <a:ext cx="693571" cy="7828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DF7282B6-683E-A64F-1D4E-1DFF536711FB}"/>
              </a:ext>
            </a:extLst>
          </p:cNvPr>
          <p:cNvCxnSpPr>
            <a:cxnSpLocks/>
          </p:cNvCxnSpPr>
          <p:nvPr/>
        </p:nvCxnSpPr>
        <p:spPr>
          <a:xfrm flipV="1">
            <a:off x="7279063" y="3259281"/>
            <a:ext cx="726903" cy="8323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C5E588F6-1ABF-0B32-E271-DC613B5B984F}"/>
              </a:ext>
            </a:extLst>
          </p:cNvPr>
          <p:cNvCxnSpPr>
            <a:cxnSpLocks/>
          </p:cNvCxnSpPr>
          <p:nvPr/>
        </p:nvCxnSpPr>
        <p:spPr>
          <a:xfrm>
            <a:off x="9875447" y="3284830"/>
            <a:ext cx="837456" cy="8400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02993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E325B-FF69-E188-3F0B-6D6BA8D92AB4}"/>
              </a:ext>
            </a:extLst>
          </p:cNvPr>
          <p:cNvSpPr>
            <a:spLocks noGrp="1"/>
          </p:cNvSpPr>
          <p:nvPr>
            <p:ph type="title"/>
          </p:nvPr>
        </p:nvSpPr>
        <p:spPr>
          <a:xfrm>
            <a:off x="646111" y="373626"/>
            <a:ext cx="9404723" cy="1032387"/>
          </a:xfrm>
        </p:spPr>
        <p:txBody>
          <a:bodyPr/>
          <a:lstStyle/>
          <a:p>
            <a:r>
              <a:rPr lang="en-IN" b="1" dirty="0"/>
              <a:t>MILESTONES</a:t>
            </a:r>
          </a:p>
        </p:txBody>
      </p:sp>
      <p:sp>
        <p:nvSpPr>
          <p:cNvPr id="3" name="Content Placeholder 2">
            <a:extLst>
              <a:ext uri="{FF2B5EF4-FFF2-40B4-BE49-F238E27FC236}">
                <a16:creationId xmlns:a16="http://schemas.microsoft.com/office/drawing/2014/main" id="{4626D0CB-5A39-9E1B-F727-B5C33F9C259D}"/>
              </a:ext>
            </a:extLst>
          </p:cNvPr>
          <p:cNvSpPr>
            <a:spLocks noGrp="1"/>
          </p:cNvSpPr>
          <p:nvPr>
            <p:ph idx="1"/>
          </p:nvPr>
        </p:nvSpPr>
        <p:spPr>
          <a:xfrm>
            <a:off x="383458" y="1140542"/>
            <a:ext cx="11415252" cy="5107857"/>
          </a:xfrm>
        </p:spPr>
        <p:txBody>
          <a:bodyPr>
            <a:normAutofit/>
          </a:bodyPr>
          <a:lstStyle/>
          <a:p>
            <a:r>
              <a:rPr lang="en-US" b="1" dirty="0"/>
              <a:t>Milestone 1:</a:t>
            </a:r>
            <a:br>
              <a:rPr lang="en-US" dirty="0"/>
            </a:br>
            <a:r>
              <a:rPr lang="en-US" sz="1700" dirty="0"/>
              <a:t>This phase concentrated on defining project goals and preparing the election dataset for analysis. Data cleaning and preprocessing were carried out to maintain accuracy, uniformity, and reliability across all states and election years.</a:t>
            </a:r>
          </a:p>
          <a:p>
            <a:r>
              <a:rPr lang="en-US" b="1" dirty="0"/>
              <a:t>Milestone 2:</a:t>
            </a:r>
            <a:br>
              <a:rPr lang="en-US" dirty="0"/>
            </a:br>
            <a:r>
              <a:rPr lang="en-US" sz="1600" dirty="0"/>
              <a:t>This milestone focused on developing the initial dashboard pages, including Election Overview, Special Elections and Fusion Ticket Analysis, and State-wise Candidate Vote Distribution. These pages highligh</a:t>
            </a:r>
            <a:r>
              <a:rPr lang="en-US" dirty="0"/>
              <a:t>t major trends and provide regional insights into voting patterns and electoral behavior.</a:t>
            </a:r>
          </a:p>
          <a:p>
            <a:r>
              <a:rPr lang="en-US" b="1" dirty="0"/>
              <a:t>Milestone 3:</a:t>
            </a:r>
            <a:br>
              <a:rPr lang="en-US" dirty="0"/>
            </a:br>
            <a:r>
              <a:rPr lang="en-US" sz="1600" dirty="0"/>
              <a:t>During this phase, advanced analytical dashboards were created to assess party dominance, candidate performance, and seat distribution across states. These visuals offer deeper understanding of political control and shifts in power over time.</a:t>
            </a:r>
          </a:p>
          <a:p>
            <a:r>
              <a:rPr lang="en-US" b="1" dirty="0"/>
              <a:t>Milestone 4:</a:t>
            </a:r>
            <a:br>
              <a:rPr lang="en-US" dirty="0"/>
            </a:br>
            <a:r>
              <a:rPr lang="en-US" sz="1600" dirty="0"/>
              <a:t>The final milestone completed the dashboard by adding voter participation analysis along with a consolidated results overview. This stage emphasized summarizing insights and improving storytelling for quick understanding and effective presentation.</a:t>
            </a:r>
          </a:p>
          <a:p>
            <a:endParaRPr lang="en-IN" dirty="0"/>
          </a:p>
        </p:txBody>
      </p:sp>
    </p:spTree>
    <p:extLst>
      <p:ext uri="{BB962C8B-B14F-4D97-AF65-F5344CB8AC3E}">
        <p14:creationId xmlns:p14="http://schemas.microsoft.com/office/powerpoint/2010/main" val="2392957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2F250-86EB-3003-C015-87AB7DDD3A69}"/>
              </a:ext>
            </a:extLst>
          </p:cNvPr>
          <p:cNvSpPr>
            <a:spLocks noGrp="1"/>
          </p:cNvSpPr>
          <p:nvPr>
            <p:ph type="title"/>
          </p:nvPr>
        </p:nvSpPr>
        <p:spPr>
          <a:xfrm>
            <a:off x="1123297" y="201138"/>
            <a:ext cx="9387589" cy="1046375"/>
          </a:xfrm>
        </p:spPr>
        <p:txBody>
          <a:bodyPr anchor="ctr">
            <a:normAutofit/>
          </a:bodyPr>
          <a:lstStyle/>
          <a:p>
            <a:pPr algn="ctr"/>
            <a:r>
              <a:rPr lang="en-IN" sz="3600" b="1" dirty="0">
                <a:latin typeface="Verdana" panose="020B0604030504040204" pitchFamily="34" charset="0"/>
                <a:ea typeface="Verdana" panose="020B0604030504040204" pitchFamily="34" charset="0"/>
              </a:rPr>
              <a:t>MILESTONE Outcomes</a:t>
            </a:r>
          </a:p>
        </p:txBody>
      </p:sp>
      <p:pic>
        <p:nvPicPr>
          <p:cNvPr id="16" name="Content Placeholder 15">
            <a:extLst>
              <a:ext uri="{FF2B5EF4-FFF2-40B4-BE49-F238E27FC236}">
                <a16:creationId xmlns:a16="http://schemas.microsoft.com/office/drawing/2014/main" id="{7EA6BC06-5566-65E4-DD78-2C155655F1C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38156" y="4235915"/>
            <a:ext cx="4122340" cy="237656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4" name="Picture 3">
            <a:extLst>
              <a:ext uri="{FF2B5EF4-FFF2-40B4-BE49-F238E27FC236}">
                <a16:creationId xmlns:a16="http://schemas.microsoft.com/office/drawing/2014/main" id="{715CD757-2026-B809-1541-72D55257A89C}"/>
              </a:ext>
            </a:extLst>
          </p:cNvPr>
          <p:cNvPicPr>
            <a:picLocks noChangeAspect="1"/>
          </p:cNvPicPr>
          <p:nvPr/>
        </p:nvPicPr>
        <p:blipFill>
          <a:blip r:embed="rId4"/>
          <a:stretch>
            <a:fillRect/>
          </a:stretch>
        </p:blipFill>
        <p:spPr>
          <a:xfrm>
            <a:off x="738156" y="1566327"/>
            <a:ext cx="4122340" cy="235077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1" name="Picture 10">
            <a:extLst>
              <a:ext uri="{FF2B5EF4-FFF2-40B4-BE49-F238E27FC236}">
                <a16:creationId xmlns:a16="http://schemas.microsoft.com/office/drawing/2014/main" id="{1E307CC7-2FC6-824F-99EB-2EBBDAAB5693}"/>
              </a:ext>
            </a:extLst>
          </p:cNvPr>
          <p:cNvPicPr>
            <a:picLocks noChangeAspect="1"/>
          </p:cNvPicPr>
          <p:nvPr/>
        </p:nvPicPr>
        <p:blipFill>
          <a:blip r:embed="rId5"/>
          <a:stretch>
            <a:fillRect/>
          </a:stretch>
        </p:blipFill>
        <p:spPr>
          <a:xfrm>
            <a:off x="7033108" y="1517496"/>
            <a:ext cx="4210706" cy="239960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8" name="Picture 17">
            <a:extLst>
              <a:ext uri="{FF2B5EF4-FFF2-40B4-BE49-F238E27FC236}">
                <a16:creationId xmlns:a16="http://schemas.microsoft.com/office/drawing/2014/main" id="{209C656C-6AD9-B4B0-BBA9-C4F861B9B92E}"/>
              </a:ext>
            </a:extLst>
          </p:cNvPr>
          <p:cNvPicPr>
            <a:picLocks noChangeAspect="1"/>
          </p:cNvPicPr>
          <p:nvPr/>
        </p:nvPicPr>
        <p:blipFill>
          <a:blip r:embed="rId6"/>
          <a:stretch>
            <a:fillRect/>
          </a:stretch>
        </p:blipFill>
        <p:spPr>
          <a:xfrm>
            <a:off x="7127376" y="4257257"/>
            <a:ext cx="4210706" cy="239960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166666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271A7EB-9F15-56F2-3DAC-E1E2DBF07E75}"/>
              </a:ext>
            </a:extLst>
          </p:cNvPr>
          <p:cNvSpPr>
            <a:spLocks noGrp="1"/>
          </p:cNvSpPr>
          <p:nvPr>
            <p:ph type="body" sz="half" idx="2"/>
          </p:nvPr>
        </p:nvSpPr>
        <p:spPr>
          <a:xfrm>
            <a:off x="496018" y="5397910"/>
            <a:ext cx="2834640" cy="930918"/>
          </a:xfrm>
        </p:spPr>
        <p:txBody>
          <a:bodyPr>
            <a:normAutofit/>
          </a:bodyPr>
          <a:lstStyle/>
          <a:p>
            <a:r>
              <a:rPr lang="en-IN" dirty="0"/>
              <a:t> </a:t>
            </a:r>
          </a:p>
        </p:txBody>
      </p:sp>
      <p:pic>
        <p:nvPicPr>
          <p:cNvPr id="18" name="Picture 17">
            <a:extLst>
              <a:ext uri="{FF2B5EF4-FFF2-40B4-BE49-F238E27FC236}">
                <a16:creationId xmlns:a16="http://schemas.microsoft.com/office/drawing/2014/main" id="{A5339F6B-C1E1-4223-80AA-288986DCD8D6}"/>
              </a:ext>
            </a:extLst>
          </p:cNvPr>
          <p:cNvPicPr>
            <a:picLocks noChangeAspect="1"/>
          </p:cNvPicPr>
          <p:nvPr/>
        </p:nvPicPr>
        <p:blipFill>
          <a:blip r:embed="rId2"/>
          <a:stretch>
            <a:fillRect/>
          </a:stretch>
        </p:blipFill>
        <p:spPr>
          <a:xfrm>
            <a:off x="3692886" y="1389690"/>
            <a:ext cx="4503576" cy="253298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0" name="Picture 19">
            <a:extLst>
              <a:ext uri="{FF2B5EF4-FFF2-40B4-BE49-F238E27FC236}">
                <a16:creationId xmlns:a16="http://schemas.microsoft.com/office/drawing/2014/main" id="{98212B04-5E39-5F9D-104C-77536BCA9CE3}"/>
              </a:ext>
            </a:extLst>
          </p:cNvPr>
          <p:cNvPicPr>
            <a:picLocks noChangeAspect="1"/>
          </p:cNvPicPr>
          <p:nvPr/>
        </p:nvPicPr>
        <p:blipFill>
          <a:blip r:embed="rId3"/>
          <a:stretch>
            <a:fillRect/>
          </a:stretch>
        </p:blipFill>
        <p:spPr>
          <a:xfrm>
            <a:off x="946318" y="4201816"/>
            <a:ext cx="4219098" cy="239218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2" name="Picture 21">
            <a:extLst>
              <a:ext uri="{FF2B5EF4-FFF2-40B4-BE49-F238E27FC236}">
                <a16:creationId xmlns:a16="http://schemas.microsoft.com/office/drawing/2014/main" id="{624BD778-4695-25E8-715A-41867713863F}"/>
              </a:ext>
            </a:extLst>
          </p:cNvPr>
          <p:cNvPicPr>
            <a:picLocks noChangeAspect="1"/>
          </p:cNvPicPr>
          <p:nvPr/>
        </p:nvPicPr>
        <p:blipFill>
          <a:blip r:embed="rId4"/>
          <a:stretch>
            <a:fillRect/>
          </a:stretch>
        </p:blipFill>
        <p:spPr>
          <a:xfrm>
            <a:off x="7019295" y="4201816"/>
            <a:ext cx="4189438" cy="239218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itle 1">
            <a:extLst>
              <a:ext uri="{FF2B5EF4-FFF2-40B4-BE49-F238E27FC236}">
                <a16:creationId xmlns:a16="http://schemas.microsoft.com/office/drawing/2014/main" id="{D52F6651-92D4-F1BA-6172-404157B24090}"/>
              </a:ext>
            </a:extLst>
          </p:cNvPr>
          <p:cNvSpPr txBox="1">
            <a:spLocks/>
          </p:cNvSpPr>
          <p:nvPr/>
        </p:nvSpPr>
        <p:spPr bwMode="blackWhite">
          <a:xfrm>
            <a:off x="1250879" y="203745"/>
            <a:ext cx="9387589" cy="1046375"/>
          </a:xfrm>
          <a:prstGeom prst="rect">
            <a:avLst/>
          </a:prstGeom>
          <a:solidFill>
            <a:srgbClr val="FFFFFF"/>
          </a:solidFill>
          <a:ln w="31750" cap="sq">
            <a:solidFill>
              <a:srgbClr val="404040"/>
            </a:solidFill>
            <a:miter lim="800000"/>
          </a:ln>
        </p:spPr>
        <p:txBody>
          <a:bodyPr vert="horz" lIns="182880" tIns="182880" rIns="182880" bIns="182880" rtlCol="0" anchor="ctr" anchorCtr="1">
            <a:normAutofit/>
          </a:bodyPr>
          <a:lstStyle>
            <a:lvl1pPr algn="ctr" defTabSz="914400" rtl="0" eaLnBrk="1" latinLnBrk="0" hangingPunct="1">
              <a:lnSpc>
                <a:spcPct val="90000"/>
              </a:lnSpc>
              <a:spcBef>
                <a:spcPct val="0"/>
              </a:spcBef>
              <a:buNone/>
              <a:defRPr sz="2200" kern="1200" cap="all" spc="200" baseline="0">
                <a:solidFill>
                  <a:srgbClr val="262626"/>
                </a:solidFill>
                <a:latin typeface="+mj-lt"/>
                <a:ea typeface="+mj-ea"/>
                <a:cs typeface="+mj-cs"/>
              </a:defRPr>
            </a:lvl1pPr>
          </a:lstStyle>
          <a:p>
            <a:r>
              <a:rPr lang="en-IN" sz="3600" b="1" dirty="0">
                <a:latin typeface="Verdana" panose="020B0604030504040204" pitchFamily="34" charset="0"/>
                <a:ea typeface="Verdana" panose="020B0604030504040204" pitchFamily="34" charset="0"/>
              </a:rPr>
              <a:t>MILESTONE Outcomes</a:t>
            </a:r>
          </a:p>
        </p:txBody>
      </p:sp>
    </p:spTree>
    <p:extLst>
      <p:ext uri="{BB962C8B-B14F-4D97-AF65-F5344CB8AC3E}">
        <p14:creationId xmlns:p14="http://schemas.microsoft.com/office/powerpoint/2010/main" val="3240598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415CA-BF5B-0F8E-7C0E-0689BD303088}"/>
              </a:ext>
            </a:extLst>
          </p:cNvPr>
          <p:cNvSpPr>
            <a:spLocks noGrp="1"/>
          </p:cNvSpPr>
          <p:nvPr>
            <p:ph type="title"/>
          </p:nvPr>
        </p:nvSpPr>
        <p:spPr>
          <a:xfrm>
            <a:off x="3175950" y="322559"/>
            <a:ext cx="5345882" cy="1176303"/>
          </a:xfrm>
        </p:spPr>
        <p:txBody>
          <a:bodyPr>
            <a:normAutofit/>
          </a:bodyPr>
          <a:lstStyle/>
          <a:p>
            <a:pPr algn="ctr"/>
            <a:r>
              <a:rPr lang="en-IN" sz="3200" b="1" dirty="0">
                <a:latin typeface="Verdana" panose="020B0604030504040204" pitchFamily="34" charset="0"/>
                <a:ea typeface="Verdana" panose="020B0604030504040204" pitchFamily="34" charset="0"/>
              </a:rPr>
              <a:t>Future Enhancements</a:t>
            </a:r>
          </a:p>
        </p:txBody>
      </p:sp>
      <p:sp>
        <p:nvSpPr>
          <p:cNvPr id="3" name="Content Placeholder 2">
            <a:extLst>
              <a:ext uri="{FF2B5EF4-FFF2-40B4-BE49-F238E27FC236}">
                <a16:creationId xmlns:a16="http://schemas.microsoft.com/office/drawing/2014/main" id="{B1A6A303-491A-D077-1842-A873397FC289}"/>
              </a:ext>
            </a:extLst>
          </p:cNvPr>
          <p:cNvSpPr>
            <a:spLocks noGrp="1"/>
          </p:cNvSpPr>
          <p:nvPr>
            <p:ph idx="1"/>
          </p:nvPr>
        </p:nvSpPr>
        <p:spPr>
          <a:xfrm>
            <a:off x="1194187" y="2100716"/>
            <a:ext cx="9524089" cy="3101983"/>
          </a:xfrm>
        </p:spPr>
        <p:txBody>
          <a:bodyPr>
            <a:noAutofit/>
          </a:bodyPr>
          <a:lstStyle/>
          <a:p>
            <a:pPr algn="just">
              <a:lnSpc>
                <a:spcPct val="150000"/>
              </a:lnSpc>
            </a:pPr>
            <a:r>
              <a:rPr lang="en-US" sz="1900" b="1" dirty="0">
                <a:solidFill>
                  <a:schemeClr val="tx1"/>
                </a:solidFill>
                <a:latin typeface="Times New Roman" panose="02020603050405020304" pitchFamily="18" charset="0"/>
                <a:cs typeface="Times New Roman" panose="02020603050405020304" pitchFamily="18" charset="0"/>
              </a:rPr>
              <a:t>Predictive AI Integration: </a:t>
            </a:r>
            <a:r>
              <a:rPr lang="en-US" sz="1900" dirty="0">
                <a:solidFill>
                  <a:schemeClr val="tx1"/>
                </a:solidFill>
                <a:latin typeface="Times New Roman" panose="02020603050405020304" pitchFamily="18" charset="0"/>
                <a:cs typeface="Times New Roman" panose="02020603050405020304" pitchFamily="18" charset="0"/>
              </a:rPr>
              <a:t>Incorporating machine learning models to project "Likely Winners" in real-time based on early partial returns.</a:t>
            </a:r>
          </a:p>
          <a:p>
            <a:pPr algn="just">
              <a:lnSpc>
                <a:spcPct val="150000"/>
              </a:lnSpc>
            </a:pPr>
            <a:r>
              <a:rPr lang="en-US" sz="1900" b="1" dirty="0">
                <a:solidFill>
                  <a:schemeClr val="tx1"/>
                </a:solidFill>
                <a:latin typeface="Times New Roman" panose="02020603050405020304" pitchFamily="18" charset="0"/>
                <a:cs typeface="Times New Roman" panose="02020603050405020304" pitchFamily="18" charset="0"/>
              </a:rPr>
              <a:t>Predictive "What-If" Modeling: </a:t>
            </a:r>
            <a:r>
              <a:rPr lang="en-US" sz="1900" dirty="0">
                <a:solidFill>
                  <a:schemeClr val="tx1"/>
                </a:solidFill>
                <a:latin typeface="Times New Roman" panose="02020603050405020304" pitchFamily="18" charset="0"/>
                <a:cs typeface="Times New Roman" panose="02020603050405020304" pitchFamily="18" charset="0"/>
              </a:rPr>
              <a:t>Enabling a feature (similar to major news networks) to estimate final outcomes as soon as key precincts report.</a:t>
            </a:r>
          </a:p>
          <a:p>
            <a:pPr algn="just">
              <a:lnSpc>
                <a:spcPct val="150000"/>
              </a:lnSpc>
            </a:pPr>
            <a:r>
              <a:rPr lang="en-US" sz="1900" b="1" dirty="0">
                <a:solidFill>
                  <a:schemeClr val="tx1"/>
                </a:solidFill>
                <a:latin typeface="Times New Roman" panose="02020603050405020304" pitchFamily="18" charset="0"/>
                <a:cs typeface="Times New Roman" panose="02020603050405020304" pitchFamily="18" charset="0"/>
              </a:rPr>
              <a:t>Demographic Overlay: </a:t>
            </a:r>
            <a:r>
              <a:rPr lang="en-US" sz="1900" dirty="0">
                <a:solidFill>
                  <a:schemeClr val="tx1"/>
                </a:solidFill>
                <a:latin typeface="Times New Roman" panose="02020603050405020304" pitchFamily="18" charset="0"/>
                <a:cs typeface="Times New Roman" panose="02020603050405020304" pitchFamily="18" charset="0"/>
              </a:rPr>
              <a:t>Integrating US Census data to visualize how factors like income, education, and age influenced the voting shifts seen in your current charts.</a:t>
            </a:r>
          </a:p>
          <a:p>
            <a:pPr algn="just">
              <a:lnSpc>
                <a:spcPct val="150000"/>
              </a:lnSpc>
            </a:pPr>
            <a:r>
              <a:rPr lang="en-US" sz="1900" b="1" dirty="0">
                <a:solidFill>
                  <a:schemeClr val="tx1"/>
                </a:solidFill>
                <a:latin typeface="Times New Roman" panose="02020603050405020304" pitchFamily="18" charset="0"/>
                <a:cs typeface="Times New Roman" panose="02020603050405020304" pitchFamily="18" charset="0"/>
              </a:rPr>
              <a:t>Live API Connectivity: </a:t>
            </a:r>
            <a:r>
              <a:rPr lang="en-US" sz="1900" dirty="0">
                <a:solidFill>
                  <a:schemeClr val="tx1"/>
                </a:solidFill>
                <a:latin typeface="Times New Roman" panose="02020603050405020304" pitchFamily="18" charset="0"/>
                <a:cs typeface="Times New Roman" panose="02020603050405020304" pitchFamily="18" charset="0"/>
              </a:rPr>
              <a:t>Transitioning from static datasets to live Web API feeds (such as the Associated Press) for automated updates during election nights.</a:t>
            </a:r>
            <a:endParaRPr lang="en-IN" sz="19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53532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61F4F-1C8F-D27A-2DC6-0A1FB4455BFF}"/>
              </a:ext>
            </a:extLst>
          </p:cNvPr>
          <p:cNvSpPr>
            <a:spLocks noGrp="1"/>
          </p:cNvSpPr>
          <p:nvPr>
            <p:ph type="title"/>
          </p:nvPr>
        </p:nvSpPr>
        <p:spPr>
          <a:xfrm>
            <a:off x="2231136" y="580759"/>
            <a:ext cx="7729728" cy="1188720"/>
          </a:xfrm>
        </p:spPr>
        <p:txBody>
          <a:bodyPr/>
          <a:lstStyle/>
          <a:p>
            <a:pPr algn="ctr"/>
            <a:r>
              <a:rPr lang="en-IN" b="1" dirty="0">
                <a:latin typeface="Verdana" panose="020B0604030504040204" pitchFamily="34" charset="0"/>
                <a:ea typeface="Verdana" panose="020B0604030504040204" pitchFamily="34" charset="0"/>
              </a:rPr>
              <a:t>Conclusion</a:t>
            </a:r>
          </a:p>
        </p:txBody>
      </p:sp>
      <p:sp>
        <p:nvSpPr>
          <p:cNvPr id="5" name="Content Placeholder 2">
            <a:extLst>
              <a:ext uri="{FF2B5EF4-FFF2-40B4-BE49-F238E27FC236}">
                <a16:creationId xmlns:a16="http://schemas.microsoft.com/office/drawing/2014/main" id="{113A9F72-A59C-2489-5AC8-2DDF32B36435}"/>
              </a:ext>
            </a:extLst>
          </p:cNvPr>
          <p:cNvSpPr>
            <a:spLocks noGrp="1"/>
          </p:cNvSpPr>
          <p:nvPr>
            <p:ph idx="1"/>
          </p:nvPr>
        </p:nvSpPr>
        <p:spPr>
          <a:xfrm>
            <a:off x="1291470" y="2042466"/>
            <a:ext cx="9643621" cy="4508155"/>
          </a:xfrm>
        </p:spPr>
        <p:txBody>
          <a:bodyPr>
            <a:normAutofit/>
          </a:bodyPr>
          <a:lstStyle/>
          <a:p>
            <a:pPr algn="just">
              <a:lnSpc>
                <a:spcPct val="110000"/>
              </a:lnSpc>
            </a:pPr>
            <a:r>
              <a:rPr lang="en-US" sz="1800" dirty="0">
                <a:solidFill>
                  <a:schemeClr val="tx1"/>
                </a:solidFill>
                <a:latin typeface="Times New Roman" panose="02020603050405020304" pitchFamily="18" charset="0"/>
                <a:cs typeface="Times New Roman" panose="02020603050405020304" pitchFamily="18" charset="0"/>
              </a:rPr>
              <a:t>The project successfully transformed </a:t>
            </a:r>
            <a:r>
              <a:rPr lang="en-US" sz="1800" b="1" dirty="0">
                <a:solidFill>
                  <a:schemeClr val="tx1"/>
                </a:solidFill>
                <a:latin typeface="Times New Roman" panose="02020603050405020304" pitchFamily="18" charset="0"/>
                <a:cs typeface="Times New Roman" panose="02020603050405020304" pitchFamily="18" charset="0"/>
              </a:rPr>
              <a:t>raw and complex election datasets</a:t>
            </a:r>
            <a:r>
              <a:rPr lang="en-US" sz="1800" dirty="0">
                <a:solidFill>
                  <a:schemeClr val="tx1"/>
                </a:solidFill>
                <a:latin typeface="Times New Roman" panose="02020603050405020304" pitchFamily="18" charset="0"/>
                <a:cs typeface="Times New Roman" panose="02020603050405020304" pitchFamily="18" charset="0"/>
              </a:rPr>
              <a:t> into </a:t>
            </a:r>
            <a:r>
              <a:rPr lang="en-US" sz="1800" b="1" dirty="0">
                <a:solidFill>
                  <a:schemeClr val="tx1"/>
                </a:solidFill>
                <a:latin typeface="Times New Roman" panose="02020603050405020304" pitchFamily="18" charset="0"/>
                <a:cs typeface="Times New Roman" panose="02020603050405020304" pitchFamily="18" charset="0"/>
              </a:rPr>
              <a:t>structured, accurate, and visually intuitive insights</a:t>
            </a:r>
            <a:r>
              <a:rPr lang="en-US" sz="1800" dirty="0">
                <a:solidFill>
                  <a:schemeClr val="tx1"/>
                </a:solidFill>
                <a:latin typeface="Times New Roman" panose="02020603050405020304" pitchFamily="18" charset="0"/>
                <a:cs typeface="Times New Roman" panose="02020603050405020304" pitchFamily="18" charset="0"/>
              </a:rPr>
              <a:t>, enabling users to quickly interpret large volumes of electoral information that would otherwise be difficult to analyze in tabular form.</a:t>
            </a:r>
          </a:p>
          <a:p>
            <a:pPr algn="just">
              <a:lnSpc>
                <a:spcPct val="110000"/>
              </a:lnSpc>
            </a:pPr>
            <a:r>
              <a:rPr lang="en-US" sz="1800" dirty="0">
                <a:solidFill>
                  <a:schemeClr val="tx1"/>
                </a:solidFill>
                <a:latin typeface="Times New Roman" panose="02020603050405020304" pitchFamily="18" charset="0"/>
                <a:cs typeface="Times New Roman" panose="02020603050405020304" pitchFamily="18" charset="0"/>
              </a:rPr>
              <a:t>By leveraging </a:t>
            </a:r>
            <a:r>
              <a:rPr lang="en-US" sz="1800" b="1" dirty="0">
                <a:solidFill>
                  <a:schemeClr val="tx1"/>
                </a:solidFill>
                <a:latin typeface="Times New Roman" panose="02020603050405020304" pitchFamily="18" charset="0"/>
                <a:cs typeface="Times New Roman" panose="02020603050405020304" pitchFamily="18" charset="0"/>
              </a:rPr>
              <a:t>modern data visualization techniques</a:t>
            </a:r>
            <a:r>
              <a:rPr lang="en-US" sz="1800" dirty="0">
                <a:solidFill>
                  <a:schemeClr val="tx1"/>
                </a:solidFill>
                <a:latin typeface="Times New Roman" panose="02020603050405020304" pitchFamily="18" charset="0"/>
                <a:cs typeface="Times New Roman" panose="02020603050405020304" pitchFamily="18" charset="0"/>
              </a:rPr>
              <a:t>, the project clearly demonstrated how interactive dashboards can enhance the understanding of </a:t>
            </a:r>
            <a:r>
              <a:rPr lang="en-US" sz="1800" b="1" dirty="0">
                <a:solidFill>
                  <a:schemeClr val="tx1"/>
                </a:solidFill>
                <a:latin typeface="Times New Roman" panose="02020603050405020304" pitchFamily="18" charset="0"/>
                <a:cs typeface="Times New Roman" panose="02020603050405020304" pitchFamily="18" charset="0"/>
              </a:rPr>
              <a:t>political trends, voting patterns, and long-term shifts in party dominance</a:t>
            </a:r>
            <a:r>
              <a:rPr lang="en-US" sz="1800" dirty="0">
                <a:solidFill>
                  <a:schemeClr val="tx1"/>
                </a:solidFill>
                <a:latin typeface="Times New Roman" panose="02020603050405020304" pitchFamily="18" charset="0"/>
                <a:cs typeface="Times New Roman" panose="02020603050405020304" pitchFamily="18" charset="0"/>
              </a:rPr>
              <a:t> across multiple election cycles.</a:t>
            </a:r>
          </a:p>
          <a:p>
            <a:pPr algn="just">
              <a:lnSpc>
                <a:spcPct val="110000"/>
              </a:lnSpc>
            </a:pPr>
            <a:r>
              <a:rPr lang="en-US" sz="1800" dirty="0">
                <a:solidFill>
                  <a:schemeClr val="tx1"/>
                </a:solidFill>
                <a:latin typeface="Times New Roman" panose="02020603050405020304" pitchFamily="18" charset="0"/>
                <a:cs typeface="Times New Roman" panose="02020603050405020304" pitchFamily="18" charset="0"/>
              </a:rPr>
              <a:t>The dashboard enabled </a:t>
            </a:r>
            <a:r>
              <a:rPr lang="en-US" sz="1800" b="1" dirty="0">
                <a:solidFill>
                  <a:schemeClr val="tx1"/>
                </a:solidFill>
                <a:latin typeface="Times New Roman" panose="02020603050405020304" pitchFamily="18" charset="0"/>
                <a:cs typeface="Times New Roman" panose="02020603050405020304" pitchFamily="18" charset="0"/>
              </a:rPr>
              <a:t>comprehensive and multi-dimensional analysis</a:t>
            </a:r>
            <a:r>
              <a:rPr lang="en-US" sz="1800" dirty="0">
                <a:solidFill>
                  <a:schemeClr val="tx1"/>
                </a:solidFill>
                <a:latin typeface="Times New Roman" panose="02020603050405020304" pitchFamily="18" charset="0"/>
                <a:cs typeface="Times New Roman" panose="02020603050405020304" pitchFamily="18" charset="0"/>
              </a:rPr>
              <a:t> of </a:t>
            </a:r>
            <a:r>
              <a:rPr lang="en-US" sz="1800" b="1" dirty="0">
                <a:solidFill>
                  <a:schemeClr val="tx1"/>
                </a:solidFill>
                <a:latin typeface="Times New Roman" panose="02020603050405020304" pitchFamily="18" charset="0"/>
                <a:cs typeface="Times New Roman" panose="02020603050405020304" pitchFamily="18" charset="0"/>
              </a:rPr>
              <a:t>party performance, voter behavior, seat distribution, and regional influence</a:t>
            </a:r>
            <a:r>
              <a:rPr lang="en-US" sz="1800" dirty="0">
                <a:solidFill>
                  <a:schemeClr val="tx1"/>
                </a:solidFill>
                <a:latin typeface="Times New Roman" panose="02020603050405020304" pitchFamily="18" charset="0"/>
                <a:cs typeface="Times New Roman" panose="02020603050405020304" pitchFamily="18" charset="0"/>
              </a:rPr>
              <a:t>, allowing users to explore data at national, state, and candidate levels through dynamic filtering and drill-down capabilities.</a:t>
            </a:r>
          </a:p>
          <a:p>
            <a:pPr algn="just">
              <a:lnSpc>
                <a:spcPct val="110000"/>
              </a:lnSpc>
            </a:pPr>
            <a:r>
              <a:rPr lang="en-US" sz="1800" dirty="0">
                <a:solidFill>
                  <a:schemeClr val="tx1"/>
                </a:solidFill>
                <a:latin typeface="Times New Roman" panose="02020603050405020304" pitchFamily="18" charset="0"/>
                <a:cs typeface="Times New Roman" panose="02020603050405020304" pitchFamily="18" charset="0"/>
              </a:rPr>
              <a:t>Finally, the project established a </a:t>
            </a:r>
            <a:r>
              <a:rPr lang="en-US" sz="1800" b="1" dirty="0">
                <a:solidFill>
                  <a:schemeClr val="tx1"/>
                </a:solidFill>
                <a:latin typeface="Times New Roman" panose="02020603050405020304" pitchFamily="18" charset="0"/>
                <a:cs typeface="Times New Roman" panose="02020603050405020304" pitchFamily="18" charset="0"/>
              </a:rPr>
              <a:t>strong and scalable foundation for advanced analytical work</a:t>
            </a:r>
            <a:r>
              <a:rPr lang="en-US" sz="1800" dirty="0">
                <a:solidFill>
                  <a:schemeClr val="tx1"/>
                </a:solidFill>
                <a:latin typeface="Times New Roman" panose="02020603050405020304" pitchFamily="18" charset="0"/>
                <a:cs typeface="Times New Roman" panose="02020603050405020304" pitchFamily="18" charset="0"/>
              </a:rPr>
              <a:t>, making it well-suited for future enhancements such as real-time data integration, predictive analytics, demographic analysis, and more sophisticated decision-support systems.</a:t>
            </a:r>
          </a:p>
          <a:p>
            <a:pPr marL="0" lvl="0" indent="0" algn="just" eaLnBrk="0" fontAlgn="base" hangingPunct="0">
              <a:lnSpc>
                <a:spcPct val="110000"/>
              </a:lnSpc>
              <a:spcBef>
                <a:spcPct val="0"/>
              </a:spcBef>
              <a:spcAft>
                <a:spcPct val="0"/>
              </a:spcAft>
              <a:buClrTx/>
              <a:buFontTx/>
              <a:buChar char="•"/>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51763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BE038-97DE-A01D-5A00-92D0EF14ABD5}"/>
              </a:ext>
            </a:extLst>
          </p:cNvPr>
          <p:cNvSpPr>
            <a:spLocks noGrp="1"/>
          </p:cNvSpPr>
          <p:nvPr>
            <p:ph type="title"/>
          </p:nvPr>
        </p:nvSpPr>
        <p:spPr>
          <a:xfrm>
            <a:off x="1783237" y="341412"/>
            <a:ext cx="8625526" cy="1082035"/>
          </a:xfrm>
        </p:spPr>
        <p:txBody>
          <a:bodyPr>
            <a:normAutofit fontScale="90000"/>
          </a:bodyPr>
          <a:lstStyle/>
          <a:p>
            <a:r>
              <a:rPr lang="en-IN" b="1" dirty="0">
                <a:latin typeface="Verdana" panose="020B0604030504040204" pitchFamily="34" charset="0"/>
                <a:ea typeface="Verdana" panose="020B0604030504040204" pitchFamily="34" charset="0"/>
                <a:cs typeface="Times New Roman" panose="02020603050405020304" pitchFamily="18" charset="0"/>
              </a:rPr>
              <a:t>ACKNOWLEDGMENT &amp; Reference</a:t>
            </a:r>
          </a:p>
        </p:txBody>
      </p:sp>
      <p:sp>
        <p:nvSpPr>
          <p:cNvPr id="4" name="Content Placeholder 2">
            <a:extLst>
              <a:ext uri="{FF2B5EF4-FFF2-40B4-BE49-F238E27FC236}">
                <a16:creationId xmlns:a16="http://schemas.microsoft.com/office/drawing/2014/main" id="{1582A70C-C3BE-55E7-BF0C-A8026BD21425}"/>
              </a:ext>
            </a:extLst>
          </p:cNvPr>
          <p:cNvSpPr txBox="1">
            <a:spLocks/>
          </p:cNvSpPr>
          <p:nvPr/>
        </p:nvSpPr>
        <p:spPr>
          <a:xfrm>
            <a:off x="2196445" y="1736726"/>
            <a:ext cx="8003357" cy="4418978"/>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lgn="just">
              <a:buFont typeface="Arial" panose="020B0604020202020204" pitchFamily="34" charset="0"/>
              <a:buNone/>
            </a:pPr>
            <a:r>
              <a:rPr lang="en-US" altLang="en-US" sz="2000" b="1" dirty="0">
                <a:solidFill>
                  <a:schemeClr val="tx1"/>
                </a:solidFill>
                <a:latin typeface="Times New Roman" panose="02020603050405020304" pitchFamily="18" charset="0"/>
                <a:cs typeface="Times New Roman" panose="02020603050405020304" pitchFamily="18" charset="0"/>
              </a:rPr>
              <a:t>We would like to express our heartfelt gratitude to:</a:t>
            </a:r>
          </a:p>
          <a:p>
            <a:pPr marL="0" indent="0" algn="just">
              <a:buFont typeface="Arial" panose="020B0604020202020204" pitchFamily="34" charset="0"/>
              <a:buNone/>
            </a:pPr>
            <a:r>
              <a:rPr lang="en-US" altLang="en-US" sz="2000" dirty="0">
                <a:solidFill>
                  <a:schemeClr val="tx1"/>
                </a:solidFill>
                <a:latin typeface="Times New Roman" panose="02020603050405020304" pitchFamily="18" charset="0"/>
                <a:cs typeface="Times New Roman" panose="02020603050405020304" pitchFamily="18" charset="0"/>
              </a:rPr>
              <a:t>Infosys Springboard Team – for organizing this valuable internship opportunity.</a:t>
            </a:r>
          </a:p>
          <a:p>
            <a:pPr marL="0" indent="0" algn="just">
              <a:buFont typeface="Arial" panose="020B0604020202020204" pitchFamily="34" charset="0"/>
              <a:buNone/>
            </a:pPr>
            <a:r>
              <a:rPr lang="en-US" altLang="en-US" sz="2000" dirty="0">
                <a:solidFill>
                  <a:schemeClr val="tx1"/>
                </a:solidFill>
                <a:latin typeface="Times New Roman" panose="02020603050405020304" pitchFamily="18" charset="0"/>
                <a:cs typeface="Times New Roman" panose="02020603050405020304" pitchFamily="18" charset="0"/>
              </a:rPr>
              <a:t>Our Mentor – for her continuous support and feedback.</a:t>
            </a:r>
          </a:p>
          <a:p>
            <a:pPr marL="0" indent="0" algn="just">
              <a:buFont typeface="Arial" panose="020B0604020202020204" pitchFamily="34" charset="0"/>
              <a:buNone/>
            </a:pPr>
            <a:r>
              <a:rPr lang="en-US" altLang="en-US" sz="2000" dirty="0">
                <a:solidFill>
                  <a:schemeClr val="tx1"/>
                </a:solidFill>
                <a:latin typeface="Times New Roman" panose="02020603050405020304" pitchFamily="18" charset="0"/>
                <a:cs typeface="Times New Roman" panose="02020603050405020304" pitchFamily="18" charset="0"/>
              </a:rPr>
              <a:t>My Teammates – for collaboration, encouragement, and insights </a:t>
            </a:r>
          </a:p>
          <a:p>
            <a:pPr marL="0" indent="0" algn="just">
              <a:buFont typeface="Arial" panose="020B0604020202020204" pitchFamily="34" charset="0"/>
              <a:buNone/>
            </a:pPr>
            <a:r>
              <a:rPr lang="en-US" altLang="en-US" sz="2000" dirty="0">
                <a:solidFill>
                  <a:schemeClr val="tx1"/>
                </a:solidFill>
                <a:latin typeface="Times New Roman" panose="02020603050405020304" pitchFamily="18" charset="0"/>
                <a:cs typeface="Times New Roman" panose="02020603050405020304" pitchFamily="18" charset="0"/>
              </a:rPr>
              <a:t>This internship has been a significant step in our professional growth and technical journey.</a:t>
            </a:r>
          </a:p>
          <a:p>
            <a:pPr marL="0" indent="0" algn="just">
              <a:buFont typeface="Arial" panose="020B0604020202020204" pitchFamily="34" charset="0"/>
              <a:buNone/>
            </a:pPr>
            <a:r>
              <a:rPr lang="en-US" altLang="en-US" sz="2000" b="1" dirty="0">
                <a:solidFill>
                  <a:schemeClr val="tx1"/>
                </a:solidFill>
                <a:latin typeface="Times New Roman" panose="02020603050405020304" pitchFamily="18" charset="0"/>
                <a:cs typeface="Times New Roman" panose="02020603050405020304" pitchFamily="18" charset="0"/>
              </a:rPr>
              <a:t>References:</a:t>
            </a:r>
          </a:p>
          <a:p>
            <a:pPr marL="0" indent="0" algn="just">
              <a:buFont typeface="Arial" panose="020B0604020202020204" pitchFamily="34" charset="0"/>
              <a:buNone/>
            </a:pPr>
            <a:r>
              <a:rPr lang="en-US" altLang="en-US" sz="2000" dirty="0">
                <a:solidFill>
                  <a:schemeClr val="tx1"/>
                </a:solidFill>
                <a:latin typeface="Times New Roman" panose="02020603050405020304" pitchFamily="18" charset="0"/>
                <a:cs typeface="Times New Roman" panose="02020603050405020304" pitchFamily="18" charset="0"/>
              </a:rPr>
              <a:t>US_Election_Data(Kaggle source) </a:t>
            </a:r>
          </a:p>
          <a:p>
            <a:pPr marL="0" indent="0" algn="just">
              <a:buFont typeface="Arial" panose="020B0604020202020204" pitchFamily="34" charset="0"/>
              <a:buNone/>
            </a:pPr>
            <a:r>
              <a:rPr lang="en-US" altLang="en-US" sz="2000" dirty="0">
                <a:solidFill>
                  <a:schemeClr val="tx1"/>
                </a:solidFill>
                <a:latin typeface="Times New Roman" panose="02020603050405020304" pitchFamily="18" charset="0"/>
                <a:cs typeface="Times New Roman" panose="02020603050405020304" pitchFamily="18" charset="0"/>
              </a:rPr>
              <a:t>Microsoft Power BI Documentation</a:t>
            </a:r>
          </a:p>
          <a:p>
            <a:pPr marL="0" indent="0" algn="just">
              <a:buFont typeface="Arial" panose="020B0604020202020204" pitchFamily="34" charset="0"/>
              <a:buNone/>
            </a:pPr>
            <a:r>
              <a:rPr lang="en-US" altLang="en-US" sz="2000" dirty="0">
                <a:solidFill>
                  <a:schemeClr val="tx1"/>
                </a:solidFill>
                <a:latin typeface="Times New Roman" panose="02020603050405020304" pitchFamily="18" charset="0"/>
                <a:cs typeface="Times New Roman" panose="02020603050405020304" pitchFamily="18" charset="0"/>
              </a:rPr>
              <a:t>Infosys Springboard Virtual Internship course materials</a:t>
            </a:r>
          </a:p>
        </p:txBody>
      </p:sp>
    </p:spTree>
    <p:extLst>
      <p:ext uri="{BB962C8B-B14F-4D97-AF65-F5344CB8AC3E}">
        <p14:creationId xmlns:p14="http://schemas.microsoft.com/office/powerpoint/2010/main" val="1252938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24BE9-4ED3-EA31-E343-FDBE31066324}"/>
              </a:ext>
            </a:extLst>
          </p:cNvPr>
          <p:cNvSpPr>
            <a:spLocks noGrp="1"/>
          </p:cNvSpPr>
          <p:nvPr>
            <p:ph type="title"/>
          </p:nvPr>
        </p:nvSpPr>
        <p:spPr>
          <a:xfrm>
            <a:off x="2231136" y="2834640"/>
            <a:ext cx="7729728" cy="1188720"/>
          </a:xfrm>
        </p:spPr>
        <p:txBody>
          <a:bodyPr/>
          <a:lstStyle/>
          <a:p>
            <a:r>
              <a:rPr lang="en-IN" b="1" dirty="0"/>
              <a:t>THANK YOU </a:t>
            </a:r>
          </a:p>
        </p:txBody>
      </p:sp>
    </p:spTree>
    <p:extLst>
      <p:ext uri="{BB962C8B-B14F-4D97-AF65-F5344CB8AC3E}">
        <p14:creationId xmlns:p14="http://schemas.microsoft.com/office/powerpoint/2010/main" val="203552900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2272</TotalTime>
  <Words>772</Words>
  <Application>Microsoft Office PowerPoint</Application>
  <PresentationFormat>Widescreen</PresentationFormat>
  <Paragraphs>78</Paragraphs>
  <Slides>11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Century Gothic</vt:lpstr>
      <vt:lpstr>Times New Roman</vt:lpstr>
      <vt:lpstr>Verdana</vt:lpstr>
      <vt:lpstr>Wingdings 3</vt:lpstr>
      <vt:lpstr>Ion</vt:lpstr>
      <vt:lpstr>INFOSYS VIRTUAL INTERNSHIP 6.0  Elect Viz -Election Data Visualization for Media Batch-11</vt:lpstr>
      <vt:lpstr>Project Overview</vt:lpstr>
      <vt:lpstr>Interactive dashboards with multi-page navigation: </vt:lpstr>
      <vt:lpstr>WORKFLOW AND SYSTEM DESIGN</vt:lpstr>
      <vt:lpstr>MILESTONES</vt:lpstr>
      <vt:lpstr>MILESTONE Outcomes</vt:lpstr>
      <vt:lpstr>PowerPoint Presentation</vt:lpstr>
      <vt:lpstr>Future Enhancements</vt:lpstr>
      <vt:lpstr>Conclusion</vt:lpstr>
      <vt:lpstr>ACKNOWLEDGMENT &amp; Reference</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Herambudu neelapu</dc:creator>
  <cp:lastModifiedBy>Shabeena shaik</cp:lastModifiedBy>
  <cp:revision>35</cp:revision>
  <dcterms:created xsi:type="dcterms:W3CDTF">2026-02-02T17:28:50Z</dcterms:created>
  <dcterms:modified xsi:type="dcterms:W3CDTF">2026-02-16T12:26:42Z</dcterms:modified>
</cp:coreProperties>
</file>