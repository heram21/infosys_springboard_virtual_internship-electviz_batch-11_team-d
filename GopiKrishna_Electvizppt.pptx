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tora One" panose="020B0604020202020204" charset="0"/>
      <p:regular r:id="rId13"/>
    </p:embeddedFont>
    <p:embeddedFont>
      <p:font typeface="Canva Sans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08" y="2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324513" y="5586765"/>
            <a:ext cx="8522150" cy="222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3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Mentor - Mrs.Nithyasri S J</a:t>
            </a:r>
          </a:p>
          <a:p>
            <a:pPr algn="ctr">
              <a:lnSpc>
                <a:spcPts val="5562"/>
              </a:lnSpc>
            </a:pPr>
            <a:r>
              <a:rPr lang="en-US" sz="39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Presented by-Gopi Krishna</a:t>
            </a:r>
          </a:p>
          <a:p>
            <a:pPr algn="ctr">
              <a:lnSpc>
                <a:spcPts val="6682"/>
              </a:lnSpc>
            </a:pPr>
            <a:endParaRPr lang="en-US" sz="3973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34754" y="2889650"/>
            <a:ext cx="13018493" cy="244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ELECTVIZ: ELECTION DATA VISUALIZATION FOR MEDIA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485850" y="2008708"/>
            <a:ext cx="9839749" cy="853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23"/>
              </a:lnSpc>
              <a:spcBef>
                <a:spcPct val="0"/>
              </a:spcBef>
            </a:pPr>
            <a:r>
              <a:rPr lang="en-US" sz="5016" u="sng" dirty="0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INFOSYS VIRTUAL-INTERNSHIP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41473" y="1097101"/>
            <a:ext cx="8382477" cy="150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41"/>
              </a:lnSpc>
            </a:pPr>
            <a:r>
              <a:rPr lang="en-US" sz="8743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43075" y="2810045"/>
            <a:ext cx="14757779" cy="5547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615" lvl="1" indent="-26480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Elections generate massive volumes of structured and unstructured data including votes, candidates, parties, constituencies, and voter statistics. Analyzing this data manually is complex and time-consuming.</a:t>
            </a:r>
          </a:p>
          <a:p>
            <a:pPr marL="529615" lvl="1" indent="-26480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ElectViz Dashboard is a Power BI-based interactive data visualization system designed to transform raw election datasets into meaningful insights.</a:t>
            </a:r>
          </a:p>
          <a:p>
            <a:pPr marL="529615" lvl="1" indent="-26480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It enables:</a:t>
            </a:r>
          </a:p>
          <a:p>
            <a:pPr marL="529615" lvl="1" indent="-264807" algn="just">
              <a:lnSpc>
                <a:spcPts val="3434"/>
              </a:lnSpc>
              <a:buAutoNum type="arabicPeriod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Easy comparison of party performance</a:t>
            </a:r>
          </a:p>
          <a:p>
            <a:pPr marL="529615" lvl="1" indent="-264807" algn="just">
              <a:lnSpc>
                <a:spcPts val="3434"/>
              </a:lnSpc>
              <a:buAutoNum type="arabicPeriod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Constituency-level analysis</a:t>
            </a:r>
          </a:p>
          <a:p>
            <a:pPr marL="529615" lvl="1" indent="-264807" algn="just">
              <a:lnSpc>
                <a:spcPts val="3434"/>
              </a:lnSpc>
              <a:buAutoNum type="arabicPeriod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Vote share and winning margin insights</a:t>
            </a:r>
          </a:p>
          <a:p>
            <a:pPr marL="529615" lvl="1" indent="-264807" algn="just">
              <a:lnSpc>
                <a:spcPts val="3434"/>
              </a:lnSpc>
              <a:buAutoNum type="arabicPeriod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Trend-based interpretation</a:t>
            </a:r>
          </a:p>
          <a:p>
            <a:pPr marL="529615" lvl="1" indent="-264807" algn="just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The goal of this project is to help media analysts, researchers, and citizens understand election outcomes through intuitive and interactive visual analytics.</a:t>
            </a:r>
          </a:p>
          <a:p>
            <a:pPr algn="just">
              <a:lnSpc>
                <a:spcPts val="3434"/>
              </a:lnSpc>
            </a:pPr>
            <a:endParaRPr lang="en-US" sz="2453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698640" y="949234"/>
            <a:ext cx="10041970" cy="84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9"/>
              </a:lnSpc>
            </a:pPr>
            <a:r>
              <a:rPr lang="en-US" sz="4956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WORK FLOW&amp;SYSTEM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26764" y="2031998"/>
            <a:ext cx="8475749" cy="6704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5858" lvl="1" indent="-197929" algn="just">
              <a:lnSpc>
                <a:spcPts val="2566"/>
              </a:lnSpc>
              <a:buAutoNum type="arabicPeriod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Data Collection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Raw election data collected from structured sources (Excel/CSV).</a:t>
            </a:r>
          </a:p>
          <a:p>
            <a:pPr marL="395858" lvl="1" indent="-197929" algn="just">
              <a:lnSpc>
                <a:spcPts val="2566"/>
              </a:lnSpc>
              <a:buAutoNum type="arabicPeriod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 (Excel + Power Query)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Removing null/duplicate values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Standardizing party and state names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Creating calculated columns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Formatting data types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Data cleaning and transformation</a:t>
            </a:r>
          </a:p>
          <a:p>
            <a:pPr marL="395858" lvl="1" indent="-197929" algn="just">
              <a:lnSpc>
                <a:spcPts val="2566"/>
              </a:lnSpc>
              <a:buAutoNum type="arabicPeriod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Data Modeling (Power BI)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Establishing relationships between tables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Creating measures using DAX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Designing KPIs (Total Votes, Seats Won, Vote Share, etc.)</a:t>
            </a:r>
          </a:p>
          <a:p>
            <a:pPr marL="395858" lvl="1" indent="-197929" algn="just">
              <a:lnSpc>
                <a:spcPts val="2566"/>
              </a:lnSpc>
              <a:buAutoNum type="arabicPeriod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Dashboard Development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Visuals: Bar charts, Pie charts, Maps, Cards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Filters/Slicers for state, party, year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Interactive drill-down analysis</a:t>
            </a:r>
          </a:p>
          <a:p>
            <a:pPr marL="395858" lvl="1" indent="-197929" algn="just">
              <a:lnSpc>
                <a:spcPts val="2566"/>
              </a:lnSpc>
              <a:buAutoNum type="arabicPeriod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Insight Generation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Party dominance analysis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Regional voting patterns</a:t>
            </a:r>
          </a:p>
          <a:p>
            <a:pPr marL="791715" lvl="2" indent="-263905" algn="just">
              <a:lnSpc>
                <a:spcPts val="2566"/>
              </a:lnSpc>
              <a:buFont typeface="Arial"/>
              <a:buChar char="⚬"/>
            </a:pPr>
            <a:r>
              <a:rPr lang="en-US" sz="183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Winning margin comparison</a:t>
            </a:r>
          </a:p>
          <a:p>
            <a:pPr algn="just">
              <a:lnSpc>
                <a:spcPts val="2566"/>
              </a:lnSpc>
            </a:pPr>
            <a:endParaRPr lang="en-US" sz="1833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7131" y="2030272"/>
            <a:ext cx="5658089" cy="630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 u="sng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ARCHITECTURE FLOW: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RAW DATA (EXCEL)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⬇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DATA CLEANING (POWER QUERY)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⬇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DATA MODELING (POWER BI RELATIONSHIPS + DAX)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⬇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VISUALIZATION LAYER (INTERACTIVE DASHBOARD)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⬇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 USER INTERACTION (FILTERS, SLICERS, DRILL-DOWN)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r>
              <a:rPr lang="en-US" sz="20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FOLLOWS A DATA → TRANSFORMATION → MODELING → VISUALIZATION → INSIGHT PIPELINE.</a:t>
            </a:r>
          </a:p>
          <a:p>
            <a:pPr algn="ctr">
              <a:lnSpc>
                <a:spcPts val="2935"/>
              </a:lnSpc>
              <a:spcBef>
                <a:spcPct val="0"/>
              </a:spcBef>
            </a:pPr>
            <a:endParaRPr lang="en-US" sz="209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24991" y="1307306"/>
            <a:ext cx="9736233" cy="103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5"/>
              </a:lnSpc>
            </a:pPr>
            <a:r>
              <a:rPr lang="en-US" sz="6039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FUTURE ENHANCEMENTS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0964" y="3020040"/>
            <a:ext cx="10710260" cy="418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Integration with real-time election APIs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Predictive analytics using Machine Learning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Trend analysis across multiple election years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Sentiment analysis from social media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Mobile-optimized dashboard version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Deployment to Power BI Service for public access</a:t>
            </a:r>
          </a:p>
          <a:p>
            <a:pPr marL="577185" lvl="1" indent="-288592" algn="just">
              <a:lnSpc>
                <a:spcPts val="3742"/>
              </a:lnSpc>
              <a:buFont typeface="Arial"/>
              <a:buChar char="•"/>
            </a:pPr>
            <a:r>
              <a:rPr lang="en-US" sz="2673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Advanced drill-through reports for constituency-level deep analysis</a:t>
            </a:r>
          </a:p>
          <a:p>
            <a:pPr algn="just">
              <a:lnSpc>
                <a:spcPts val="3742"/>
              </a:lnSpc>
            </a:pPr>
            <a:endParaRPr lang="en-US" sz="2673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754205" y="0"/>
            <a:ext cx="7533795" cy="4652118"/>
          </a:xfrm>
          <a:custGeom>
            <a:avLst/>
            <a:gdLst/>
            <a:ahLst/>
            <a:cxnLst/>
            <a:rect l="l" t="t" r="r" b="b"/>
            <a:pathLst>
              <a:path w="7533795" h="4652118">
                <a:moveTo>
                  <a:pt x="0" y="0"/>
                </a:moveTo>
                <a:lnTo>
                  <a:pt x="7533795" y="0"/>
                </a:lnTo>
                <a:lnTo>
                  <a:pt x="7533795" y="4652118"/>
                </a:lnTo>
                <a:lnTo>
                  <a:pt x="0" y="46521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754205" y="4532075"/>
            <a:ext cx="7533795" cy="4586198"/>
          </a:xfrm>
          <a:custGeom>
            <a:avLst/>
            <a:gdLst/>
            <a:ahLst/>
            <a:cxnLst/>
            <a:rect l="l" t="t" r="r" b="b"/>
            <a:pathLst>
              <a:path w="7533795" h="4586198">
                <a:moveTo>
                  <a:pt x="0" y="0"/>
                </a:moveTo>
                <a:lnTo>
                  <a:pt x="7533795" y="0"/>
                </a:lnTo>
                <a:lnTo>
                  <a:pt x="7533795" y="4586197"/>
                </a:lnTo>
                <a:lnTo>
                  <a:pt x="0" y="4586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74544" y="42967"/>
            <a:ext cx="2702456" cy="985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43"/>
              </a:lnSpc>
              <a:spcBef>
                <a:spcPct val="0"/>
              </a:spcBef>
            </a:pPr>
            <a:r>
              <a:rPr lang="en-US" sz="5816" dirty="0">
                <a:solidFill>
                  <a:srgbClr val="000000"/>
                </a:solidFill>
                <a:latin typeface="Cantora One"/>
                <a:ea typeface="Cantora One"/>
                <a:cs typeface="Cantora One"/>
                <a:sym typeface="Cantora One"/>
              </a:rPr>
              <a:t>RESULT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1378619"/>
            <a:ext cx="10545968" cy="742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Overview Page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Provides a summary of overall election results including total seats, total votes, and major party performance.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Party Analysis Page 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Displays party-wise seat distribution, vote share percentage, and comparative performance.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State/Region Analysis Page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Shows state-wise election results and regional voting patterns.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Constituency Analysis Page 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Provides detailed constituency-level insights including winning candidate and vote margin.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Vote Share Analysis Page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Compares vote percentage distribution among different political parties.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Winning Margin Page 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Highlights the difference in votes between winning and runner-up candidates.</a:t>
            </a:r>
          </a:p>
          <a:p>
            <a:pPr marL="570357" lvl="1" indent="-285179" algn="just">
              <a:lnSpc>
                <a:spcPts val="3698"/>
              </a:lnSpc>
              <a:spcBef>
                <a:spcPct val="0"/>
              </a:spcBef>
              <a:buFont typeface="Arial"/>
              <a:buChar char="•"/>
            </a:pPr>
            <a:r>
              <a:rPr lang="en-US" sz="2641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Trend/Comparative Analysis Page</a:t>
            </a:r>
            <a:r>
              <a:rPr lang="en-US" sz="264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Analyzes performance trends across multiple elections or regions.</a:t>
            </a:r>
          </a:p>
          <a:p>
            <a:pPr algn="just">
              <a:lnSpc>
                <a:spcPts val="3698"/>
              </a:lnSpc>
              <a:spcBef>
                <a:spcPct val="0"/>
              </a:spcBef>
            </a:pPr>
            <a:endParaRPr lang="en-US" sz="264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0"/>
            <a:ext cx="6228791" cy="3846278"/>
          </a:xfrm>
          <a:custGeom>
            <a:avLst/>
            <a:gdLst/>
            <a:ahLst/>
            <a:cxnLst/>
            <a:rect l="l" t="t" r="r" b="b"/>
            <a:pathLst>
              <a:path w="6228791" h="3846278">
                <a:moveTo>
                  <a:pt x="0" y="0"/>
                </a:moveTo>
                <a:lnTo>
                  <a:pt x="6228791" y="0"/>
                </a:lnTo>
                <a:lnTo>
                  <a:pt x="6228791" y="3846278"/>
                </a:lnTo>
                <a:lnTo>
                  <a:pt x="0" y="3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28791" y="0"/>
            <a:ext cx="6203675" cy="3846278"/>
          </a:xfrm>
          <a:custGeom>
            <a:avLst/>
            <a:gdLst/>
            <a:ahLst/>
            <a:cxnLst/>
            <a:rect l="l" t="t" r="r" b="b"/>
            <a:pathLst>
              <a:path w="6203675" h="3846278">
                <a:moveTo>
                  <a:pt x="0" y="0"/>
                </a:moveTo>
                <a:lnTo>
                  <a:pt x="6203674" y="0"/>
                </a:lnTo>
                <a:lnTo>
                  <a:pt x="6203674" y="3846278"/>
                </a:lnTo>
                <a:lnTo>
                  <a:pt x="0" y="3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432465" y="0"/>
            <a:ext cx="5855535" cy="3846278"/>
          </a:xfrm>
          <a:custGeom>
            <a:avLst/>
            <a:gdLst/>
            <a:ahLst/>
            <a:cxnLst/>
            <a:rect l="l" t="t" r="r" b="b"/>
            <a:pathLst>
              <a:path w="5855535" h="3846278">
                <a:moveTo>
                  <a:pt x="0" y="0"/>
                </a:moveTo>
                <a:lnTo>
                  <a:pt x="5855535" y="0"/>
                </a:lnTo>
                <a:lnTo>
                  <a:pt x="5855535" y="3846278"/>
                </a:lnTo>
                <a:lnTo>
                  <a:pt x="0" y="3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33" t="-130" r="-4133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5813" y="4368787"/>
            <a:ext cx="7408187" cy="4509734"/>
          </a:xfrm>
          <a:custGeom>
            <a:avLst/>
            <a:gdLst/>
            <a:ahLst/>
            <a:cxnLst/>
            <a:rect l="l" t="t" r="r" b="b"/>
            <a:pathLst>
              <a:path w="7408187" h="4509734">
                <a:moveTo>
                  <a:pt x="0" y="0"/>
                </a:moveTo>
                <a:lnTo>
                  <a:pt x="7408187" y="0"/>
                </a:lnTo>
                <a:lnTo>
                  <a:pt x="7408187" y="4509734"/>
                </a:lnTo>
                <a:lnTo>
                  <a:pt x="0" y="45097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53600" y="4398924"/>
            <a:ext cx="7313628" cy="4479597"/>
          </a:xfrm>
          <a:custGeom>
            <a:avLst/>
            <a:gdLst/>
            <a:ahLst/>
            <a:cxnLst/>
            <a:rect l="l" t="t" r="r" b="b"/>
            <a:pathLst>
              <a:path w="7313628" h="4479597">
                <a:moveTo>
                  <a:pt x="0" y="0"/>
                </a:moveTo>
                <a:lnTo>
                  <a:pt x="7313628" y="0"/>
                </a:lnTo>
                <a:lnTo>
                  <a:pt x="7313628" y="4479597"/>
                </a:lnTo>
                <a:lnTo>
                  <a:pt x="0" y="44795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51826" y="914400"/>
            <a:ext cx="7947428" cy="1026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ACKNOWLEDGEMENT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3098" y="2498861"/>
            <a:ext cx="15884382" cy="486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1"/>
              </a:lnSpc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 would like to express my sincere gratitude to:</a:t>
            </a:r>
          </a:p>
          <a:p>
            <a:pPr marL="755852" lvl="1" indent="-377926" algn="just">
              <a:lnSpc>
                <a:spcPts val="4901"/>
              </a:lnSpc>
              <a:buFont typeface="Arial"/>
              <a:buChar char="•"/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My mentor for guidance and continuous support</a:t>
            </a:r>
          </a:p>
          <a:p>
            <a:pPr marL="755852" lvl="1" indent="-377926" algn="just">
              <a:lnSpc>
                <a:spcPts val="4901"/>
              </a:lnSpc>
              <a:buFont typeface="Arial"/>
              <a:buChar char="•"/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Faculty members for their valuable suggestions</a:t>
            </a:r>
          </a:p>
          <a:p>
            <a:pPr marL="755852" lvl="1" indent="-377926" algn="just">
              <a:lnSpc>
                <a:spcPts val="4901"/>
              </a:lnSpc>
              <a:buFont typeface="Arial"/>
              <a:buChar char="•"/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Open data sources used for election datasets</a:t>
            </a:r>
          </a:p>
          <a:p>
            <a:pPr marL="755852" lvl="1" indent="-377926" algn="just">
              <a:lnSpc>
                <a:spcPts val="4901"/>
              </a:lnSpc>
              <a:buFont typeface="Arial"/>
              <a:buChar char="•"/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Microsoft Power BI platform for enabling advanced analytics</a:t>
            </a:r>
          </a:p>
          <a:p>
            <a:pPr algn="just">
              <a:lnSpc>
                <a:spcPts val="4901"/>
              </a:lnSpc>
            </a:pPr>
            <a:r>
              <a:rPr lang="en-US" sz="3500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Their support and resources helped in the successful completion of this project.</a:t>
            </a:r>
          </a:p>
          <a:p>
            <a:pPr algn="just">
              <a:lnSpc>
                <a:spcPts val="4901"/>
              </a:lnSpc>
            </a:pPr>
            <a:endParaRPr lang="en-US" sz="3500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73092" y="1106214"/>
            <a:ext cx="6557450" cy="116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sz="6840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3245" y="2623505"/>
            <a:ext cx="11097144" cy="350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Official Election Commission Data Sources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Microsoft Power BI Documentation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Microsoft Learn – DAX and Power Query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Online tutorials and documentation for data visualization best practices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Publicly available election datasets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255675" y="1297781"/>
            <a:ext cx="6557450" cy="116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sz="6840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CONTRIBUTORS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03245" y="3091097"/>
            <a:ext cx="5548572" cy="350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Neelapu Herambudu, 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Francis Daniel, 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Swathika Murugan, 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Shaik Shabeena Praveen, 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Gopi Krishna, </a:t>
            </a:r>
          </a:p>
          <a:p>
            <a:pPr marL="622343" lvl="1" indent="-311172" algn="just">
              <a:lnSpc>
                <a:spcPts val="4035"/>
              </a:lnSpc>
              <a:buFont typeface="Arial"/>
              <a:buChar char="•"/>
            </a:pPr>
            <a:r>
              <a:rPr lang="en-US" sz="2882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Tanmay Parulkar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59900" y="1347374"/>
            <a:ext cx="5949000" cy="105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7"/>
              </a:lnSpc>
            </a:pPr>
            <a:r>
              <a:rPr lang="en-US" sz="6205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99408" y="2562840"/>
            <a:ext cx="12795323" cy="557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1"/>
              </a:lnSpc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The ElectViz Dashboard successfully transforms complex election data into clear, interactive, and insightful visual representations.</a:t>
            </a:r>
          </a:p>
          <a:p>
            <a:pPr algn="just">
              <a:lnSpc>
                <a:spcPts val="4081"/>
              </a:lnSpc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It demonstrates:</a:t>
            </a:r>
          </a:p>
          <a:p>
            <a:pPr marL="629380" lvl="1" indent="-314690" algn="just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Effective data preprocessing</a:t>
            </a:r>
          </a:p>
          <a:p>
            <a:pPr marL="629380" lvl="1" indent="-314690" algn="just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Strong data modeling using DAX</a:t>
            </a:r>
          </a:p>
          <a:p>
            <a:pPr marL="629380" lvl="1" indent="-314690" algn="just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Insightful visualization design</a:t>
            </a:r>
          </a:p>
          <a:p>
            <a:pPr marL="629380" lvl="1" indent="-314690" algn="just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Practical application of Business Intelligence concepts</a:t>
            </a:r>
          </a:p>
          <a:p>
            <a:pPr algn="just">
              <a:lnSpc>
                <a:spcPts val="4081"/>
              </a:lnSpc>
            </a:pPr>
            <a:r>
              <a:rPr lang="en-US" sz="2915">
                <a:solidFill>
                  <a:srgbClr val="507064"/>
                </a:solidFill>
                <a:latin typeface="Canva Sans"/>
                <a:ea typeface="Canva Sans"/>
                <a:cs typeface="Canva Sans"/>
                <a:sym typeface="Canva Sans"/>
              </a:rPr>
              <a:t>This project highlights how data visualization tools like Power BI can simplify complex political datasets and support data-driven decision-making.</a:t>
            </a:r>
          </a:p>
          <a:p>
            <a:pPr algn="just">
              <a:lnSpc>
                <a:spcPts val="4081"/>
              </a:lnSpc>
            </a:pPr>
            <a:endParaRPr lang="en-US" sz="2915">
              <a:solidFill>
                <a:srgbClr val="507064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4331" y="6876989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0" y="0"/>
                </a:moveTo>
                <a:lnTo>
                  <a:pt x="7315200" y="0"/>
                </a:lnTo>
                <a:lnTo>
                  <a:pt x="7315200" y="3976809"/>
                </a:lnTo>
                <a:lnTo>
                  <a:pt x="0" y="3976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337131" y="-566798"/>
            <a:ext cx="7315200" cy="3976809"/>
          </a:xfrm>
          <a:custGeom>
            <a:avLst/>
            <a:gdLst/>
            <a:ahLst/>
            <a:cxnLst/>
            <a:rect l="l" t="t" r="r" b="b"/>
            <a:pathLst>
              <a:path w="7315200" h="3976809">
                <a:moveTo>
                  <a:pt x="7315200" y="3976809"/>
                </a:moveTo>
                <a:lnTo>
                  <a:pt x="0" y="3976809"/>
                </a:lnTo>
                <a:lnTo>
                  <a:pt x="0" y="0"/>
                </a:lnTo>
                <a:lnTo>
                  <a:pt x="7315200" y="0"/>
                </a:lnTo>
                <a:lnTo>
                  <a:pt x="7315200" y="3976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34754" y="3954369"/>
            <a:ext cx="13018493" cy="2140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sz="12492">
                <a:solidFill>
                  <a:srgbClr val="507064"/>
                </a:solidFill>
                <a:latin typeface="Cantora One"/>
                <a:ea typeface="Cantora One"/>
                <a:cs typeface="Cantora One"/>
                <a:sym typeface="Cantora One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2585588" y="8353207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7918674" y="0"/>
                </a:moveTo>
                <a:lnTo>
                  <a:pt x="0" y="0"/>
                </a:lnTo>
                <a:lnTo>
                  <a:pt x="0" y="2548374"/>
                </a:lnTo>
                <a:lnTo>
                  <a:pt x="7918674" y="2548374"/>
                </a:lnTo>
                <a:lnTo>
                  <a:pt x="79186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2216262" y="-614581"/>
            <a:ext cx="7918675" cy="2548374"/>
          </a:xfrm>
          <a:custGeom>
            <a:avLst/>
            <a:gdLst/>
            <a:ahLst/>
            <a:cxnLst/>
            <a:rect l="l" t="t" r="r" b="b"/>
            <a:pathLst>
              <a:path w="7918675" h="2548374">
                <a:moveTo>
                  <a:pt x="0" y="2548374"/>
                </a:moveTo>
                <a:lnTo>
                  <a:pt x="7918674" y="2548374"/>
                </a:lnTo>
                <a:lnTo>
                  <a:pt x="7918674" y="0"/>
                </a:lnTo>
                <a:lnTo>
                  <a:pt x="0" y="0"/>
                </a:lnTo>
                <a:lnTo>
                  <a:pt x="0" y="25483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534400" y="9344620"/>
            <a:ext cx="1219200" cy="609600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0706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732711" y="9343880"/>
            <a:ext cx="822578" cy="553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43"/>
              </a:lnSpc>
            </a:pPr>
            <a:r>
              <a:rPr lang="en-US" sz="3316">
                <a:solidFill>
                  <a:srgbClr val="FBFFEC"/>
                </a:solidFill>
                <a:latin typeface="Cantora One"/>
                <a:ea typeface="Cantora One"/>
                <a:cs typeface="Cantora One"/>
                <a:sym typeface="Cantora One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617</Words>
  <Application>Microsoft Office PowerPoint</Application>
  <PresentationFormat>Custom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Canva Sans</vt:lpstr>
      <vt:lpstr>Cantora One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ElectViz: Election Data Visualization for Media</dc:title>
  <dc:creator>Gopi Krishna</dc:creator>
  <cp:lastModifiedBy>pendyala gopi krishna</cp:lastModifiedBy>
  <cp:revision>2</cp:revision>
  <dcterms:created xsi:type="dcterms:W3CDTF">2006-08-16T00:00:00Z</dcterms:created>
  <dcterms:modified xsi:type="dcterms:W3CDTF">2026-02-11T13:23:23Z</dcterms:modified>
  <dc:identifier>DAHA7YeXEng</dc:identifier>
</cp:coreProperties>
</file>